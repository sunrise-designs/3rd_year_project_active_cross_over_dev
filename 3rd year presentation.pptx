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70" r:id="rId4"/>
    <p:sldId id="267" r:id="rId5"/>
    <p:sldId id="258" r:id="rId6"/>
    <p:sldId id="271" r:id="rId7"/>
    <p:sldId id="259" r:id="rId8"/>
    <p:sldId id="261" r:id="rId9"/>
    <p:sldId id="263" r:id="rId10"/>
    <p:sldId id="262" r:id="rId11"/>
    <p:sldId id="269" r:id="rId12"/>
    <p:sldId id="264" r:id="rId13"/>
    <p:sldId id="265" r:id="rId14"/>
    <p:sldId id="266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81" d="100"/>
          <a:sy n="81" d="100"/>
        </p:scale>
        <p:origin x="-1498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D110A2-7EC7-4173-8B5F-CB7A2D49C9E3}" type="datetimeFigureOut">
              <a:rPr lang="en-GB" smtClean="0"/>
              <a:t>19/03/2011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26C797-9E4F-464A-A2E2-5EC6F8106825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30451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26C797-9E4F-464A-A2E2-5EC6F8106825}" type="slidenum">
              <a:rPr lang="en-GB" smtClean="0"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62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26C797-9E4F-464A-A2E2-5EC6F8106825}" type="slidenum">
              <a:rPr lang="en-GB" smtClean="0"/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055300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991F2-49C3-4B4E-8695-0D76A1830BCD}" type="datetimeFigureOut">
              <a:rPr lang="en-GB" smtClean="0"/>
              <a:t>19/03/2011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0EADB-A5B0-406A-8DFC-554E3AE95C75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45010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991F2-49C3-4B4E-8695-0D76A1830BCD}" type="datetimeFigureOut">
              <a:rPr lang="en-GB" smtClean="0"/>
              <a:t>19/03/2011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0EADB-A5B0-406A-8DFC-554E3AE95C75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6180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991F2-49C3-4B4E-8695-0D76A1830BCD}" type="datetimeFigureOut">
              <a:rPr lang="en-GB" smtClean="0"/>
              <a:t>19/03/2011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0EADB-A5B0-406A-8DFC-554E3AE95C75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60320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991F2-49C3-4B4E-8695-0D76A1830BCD}" type="datetimeFigureOut">
              <a:rPr lang="en-GB" smtClean="0"/>
              <a:t>19/03/2011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0EADB-A5B0-406A-8DFC-554E3AE95C75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01851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991F2-49C3-4B4E-8695-0D76A1830BCD}" type="datetimeFigureOut">
              <a:rPr lang="en-GB" smtClean="0"/>
              <a:t>19/03/2011</a:t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0EADB-A5B0-406A-8DFC-554E3AE95C75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37706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991F2-49C3-4B4E-8695-0D76A1830BCD}" type="datetimeFigureOut">
              <a:rPr lang="en-GB" smtClean="0"/>
              <a:t>19/03/2011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0EADB-A5B0-406A-8DFC-554E3AE95C75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46399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991F2-49C3-4B4E-8695-0D76A1830BCD}" type="datetimeFigureOut">
              <a:rPr lang="en-GB" smtClean="0"/>
              <a:t>19/03/2011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0EADB-A5B0-406A-8DFC-554E3AE95C75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73200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991F2-49C3-4B4E-8695-0D76A1830BCD}" type="datetimeFigureOut">
              <a:rPr lang="en-GB" smtClean="0"/>
              <a:t>19/03/2011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0EADB-A5B0-406A-8DFC-554E3AE95C75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78556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991F2-49C3-4B4E-8695-0D76A1830BCD}" type="datetimeFigureOut">
              <a:rPr lang="en-GB" smtClean="0"/>
              <a:t>19/03/2011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0EADB-A5B0-406A-8DFC-554E3AE95C75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79945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991F2-49C3-4B4E-8695-0D76A1830BCD}" type="datetimeFigureOut">
              <a:rPr lang="en-GB" smtClean="0"/>
              <a:t>19/03/2011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0EADB-A5B0-406A-8DFC-554E3AE95C75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03026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991F2-49C3-4B4E-8695-0D76A1830BCD}" type="datetimeFigureOut">
              <a:rPr lang="en-GB" smtClean="0"/>
              <a:t>19/03/2011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0EADB-A5B0-406A-8DFC-554E3AE95C75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52772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A991F2-49C3-4B4E-8695-0D76A1830BCD}" type="datetimeFigureOut">
              <a:rPr lang="en-GB" smtClean="0"/>
              <a:t>19/03/2011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00EADB-A5B0-406A-8DFC-554E3AE95C75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38466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emf"/><Relationship Id="rId3" Type="http://schemas.openxmlformats.org/officeDocument/2006/relationships/image" Target="../media/image15.emf"/><Relationship Id="rId7" Type="http://schemas.openxmlformats.org/officeDocument/2006/relationships/image" Target="../media/image120.png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0.png"/><Relationship Id="rId9" Type="http://schemas.openxmlformats.org/officeDocument/2006/relationships/image" Target="../media/image17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2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emf"/><Relationship Id="rId5" Type="http://schemas.openxmlformats.org/officeDocument/2006/relationships/image" Target="../media/image220.png"/><Relationship Id="rId4" Type="http://schemas.openxmlformats.org/officeDocument/2006/relationships/image" Target="../media/image2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e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3568" y="1772816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Dmitry Ignatyev</a:t>
            </a:r>
            <a:br>
              <a:rPr lang="en-GB" dirty="0" smtClean="0"/>
            </a:br>
            <a:r>
              <a:rPr lang="en-GB" dirty="0"/>
              <a:t/>
            </a:r>
            <a:br>
              <a:rPr lang="en-GB" dirty="0"/>
            </a:br>
            <a:r>
              <a:rPr lang="en-GB" sz="2700" dirty="0" smtClean="0"/>
              <a:t>Supervisor: Benn Thomsen</a:t>
            </a:r>
            <a:endParaRPr lang="en-GB" sz="27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1560" y="3886200"/>
            <a:ext cx="8208912" cy="1752600"/>
          </a:xfrm>
        </p:spPr>
        <p:txBody>
          <a:bodyPr>
            <a:normAutofit/>
          </a:bodyPr>
          <a:lstStyle/>
          <a:p>
            <a:r>
              <a:rPr lang="en-US" sz="2400" dirty="0"/>
              <a:t>Loudspeaker acoustics measurement and automated digital active </a:t>
            </a:r>
            <a:r>
              <a:rPr lang="en-US" sz="2400" dirty="0" smtClean="0"/>
              <a:t>cross-over </a:t>
            </a:r>
            <a:r>
              <a:rPr lang="en-GB" sz="2400" dirty="0" smtClean="0"/>
              <a:t>design</a:t>
            </a:r>
            <a:endParaRPr lang="en-GB" sz="2400" dirty="0"/>
          </a:p>
        </p:txBody>
      </p:sp>
      <p:pic>
        <p:nvPicPr>
          <p:cNvPr id="4" name="Picture 2" descr="http://www.grahams.co.uk/audio-images/ICON-aktimatemini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93" t="14753"/>
          <a:stretch/>
        </p:blipFill>
        <p:spPr bwMode="auto">
          <a:xfrm>
            <a:off x="6948264" y="908720"/>
            <a:ext cx="1861660" cy="2592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0754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oup 95"/>
          <p:cNvGrpSpPr/>
          <p:nvPr/>
        </p:nvGrpSpPr>
        <p:grpSpPr>
          <a:xfrm>
            <a:off x="14661" y="109537"/>
            <a:ext cx="5947846" cy="2993050"/>
            <a:chOff x="210952" y="793153"/>
            <a:chExt cx="5947846" cy="2993050"/>
          </a:xfrm>
        </p:grpSpPr>
        <p:grpSp>
          <p:nvGrpSpPr>
            <p:cNvPr id="94" name="Group 93"/>
            <p:cNvGrpSpPr/>
            <p:nvPr/>
          </p:nvGrpSpPr>
          <p:grpSpPr>
            <a:xfrm>
              <a:off x="254321" y="793153"/>
              <a:ext cx="5904477" cy="2993050"/>
              <a:chOff x="-84008" y="2465592"/>
              <a:chExt cx="5904477" cy="2993050"/>
            </a:xfrm>
          </p:grpSpPr>
          <p:sp>
            <p:nvSpPr>
              <p:cNvPr id="91" name="Rectangle 90"/>
              <p:cNvSpPr/>
              <p:nvPr/>
            </p:nvSpPr>
            <p:spPr>
              <a:xfrm>
                <a:off x="755576" y="3830129"/>
                <a:ext cx="1921312" cy="1224136"/>
              </a:xfrm>
              <a:prstGeom prst="rect">
                <a:avLst/>
              </a:prstGeom>
              <a:ln w="28575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dirty="0"/>
              </a:p>
            </p:txBody>
          </p:sp>
          <p:sp>
            <p:nvSpPr>
              <p:cNvPr id="4" name="Bent Arrow 3"/>
              <p:cNvSpPr/>
              <p:nvPr/>
            </p:nvSpPr>
            <p:spPr>
              <a:xfrm rot="5400000">
                <a:off x="768229" y="4257349"/>
                <a:ext cx="806388" cy="661858"/>
              </a:xfrm>
              <a:prstGeom prst="bentArrow">
                <a:avLst>
                  <a:gd name="adj1" fmla="val 10734"/>
                  <a:gd name="adj2" fmla="val 25000"/>
                  <a:gd name="adj3" fmla="val 34210"/>
                  <a:gd name="adj4" fmla="val 43750"/>
                </a:avLst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7" name="Straight Connector 6"/>
              <p:cNvCxnSpPr/>
              <p:nvPr/>
            </p:nvCxnSpPr>
            <p:spPr>
              <a:xfrm flipV="1">
                <a:off x="3585999" y="2773369"/>
                <a:ext cx="712100" cy="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Arrow Connector 10"/>
              <p:cNvCxnSpPr/>
              <p:nvPr/>
            </p:nvCxnSpPr>
            <p:spPr>
              <a:xfrm>
                <a:off x="3082301" y="3961053"/>
                <a:ext cx="23042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 flipV="1">
                <a:off x="3089608" y="2798230"/>
                <a:ext cx="885212" cy="1162824"/>
              </a:xfrm>
              <a:prstGeom prst="line">
                <a:avLst/>
              </a:prstGeom>
              <a:ln w="127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/>
              <p:cNvCxnSpPr/>
              <p:nvPr/>
            </p:nvCxnSpPr>
            <p:spPr>
              <a:xfrm>
                <a:off x="3974820" y="2798230"/>
                <a:ext cx="1411737" cy="1132948"/>
              </a:xfrm>
              <a:prstGeom prst="straightConnector1">
                <a:avLst/>
              </a:prstGeom>
              <a:ln w="12700">
                <a:solidFill>
                  <a:schemeClr val="accent2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7" name="Group 346"/>
              <p:cNvGrpSpPr>
                <a:grpSpLocks/>
              </p:cNvGrpSpPr>
              <p:nvPr/>
            </p:nvGrpSpPr>
            <p:grpSpPr bwMode="auto">
              <a:xfrm>
                <a:off x="1454002" y="4077072"/>
                <a:ext cx="549275" cy="914400"/>
                <a:chOff x="5012" y="1930"/>
                <a:chExt cx="346" cy="576"/>
              </a:xfrm>
            </p:grpSpPr>
            <p:grpSp>
              <p:nvGrpSpPr>
                <p:cNvPr id="20" name="Group 135"/>
                <p:cNvGrpSpPr>
                  <a:grpSpLocks/>
                </p:cNvGrpSpPr>
                <p:nvPr/>
              </p:nvGrpSpPr>
              <p:grpSpPr bwMode="auto">
                <a:xfrm>
                  <a:off x="5012" y="1930"/>
                  <a:ext cx="346" cy="576"/>
                  <a:chOff x="2707" y="2736"/>
                  <a:chExt cx="346" cy="576"/>
                </a:xfrm>
              </p:grpSpPr>
              <p:sp>
                <p:nvSpPr>
                  <p:cNvPr id="22" name="Line 136"/>
                  <p:cNvSpPr>
                    <a:spLocks noChangeShapeType="1"/>
                  </p:cNvSpPr>
                  <p:nvPr/>
                </p:nvSpPr>
                <p:spPr bwMode="auto">
                  <a:xfrm>
                    <a:off x="2707" y="2966"/>
                    <a:ext cx="346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GB" dirty="0"/>
                  </a:p>
                </p:txBody>
              </p:sp>
              <p:sp>
                <p:nvSpPr>
                  <p:cNvPr id="23" name="Line 137"/>
                  <p:cNvSpPr>
                    <a:spLocks noChangeShapeType="1"/>
                  </p:cNvSpPr>
                  <p:nvPr/>
                </p:nvSpPr>
                <p:spPr bwMode="auto">
                  <a:xfrm>
                    <a:off x="2880" y="2736"/>
                    <a:ext cx="0" cy="23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GB" dirty="0"/>
                  </a:p>
                </p:txBody>
              </p:sp>
              <p:sp>
                <p:nvSpPr>
                  <p:cNvPr id="24" name="Line 138"/>
                  <p:cNvSpPr>
                    <a:spLocks noChangeShapeType="1"/>
                  </p:cNvSpPr>
                  <p:nvPr/>
                </p:nvSpPr>
                <p:spPr bwMode="auto">
                  <a:xfrm>
                    <a:off x="2880" y="3024"/>
                    <a:ext cx="0" cy="288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GB" dirty="0"/>
                  </a:p>
                </p:txBody>
              </p:sp>
              <p:sp>
                <p:nvSpPr>
                  <p:cNvPr id="25" name="Line 139"/>
                  <p:cNvSpPr>
                    <a:spLocks noChangeShapeType="1"/>
                  </p:cNvSpPr>
                  <p:nvPr/>
                </p:nvSpPr>
                <p:spPr bwMode="auto">
                  <a:xfrm>
                    <a:off x="2707" y="3024"/>
                    <a:ext cx="346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GB" dirty="0"/>
                  </a:p>
                </p:txBody>
              </p:sp>
            </p:grpSp>
            <p:sp>
              <p:nvSpPr>
                <p:cNvPr id="19" name="Freeform 345"/>
                <p:cNvSpPr>
                  <a:spLocks/>
                </p:cNvSpPr>
                <p:nvPr/>
              </p:nvSpPr>
              <p:spPr bwMode="auto">
                <a:xfrm>
                  <a:off x="5069" y="1930"/>
                  <a:ext cx="230" cy="576"/>
                </a:xfrm>
                <a:custGeom>
                  <a:avLst/>
                  <a:gdLst>
                    <a:gd name="T0" fmla="*/ 115 w 230"/>
                    <a:gd name="T1" fmla="*/ 0 h 576"/>
                    <a:gd name="T2" fmla="*/ 0 w 230"/>
                    <a:gd name="T3" fmla="*/ 230 h 576"/>
                    <a:gd name="T4" fmla="*/ 115 w 230"/>
                    <a:gd name="T5" fmla="*/ 576 h 576"/>
                    <a:gd name="T6" fmla="*/ 230 w 230"/>
                    <a:gd name="T7" fmla="*/ 230 h 576"/>
                    <a:gd name="T8" fmla="*/ 115 w 230"/>
                    <a:gd name="T9" fmla="*/ 0 h 57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30" h="576">
                      <a:moveTo>
                        <a:pt x="115" y="0"/>
                      </a:moveTo>
                      <a:lnTo>
                        <a:pt x="0" y="230"/>
                      </a:lnTo>
                      <a:lnTo>
                        <a:pt x="115" y="576"/>
                      </a:lnTo>
                      <a:lnTo>
                        <a:pt x="230" y="230"/>
                      </a:lnTo>
                      <a:lnTo>
                        <a:pt x="115" y="0"/>
                      </a:lnTo>
                      <a:close/>
                    </a:path>
                  </a:pathLst>
                </a:cu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 dirty="0"/>
                </a:p>
              </p:txBody>
            </p:sp>
          </p:grpSp>
          <p:grpSp>
            <p:nvGrpSpPr>
              <p:cNvPr id="26" name="Group 338"/>
              <p:cNvGrpSpPr>
                <a:grpSpLocks/>
              </p:cNvGrpSpPr>
              <p:nvPr/>
            </p:nvGrpSpPr>
            <p:grpSpPr bwMode="auto">
              <a:xfrm rot="16200000">
                <a:off x="2189332" y="3556998"/>
                <a:ext cx="203200" cy="858824"/>
                <a:chOff x="3398" y="1757"/>
                <a:chExt cx="128" cy="518"/>
              </a:xfrm>
            </p:grpSpPr>
            <p:grpSp>
              <p:nvGrpSpPr>
                <p:cNvPr id="29" name="Group 54"/>
                <p:cNvGrpSpPr>
                  <a:grpSpLocks/>
                </p:cNvGrpSpPr>
                <p:nvPr/>
              </p:nvGrpSpPr>
              <p:grpSpPr bwMode="auto">
                <a:xfrm>
                  <a:off x="3398" y="1757"/>
                  <a:ext cx="128" cy="518"/>
                  <a:chOff x="451" y="2160"/>
                  <a:chExt cx="298" cy="1209"/>
                </a:xfrm>
              </p:grpSpPr>
              <p:grpSp>
                <p:nvGrpSpPr>
                  <p:cNvPr id="31" name="Group 55"/>
                  <p:cNvGrpSpPr>
                    <a:grpSpLocks/>
                  </p:cNvGrpSpPr>
                  <p:nvPr/>
                </p:nvGrpSpPr>
                <p:grpSpPr bwMode="auto">
                  <a:xfrm>
                    <a:off x="451" y="2621"/>
                    <a:ext cx="230" cy="115"/>
                    <a:chOff x="576" y="2218"/>
                    <a:chExt cx="230" cy="230"/>
                  </a:xfrm>
                </p:grpSpPr>
                <p:sp>
                  <p:nvSpPr>
                    <p:cNvPr id="50" name="Freeform 56"/>
                    <p:cNvSpPr>
                      <a:spLocks/>
                    </p:cNvSpPr>
                    <p:nvPr/>
                  </p:nvSpPr>
                  <p:spPr bwMode="auto">
                    <a:xfrm>
                      <a:off x="576" y="2218"/>
                      <a:ext cx="230" cy="115"/>
                    </a:xfrm>
                    <a:custGeom>
                      <a:avLst/>
                      <a:gdLst>
                        <a:gd name="T0" fmla="*/ 0 w 230"/>
                        <a:gd name="T1" fmla="*/ 115 h 115"/>
                        <a:gd name="T2" fmla="*/ 115 w 230"/>
                        <a:gd name="T3" fmla="*/ 0 h 115"/>
                        <a:gd name="T4" fmla="*/ 230 w 230"/>
                        <a:gd name="T5" fmla="*/ 115 h 115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30" h="115">
                          <a:moveTo>
                            <a:pt x="0" y="115"/>
                          </a:moveTo>
                          <a:cubicBezTo>
                            <a:pt x="38" y="57"/>
                            <a:pt x="77" y="0"/>
                            <a:pt x="115" y="0"/>
                          </a:cubicBezTo>
                          <a:cubicBezTo>
                            <a:pt x="153" y="0"/>
                            <a:pt x="191" y="57"/>
                            <a:pt x="230" y="115"/>
                          </a:cubicBezTo>
                        </a:path>
                      </a:pathLst>
                    </a:custGeom>
                    <a:noFill/>
                    <a:ln w="19050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 dirty="0"/>
                    </a:p>
                  </p:txBody>
                </p:sp>
                <p:sp>
                  <p:nvSpPr>
                    <p:cNvPr id="51" name="Freeform 57"/>
                    <p:cNvSpPr>
                      <a:spLocks/>
                    </p:cNvSpPr>
                    <p:nvPr/>
                  </p:nvSpPr>
                  <p:spPr bwMode="auto">
                    <a:xfrm flipV="1">
                      <a:off x="576" y="2333"/>
                      <a:ext cx="230" cy="115"/>
                    </a:xfrm>
                    <a:custGeom>
                      <a:avLst/>
                      <a:gdLst>
                        <a:gd name="T0" fmla="*/ 0 w 230"/>
                        <a:gd name="T1" fmla="*/ 115 h 115"/>
                        <a:gd name="T2" fmla="*/ 115 w 230"/>
                        <a:gd name="T3" fmla="*/ 0 h 115"/>
                        <a:gd name="T4" fmla="*/ 230 w 230"/>
                        <a:gd name="T5" fmla="*/ 115 h 115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30" h="115">
                          <a:moveTo>
                            <a:pt x="0" y="115"/>
                          </a:moveTo>
                          <a:cubicBezTo>
                            <a:pt x="38" y="57"/>
                            <a:pt x="77" y="0"/>
                            <a:pt x="115" y="0"/>
                          </a:cubicBezTo>
                          <a:cubicBezTo>
                            <a:pt x="153" y="0"/>
                            <a:pt x="191" y="57"/>
                            <a:pt x="230" y="115"/>
                          </a:cubicBezTo>
                        </a:path>
                      </a:pathLst>
                    </a:custGeom>
                    <a:noFill/>
                    <a:ln w="19050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 dirty="0"/>
                    </a:p>
                  </p:txBody>
                </p:sp>
              </p:grpSp>
              <p:grpSp>
                <p:nvGrpSpPr>
                  <p:cNvPr id="32" name="Group 58"/>
                  <p:cNvGrpSpPr>
                    <a:grpSpLocks/>
                  </p:cNvGrpSpPr>
                  <p:nvPr/>
                </p:nvGrpSpPr>
                <p:grpSpPr bwMode="auto">
                  <a:xfrm>
                    <a:off x="451" y="2448"/>
                    <a:ext cx="230" cy="115"/>
                    <a:chOff x="576" y="2218"/>
                    <a:chExt cx="230" cy="230"/>
                  </a:xfrm>
                </p:grpSpPr>
                <p:sp>
                  <p:nvSpPr>
                    <p:cNvPr id="48" name="Freeform 59"/>
                    <p:cNvSpPr>
                      <a:spLocks/>
                    </p:cNvSpPr>
                    <p:nvPr/>
                  </p:nvSpPr>
                  <p:spPr bwMode="auto">
                    <a:xfrm>
                      <a:off x="576" y="2218"/>
                      <a:ext cx="230" cy="115"/>
                    </a:xfrm>
                    <a:custGeom>
                      <a:avLst/>
                      <a:gdLst>
                        <a:gd name="T0" fmla="*/ 0 w 230"/>
                        <a:gd name="T1" fmla="*/ 115 h 115"/>
                        <a:gd name="T2" fmla="*/ 115 w 230"/>
                        <a:gd name="T3" fmla="*/ 0 h 115"/>
                        <a:gd name="T4" fmla="*/ 230 w 230"/>
                        <a:gd name="T5" fmla="*/ 115 h 115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30" h="115">
                          <a:moveTo>
                            <a:pt x="0" y="115"/>
                          </a:moveTo>
                          <a:cubicBezTo>
                            <a:pt x="38" y="57"/>
                            <a:pt x="77" y="0"/>
                            <a:pt x="115" y="0"/>
                          </a:cubicBezTo>
                          <a:cubicBezTo>
                            <a:pt x="153" y="0"/>
                            <a:pt x="191" y="57"/>
                            <a:pt x="230" y="115"/>
                          </a:cubicBezTo>
                        </a:path>
                      </a:pathLst>
                    </a:custGeom>
                    <a:noFill/>
                    <a:ln w="19050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 dirty="0"/>
                    </a:p>
                  </p:txBody>
                </p:sp>
                <p:sp>
                  <p:nvSpPr>
                    <p:cNvPr id="49" name="Freeform 60"/>
                    <p:cNvSpPr>
                      <a:spLocks/>
                    </p:cNvSpPr>
                    <p:nvPr/>
                  </p:nvSpPr>
                  <p:spPr bwMode="auto">
                    <a:xfrm flipV="1">
                      <a:off x="576" y="2333"/>
                      <a:ext cx="230" cy="115"/>
                    </a:xfrm>
                    <a:custGeom>
                      <a:avLst/>
                      <a:gdLst>
                        <a:gd name="T0" fmla="*/ 0 w 230"/>
                        <a:gd name="T1" fmla="*/ 115 h 115"/>
                        <a:gd name="T2" fmla="*/ 115 w 230"/>
                        <a:gd name="T3" fmla="*/ 0 h 115"/>
                        <a:gd name="T4" fmla="*/ 230 w 230"/>
                        <a:gd name="T5" fmla="*/ 115 h 115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30" h="115">
                          <a:moveTo>
                            <a:pt x="0" y="115"/>
                          </a:moveTo>
                          <a:cubicBezTo>
                            <a:pt x="38" y="57"/>
                            <a:pt x="77" y="0"/>
                            <a:pt x="115" y="0"/>
                          </a:cubicBezTo>
                          <a:cubicBezTo>
                            <a:pt x="153" y="0"/>
                            <a:pt x="191" y="57"/>
                            <a:pt x="230" y="115"/>
                          </a:cubicBezTo>
                        </a:path>
                      </a:pathLst>
                    </a:custGeom>
                    <a:noFill/>
                    <a:ln w="19050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 dirty="0"/>
                    </a:p>
                  </p:txBody>
                </p:sp>
              </p:grpSp>
              <p:sp>
                <p:nvSpPr>
                  <p:cNvPr id="33" name="Freeform 61"/>
                  <p:cNvSpPr>
                    <a:spLocks/>
                  </p:cNvSpPr>
                  <p:nvPr/>
                </p:nvSpPr>
                <p:spPr bwMode="auto">
                  <a:xfrm>
                    <a:off x="681" y="2506"/>
                    <a:ext cx="68" cy="172"/>
                  </a:xfrm>
                  <a:custGeom>
                    <a:avLst/>
                    <a:gdLst>
                      <a:gd name="T0" fmla="*/ 0 w 68"/>
                      <a:gd name="T1" fmla="*/ 172 h 172"/>
                      <a:gd name="T2" fmla="*/ 58 w 68"/>
                      <a:gd name="T3" fmla="*/ 115 h 172"/>
                      <a:gd name="T4" fmla="*/ 58 w 68"/>
                      <a:gd name="T5" fmla="*/ 57 h 172"/>
                      <a:gd name="T6" fmla="*/ 0 w 68"/>
                      <a:gd name="T7" fmla="*/ 0 h 17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68" h="172">
                        <a:moveTo>
                          <a:pt x="0" y="172"/>
                        </a:moveTo>
                        <a:cubicBezTo>
                          <a:pt x="24" y="153"/>
                          <a:pt x="48" y="134"/>
                          <a:pt x="58" y="115"/>
                        </a:cubicBezTo>
                        <a:cubicBezTo>
                          <a:pt x="68" y="96"/>
                          <a:pt x="68" y="76"/>
                          <a:pt x="58" y="57"/>
                        </a:cubicBezTo>
                        <a:cubicBezTo>
                          <a:pt x="48" y="38"/>
                          <a:pt x="24" y="19"/>
                          <a:pt x="0" y="0"/>
                        </a:cubicBezTo>
                      </a:path>
                    </a:pathLst>
                  </a:custGeom>
                  <a:noFill/>
                  <a:ln w="19050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 dirty="0"/>
                  </a:p>
                </p:txBody>
              </p:sp>
              <p:sp>
                <p:nvSpPr>
                  <p:cNvPr id="34" name="Freeform 62"/>
                  <p:cNvSpPr>
                    <a:spLocks/>
                  </p:cNvSpPr>
                  <p:nvPr/>
                </p:nvSpPr>
                <p:spPr bwMode="auto">
                  <a:xfrm>
                    <a:off x="681" y="2678"/>
                    <a:ext cx="68" cy="172"/>
                  </a:xfrm>
                  <a:custGeom>
                    <a:avLst/>
                    <a:gdLst>
                      <a:gd name="T0" fmla="*/ 0 w 68"/>
                      <a:gd name="T1" fmla="*/ 172 h 172"/>
                      <a:gd name="T2" fmla="*/ 58 w 68"/>
                      <a:gd name="T3" fmla="*/ 115 h 172"/>
                      <a:gd name="T4" fmla="*/ 58 w 68"/>
                      <a:gd name="T5" fmla="*/ 57 h 172"/>
                      <a:gd name="T6" fmla="*/ 0 w 68"/>
                      <a:gd name="T7" fmla="*/ 0 h 17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68" h="172">
                        <a:moveTo>
                          <a:pt x="0" y="172"/>
                        </a:moveTo>
                        <a:cubicBezTo>
                          <a:pt x="24" y="153"/>
                          <a:pt x="48" y="134"/>
                          <a:pt x="58" y="115"/>
                        </a:cubicBezTo>
                        <a:cubicBezTo>
                          <a:pt x="68" y="96"/>
                          <a:pt x="68" y="76"/>
                          <a:pt x="58" y="57"/>
                        </a:cubicBezTo>
                        <a:cubicBezTo>
                          <a:pt x="48" y="38"/>
                          <a:pt x="24" y="19"/>
                          <a:pt x="0" y="0"/>
                        </a:cubicBezTo>
                      </a:path>
                    </a:pathLst>
                  </a:custGeom>
                  <a:noFill/>
                  <a:ln w="19050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 dirty="0"/>
                  </a:p>
                </p:txBody>
              </p:sp>
              <p:grpSp>
                <p:nvGrpSpPr>
                  <p:cNvPr id="35" name="Group 63"/>
                  <p:cNvGrpSpPr>
                    <a:grpSpLocks/>
                  </p:cNvGrpSpPr>
                  <p:nvPr/>
                </p:nvGrpSpPr>
                <p:grpSpPr bwMode="auto">
                  <a:xfrm>
                    <a:off x="451" y="2794"/>
                    <a:ext cx="230" cy="115"/>
                    <a:chOff x="576" y="2218"/>
                    <a:chExt cx="230" cy="230"/>
                  </a:xfrm>
                </p:grpSpPr>
                <p:sp>
                  <p:nvSpPr>
                    <p:cNvPr id="46" name="Freeform 64"/>
                    <p:cNvSpPr>
                      <a:spLocks/>
                    </p:cNvSpPr>
                    <p:nvPr/>
                  </p:nvSpPr>
                  <p:spPr bwMode="auto">
                    <a:xfrm>
                      <a:off x="576" y="2218"/>
                      <a:ext cx="230" cy="115"/>
                    </a:xfrm>
                    <a:custGeom>
                      <a:avLst/>
                      <a:gdLst>
                        <a:gd name="T0" fmla="*/ 0 w 230"/>
                        <a:gd name="T1" fmla="*/ 115 h 115"/>
                        <a:gd name="T2" fmla="*/ 115 w 230"/>
                        <a:gd name="T3" fmla="*/ 0 h 115"/>
                        <a:gd name="T4" fmla="*/ 230 w 230"/>
                        <a:gd name="T5" fmla="*/ 115 h 115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30" h="115">
                          <a:moveTo>
                            <a:pt x="0" y="115"/>
                          </a:moveTo>
                          <a:cubicBezTo>
                            <a:pt x="38" y="57"/>
                            <a:pt x="77" y="0"/>
                            <a:pt x="115" y="0"/>
                          </a:cubicBezTo>
                          <a:cubicBezTo>
                            <a:pt x="153" y="0"/>
                            <a:pt x="191" y="57"/>
                            <a:pt x="230" y="115"/>
                          </a:cubicBezTo>
                        </a:path>
                      </a:pathLst>
                    </a:custGeom>
                    <a:noFill/>
                    <a:ln w="19050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 dirty="0"/>
                    </a:p>
                  </p:txBody>
                </p:sp>
                <p:sp>
                  <p:nvSpPr>
                    <p:cNvPr id="47" name="Freeform 65"/>
                    <p:cNvSpPr>
                      <a:spLocks/>
                    </p:cNvSpPr>
                    <p:nvPr/>
                  </p:nvSpPr>
                  <p:spPr bwMode="auto">
                    <a:xfrm flipV="1">
                      <a:off x="576" y="2333"/>
                      <a:ext cx="230" cy="115"/>
                    </a:xfrm>
                    <a:custGeom>
                      <a:avLst/>
                      <a:gdLst>
                        <a:gd name="T0" fmla="*/ 0 w 230"/>
                        <a:gd name="T1" fmla="*/ 115 h 115"/>
                        <a:gd name="T2" fmla="*/ 115 w 230"/>
                        <a:gd name="T3" fmla="*/ 0 h 115"/>
                        <a:gd name="T4" fmla="*/ 230 w 230"/>
                        <a:gd name="T5" fmla="*/ 115 h 115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30" h="115">
                          <a:moveTo>
                            <a:pt x="0" y="115"/>
                          </a:moveTo>
                          <a:cubicBezTo>
                            <a:pt x="38" y="57"/>
                            <a:pt x="77" y="0"/>
                            <a:pt x="115" y="0"/>
                          </a:cubicBezTo>
                          <a:cubicBezTo>
                            <a:pt x="153" y="0"/>
                            <a:pt x="191" y="57"/>
                            <a:pt x="230" y="115"/>
                          </a:cubicBezTo>
                        </a:path>
                      </a:pathLst>
                    </a:custGeom>
                    <a:noFill/>
                    <a:ln w="19050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 dirty="0"/>
                    </a:p>
                  </p:txBody>
                </p:sp>
              </p:grpSp>
              <p:grpSp>
                <p:nvGrpSpPr>
                  <p:cNvPr id="36" name="Group 66"/>
                  <p:cNvGrpSpPr>
                    <a:grpSpLocks/>
                  </p:cNvGrpSpPr>
                  <p:nvPr/>
                </p:nvGrpSpPr>
                <p:grpSpPr bwMode="auto">
                  <a:xfrm>
                    <a:off x="451" y="2967"/>
                    <a:ext cx="230" cy="115"/>
                    <a:chOff x="576" y="2218"/>
                    <a:chExt cx="230" cy="230"/>
                  </a:xfrm>
                </p:grpSpPr>
                <p:sp>
                  <p:nvSpPr>
                    <p:cNvPr id="44" name="Freeform 67"/>
                    <p:cNvSpPr>
                      <a:spLocks/>
                    </p:cNvSpPr>
                    <p:nvPr/>
                  </p:nvSpPr>
                  <p:spPr bwMode="auto">
                    <a:xfrm>
                      <a:off x="576" y="2218"/>
                      <a:ext cx="230" cy="115"/>
                    </a:xfrm>
                    <a:custGeom>
                      <a:avLst/>
                      <a:gdLst>
                        <a:gd name="T0" fmla="*/ 0 w 230"/>
                        <a:gd name="T1" fmla="*/ 115 h 115"/>
                        <a:gd name="T2" fmla="*/ 115 w 230"/>
                        <a:gd name="T3" fmla="*/ 0 h 115"/>
                        <a:gd name="T4" fmla="*/ 230 w 230"/>
                        <a:gd name="T5" fmla="*/ 115 h 115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30" h="115">
                          <a:moveTo>
                            <a:pt x="0" y="115"/>
                          </a:moveTo>
                          <a:cubicBezTo>
                            <a:pt x="38" y="57"/>
                            <a:pt x="77" y="0"/>
                            <a:pt x="115" y="0"/>
                          </a:cubicBezTo>
                          <a:cubicBezTo>
                            <a:pt x="153" y="0"/>
                            <a:pt x="191" y="57"/>
                            <a:pt x="230" y="115"/>
                          </a:cubicBezTo>
                        </a:path>
                      </a:pathLst>
                    </a:custGeom>
                    <a:noFill/>
                    <a:ln w="19050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 dirty="0"/>
                    </a:p>
                  </p:txBody>
                </p:sp>
                <p:sp>
                  <p:nvSpPr>
                    <p:cNvPr id="45" name="Freeform 68"/>
                    <p:cNvSpPr>
                      <a:spLocks/>
                    </p:cNvSpPr>
                    <p:nvPr/>
                  </p:nvSpPr>
                  <p:spPr bwMode="auto">
                    <a:xfrm flipV="1">
                      <a:off x="576" y="2333"/>
                      <a:ext cx="230" cy="115"/>
                    </a:xfrm>
                    <a:custGeom>
                      <a:avLst/>
                      <a:gdLst>
                        <a:gd name="T0" fmla="*/ 0 w 230"/>
                        <a:gd name="T1" fmla="*/ 115 h 115"/>
                        <a:gd name="T2" fmla="*/ 115 w 230"/>
                        <a:gd name="T3" fmla="*/ 0 h 115"/>
                        <a:gd name="T4" fmla="*/ 230 w 230"/>
                        <a:gd name="T5" fmla="*/ 115 h 115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30" h="115">
                          <a:moveTo>
                            <a:pt x="0" y="115"/>
                          </a:moveTo>
                          <a:cubicBezTo>
                            <a:pt x="38" y="57"/>
                            <a:pt x="77" y="0"/>
                            <a:pt x="115" y="0"/>
                          </a:cubicBezTo>
                          <a:cubicBezTo>
                            <a:pt x="153" y="0"/>
                            <a:pt x="191" y="57"/>
                            <a:pt x="230" y="115"/>
                          </a:cubicBezTo>
                        </a:path>
                      </a:pathLst>
                    </a:custGeom>
                    <a:noFill/>
                    <a:ln w="19050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 dirty="0"/>
                    </a:p>
                  </p:txBody>
                </p:sp>
              </p:grpSp>
              <p:sp>
                <p:nvSpPr>
                  <p:cNvPr id="37" name="Freeform 69"/>
                  <p:cNvSpPr>
                    <a:spLocks/>
                  </p:cNvSpPr>
                  <p:nvPr/>
                </p:nvSpPr>
                <p:spPr bwMode="auto">
                  <a:xfrm>
                    <a:off x="681" y="2851"/>
                    <a:ext cx="68" cy="172"/>
                  </a:xfrm>
                  <a:custGeom>
                    <a:avLst/>
                    <a:gdLst>
                      <a:gd name="T0" fmla="*/ 0 w 68"/>
                      <a:gd name="T1" fmla="*/ 172 h 172"/>
                      <a:gd name="T2" fmla="*/ 58 w 68"/>
                      <a:gd name="T3" fmla="*/ 115 h 172"/>
                      <a:gd name="T4" fmla="*/ 58 w 68"/>
                      <a:gd name="T5" fmla="*/ 57 h 172"/>
                      <a:gd name="T6" fmla="*/ 0 w 68"/>
                      <a:gd name="T7" fmla="*/ 0 h 17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68" h="172">
                        <a:moveTo>
                          <a:pt x="0" y="172"/>
                        </a:moveTo>
                        <a:cubicBezTo>
                          <a:pt x="24" y="153"/>
                          <a:pt x="48" y="134"/>
                          <a:pt x="58" y="115"/>
                        </a:cubicBezTo>
                        <a:cubicBezTo>
                          <a:pt x="68" y="96"/>
                          <a:pt x="68" y="76"/>
                          <a:pt x="58" y="57"/>
                        </a:cubicBezTo>
                        <a:cubicBezTo>
                          <a:pt x="48" y="38"/>
                          <a:pt x="24" y="19"/>
                          <a:pt x="0" y="0"/>
                        </a:cubicBezTo>
                      </a:path>
                    </a:pathLst>
                  </a:custGeom>
                  <a:noFill/>
                  <a:ln w="19050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 dirty="0"/>
                  </a:p>
                </p:txBody>
              </p:sp>
              <p:grpSp>
                <p:nvGrpSpPr>
                  <p:cNvPr id="38" name="Group 70"/>
                  <p:cNvGrpSpPr>
                    <a:grpSpLocks/>
                  </p:cNvGrpSpPr>
                  <p:nvPr/>
                </p:nvGrpSpPr>
                <p:grpSpPr bwMode="auto">
                  <a:xfrm>
                    <a:off x="576" y="2160"/>
                    <a:ext cx="135" cy="345"/>
                    <a:chOff x="576" y="2160"/>
                    <a:chExt cx="135" cy="345"/>
                  </a:xfrm>
                </p:grpSpPr>
                <p:sp>
                  <p:nvSpPr>
                    <p:cNvPr id="42" name="Freeform 71"/>
                    <p:cNvSpPr>
                      <a:spLocks/>
                    </p:cNvSpPr>
                    <p:nvPr/>
                  </p:nvSpPr>
                  <p:spPr bwMode="auto">
                    <a:xfrm>
                      <a:off x="579" y="2333"/>
                      <a:ext cx="132" cy="172"/>
                    </a:xfrm>
                    <a:custGeom>
                      <a:avLst/>
                      <a:gdLst>
                        <a:gd name="T0" fmla="*/ 0 w 132"/>
                        <a:gd name="T1" fmla="*/ 0 h 172"/>
                        <a:gd name="T2" fmla="*/ 115 w 132"/>
                        <a:gd name="T3" fmla="*/ 57 h 172"/>
                        <a:gd name="T4" fmla="*/ 99 w 132"/>
                        <a:gd name="T5" fmla="*/ 172 h 172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132" h="172">
                          <a:moveTo>
                            <a:pt x="0" y="0"/>
                          </a:moveTo>
                          <a:cubicBezTo>
                            <a:pt x="49" y="14"/>
                            <a:pt x="98" y="28"/>
                            <a:pt x="115" y="57"/>
                          </a:cubicBezTo>
                          <a:cubicBezTo>
                            <a:pt x="132" y="86"/>
                            <a:pt x="115" y="129"/>
                            <a:pt x="99" y="172"/>
                          </a:cubicBezTo>
                        </a:path>
                      </a:pathLst>
                    </a:custGeom>
                    <a:noFill/>
                    <a:ln w="19050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 dirty="0"/>
                    </a:p>
                  </p:txBody>
                </p:sp>
                <p:sp>
                  <p:nvSpPr>
                    <p:cNvPr id="43" name="Line 72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576" y="2160"/>
                      <a:ext cx="0" cy="173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 dirty="0"/>
                    </a:p>
                  </p:txBody>
                </p:sp>
              </p:grpSp>
              <p:grpSp>
                <p:nvGrpSpPr>
                  <p:cNvPr id="39" name="Group 73"/>
                  <p:cNvGrpSpPr>
                    <a:grpSpLocks/>
                  </p:cNvGrpSpPr>
                  <p:nvPr/>
                </p:nvGrpSpPr>
                <p:grpSpPr bwMode="auto">
                  <a:xfrm flipV="1">
                    <a:off x="576" y="3024"/>
                    <a:ext cx="135" cy="345"/>
                    <a:chOff x="576" y="2160"/>
                    <a:chExt cx="135" cy="345"/>
                  </a:xfrm>
                </p:grpSpPr>
                <p:sp>
                  <p:nvSpPr>
                    <p:cNvPr id="40" name="Freeform 74"/>
                    <p:cNvSpPr>
                      <a:spLocks/>
                    </p:cNvSpPr>
                    <p:nvPr/>
                  </p:nvSpPr>
                  <p:spPr bwMode="auto">
                    <a:xfrm>
                      <a:off x="579" y="2333"/>
                      <a:ext cx="132" cy="172"/>
                    </a:xfrm>
                    <a:custGeom>
                      <a:avLst/>
                      <a:gdLst>
                        <a:gd name="T0" fmla="*/ 0 w 132"/>
                        <a:gd name="T1" fmla="*/ 0 h 172"/>
                        <a:gd name="T2" fmla="*/ 115 w 132"/>
                        <a:gd name="T3" fmla="*/ 57 h 172"/>
                        <a:gd name="T4" fmla="*/ 99 w 132"/>
                        <a:gd name="T5" fmla="*/ 172 h 172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132" h="172">
                          <a:moveTo>
                            <a:pt x="0" y="0"/>
                          </a:moveTo>
                          <a:cubicBezTo>
                            <a:pt x="49" y="14"/>
                            <a:pt x="98" y="28"/>
                            <a:pt x="115" y="57"/>
                          </a:cubicBezTo>
                          <a:cubicBezTo>
                            <a:pt x="132" y="86"/>
                            <a:pt x="115" y="129"/>
                            <a:pt x="99" y="172"/>
                          </a:cubicBezTo>
                        </a:path>
                      </a:pathLst>
                    </a:custGeom>
                    <a:noFill/>
                    <a:ln w="19050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 dirty="0"/>
                    </a:p>
                  </p:txBody>
                </p:sp>
                <p:sp>
                  <p:nvSpPr>
                    <p:cNvPr id="41" name="Line 75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576" y="2160"/>
                      <a:ext cx="0" cy="173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 dirty="0"/>
                    </a:p>
                  </p:txBody>
                </p:sp>
              </p:grpSp>
            </p:grpSp>
            <p:sp>
              <p:nvSpPr>
                <p:cNvPr id="28" name="Freeform 337"/>
                <p:cNvSpPr>
                  <a:spLocks/>
                </p:cNvSpPr>
                <p:nvPr/>
              </p:nvSpPr>
              <p:spPr bwMode="auto">
                <a:xfrm>
                  <a:off x="3398" y="1757"/>
                  <a:ext cx="116" cy="518"/>
                </a:xfrm>
                <a:custGeom>
                  <a:avLst/>
                  <a:gdLst>
                    <a:gd name="T0" fmla="*/ 58 w 116"/>
                    <a:gd name="T1" fmla="*/ 0 h 518"/>
                    <a:gd name="T2" fmla="*/ 0 w 116"/>
                    <a:gd name="T3" fmla="*/ 230 h 518"/>
                    <a:gd name="T4" fmla="*/ 58 w 116"/>
                    <a:gd name="T5" fmla="*/ 518 h 518"/>
                    <a:gd name="T6" fmla="*/ 116 w 116"/>
                    <a:gd name="T7" fmla="*/ 230 h 518"/>
                    <a:gd name="T8" fmla="*/ 58 w 116"/>
                    <a:gd name="T9" fmla="*/ 0 h 51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16" h="518">
                      <a:moveTo>
                        <a:pt x="58" y="0"/>
                      </a:moveTo>
                      <a:lnTo>
                        <a:pt x="0" y="230"/>
                      </a:lnTo>
                      <a:lnTo>
                        <a:pt x="58" y="518"/>
                      </a:lnTo>
                      <a:lnTo>
                        <a:pt x="116" y="230"/>
                      </a:lnTo>
                      <a:lnTo>
                        <a:pt x="58" y="0"/>
                      </a:lnTo>
                      <a:close/>
                    </a:path>
                  </a:pathLst>
                </a:cu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 dirty="0"/>
                </a:p>
              </p:txBody>
            </p:sp>
          </p:grpSp>
          <p:cxnSp>
            <p:nvCxnSpPr>
              <p:cNvPr id="2048" name="Straight Connector 2047"/>
              <p:cNvCxnSpPr>
                <a:stCxn id="43" idx="1"/>
              </p:cNvCxnSpPr>
              <p:nvPr/>
            </p:nvCxnSpPr>
            <p:spPr>
              <a:xfrm flipH="1" flipV="1">
                <a:off x="624103" y="4000730"/>
                <a:ext cx="1237417" cy="2044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4" name="Straight Connector 2053"/>
              <p:cNvCxnSpPr>
                <a:stCxn id="19" idx="0"/>
                <a:endCxn id="19" idx="0"/>
              </p:cNvCxnSpPr>
              <p:nvPr/>
            </p:nvCxnSpPr>
            <p:spPr>
              <a:xfrm>
                <a:off x="1727053" y="4077072"/>
                <a:ext cx="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6" name="Straight Connector 2055"/>
              <p:cNvCxnSpPr>
                <a:stCxn id="19" idx="0"/>
              </p:cNvCxnSpPr>
              <p:nvPr/>
            </p:nvCxnSpPr>
            <p:spPr>
              <a:xfrm flipV="1">
                <a:off x="1727053" y="4002775"/>
                <a:ext cx="1587" cy="7429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57" name="TextBox 2056"/>
              <p:cNvSpPr txBox="1"/>
              <p:nvPr/>
            </p:nvSpPr>
            <p:spPr>
              <a:xfrm>
                <a:off x="-84008" y="5089310"/>
                <a:ext cx="14162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b="1" dirty="0" smtClean="0"/>
                  <a:t>Power losses</a:t>
                </a:r>
                <a:endParaRPr lang="en-GB" b="1" dirty="0"/>
              </a:p>
            </p:txBody>
          </p:sp>
          <p:grpSp>
            <p:nvGrpSpPr>
              <p:cNvPr id="62" name="Group 324"/>
              <p:cNvGrpSpPr>
                <a:grpSpLocks/>
              </p:cNvGrpSpPr>
              <p:nvPr/>
            </p:nvGrpSpPr>
            <p:grpSpPr bwMode="auto">
              <a:xfrm>
                <a:off x="1502352" y="4986464"/>
                <a:ext cx="490538" cy="457200"/>
                <a:chOff x="2110" y="1699"/>
                <a:chExt cx="309" cy="288"/>
              </a:xfrm>
            </p:grpSpPr>
            <p:grpSp>
              <p:nvGrpSpPr>
                <p:cNvPr id="63" name="Group 125"/>
                <p:cNvGrpSpPr>
                  <a:grpSpLocks/>
                </p:cNvGrpSpPr>
                <p:nvPr/>
              </p:nvGrpSpPr>
              <p:grpSpPr bwMode="auto">
                <a:xfrm>
                  <a:off x="2110" y="1699"/>
                  <a:ext cx="288" cy="288"/>
                  <a:chOff x="1585" y="1987"/>
                  <a:chExt cx="288" cy="288"/>
                </a:xfrm>
              </p:grpSpPr>
              <p:grpSp>
                <p:nvGrpSpPr>
                  <p:cNvPr id="65" name="Group 126"/>
                  <p:cNvGrpSpPr>
                    <a:grpSpLocks/>
                  </p:cNvGrpSpPr>
                  <p:nvPr/>
                </p:nvGrpSpPr>
                <p:grpSpPr bwMode="auto">
                  <a:xfrm>
                    <a:off x="1585" y="2160"/>
                    <a:ext cx="288" cy="115"/>
                    <a:chOff x="1152" y="2160"/>
                    <a:chExt cx="288" cy="115"/>
                  </a:xfrm>
                </p:grpSpPr>
                <p:sp>
                  <p:nvSpPr>
                    <p:cNvPr id="67" name="Line 12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152" y="2160"/>
                      <a:ext cx="288" cy="0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GB" dirty="0"/>
                    </a:p>
                  </p:txBody>
                </p:sp>
                <p:sp>
                  <p:nvSpPr>
                    <p:cNvPr id="68" name="Line 12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210" y="2218"/>
                      <a:ext cx="172" cy="0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GB" dirty="0"/>
                    </a:p>
                  </p:txBody>
                </p:sp>
                <p:sp>
                  <p:nvSpPr>
                    <p:cNvPr id="69" name="Line 12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267" y="2275"/>
                      <a:ext cx="58" cy="0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GB" dirty="0"/>
                    </a:p>
                  </p:txBody>
                </p:sp>
              </p:grpSp>
              <p:sp>
                <p:nvSpPr>
                  <p:cNvPr id="66" name="Line 13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728" y="1987"/>
                    <a:ext cx="0" cy="173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GB" dirty="0"/>
                  </a:p>
                </p:txBody>
              </p:sp>
            </p:grpSp>
            <p:sp>
              <p:nvSpPr>
                <p:cNvPr id="64" name="Freeform 323"/>
                <p:cNvSpPr>
                  <a:spLocks/>
                </p:cNvSpPr>
                <p:nvPr/>
              </p:nvSpPr>
              <p:spPr bwMode="auto">
                <a:xfrm>
                  <a:off x="2131" y="1699"/>
                  <a:ext cx="288" cy="173"/>
                </a:xfrm>
                <a:custGeom>
                  <a:avLst/>
                  <a:gdLst>
                    <a:gd name="T0" fmla="*/ 115 w 288"/>
                    <a:gd name="T1" fmla="*/ 0 h 173"/>
                    <a:gd name="T2" fmla="*/ 0 w 288"/>
                    <a:gd name="T3" fmla="*/ 173 h 173"/>
                    <a:gd name="T4" fmla="*/ 288 w 288"/>
                    <a:gd name="T5" fmla="*/ 173 h 173"/>
                    <a:gd name="T6" fmla="*/ 115 w 288"/>
                    <a:gd name="T7" fmla="*/ 0 h 17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88" h="173">
                      <a:moveTo>
                        <a:pt x="115" y="0"/>
                      </a:moveTo>
                      <a:lnTo>
                        <a:pt x="0" y="173"/>
                      </a:lnTo>
                      <a:lnTo>
                        <a:pt x="288" y="173"/>
                      </a:lnTo>
                      <a:lnTo>
                        <a:pt x="115" y="0"/>
                      </a:lnTo>
                      <a:close/>
                    </a:path>
                  </a:pathLst>
                </a:cu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 dirty="0"/>
                </a:p>
              </p:txBody>
            </p:sp>
          </p:grpSp>
          <p:grpSp>
            <p:nvGrpSpPr>
              <p:cNvPr id="70" name="Group 307"/>
              <p:cNvGrpSpPr>
                <a:grpSpLocks/>
              </p:cNvGrpSpPr>
              <p:nvPr/>
            </p:nvGrpSpPr>
            <p:grpSpPr bwMode="auto">
              <a:xfrm>
                <a:off x="2672726" y="3544552"/>
                <a:ext cx="461963" cy="914400"/>
                <a:chOff x="2514" y="547"/>
                <a:chExt cx="291" cy="576"/>
              </a:xfrm>
            </p:grpSpPr>
            <p:sp>
              <p:nvSpPr>
                <p:cNvPr id="71" name="Freeform 132"/>
                <p:cNvSpPr>
                  <a:spLocks/>
                </p:cNvSpPr>
                <p:nvPr/>
              </p:nvSpPr>
              <p:spPr bwMode="auto">
                <a:xfrm>
                  <a:off x="2540" y="547"/>
                  <a:ext cx="232" cy="576"/>
                </a:xfrm>
                <a:custGeom>
                  <a:avLst/>
                  <a:gdLst>
                    <a:gd name="T0" fmla="*/ 232 w 232"/>
                    <a:gd name="T1" fmla="*/ 576 h 576"/>
                    <a:gd name="T2" fmla="*/ 232 w 232"/>
                    <a:gd name="T3" fmla="*/ 0 h 576"/>
                    <a:gd name="T4" fmla="*/ 116 w 232"/>
                    <a:gd name="T5" fmla="*/ 173 h 576"/>
                    <a:gd name="T6" fmla="*/ 1 w 232"/>
                    <a:gd name="T7" fmla="*/ 173 h 576"/>
                    <a:gd name="T8" fmla="*/ 1 w 232"/>
                    <a:gd name="T9" fmla="*/ 230 h 576"/>
                    <a:gd name="T10" fmla="*/ 0 w 232"/>
                    <a:gd name="T11" fmla="*/ 347 h 576"/>
                    <a:gd name="T12" fmla="*/ 1 w 232"/>
                    <a:gd name="T13" fmla="*/ 403 h 576"/>
                    <a:gd name="T14" fmla="*/ 116 w 232"/>
                    <a:gd name="T15" fmla="*/ 403 h 576"/>
                    <a:gd name="T16" fmla="*/ 232 w 232"/>
                    <a:gd name="T17" fmla="*/ 576 h 57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232" h="576">
                      <a:moveTo>
                        <a:pt x="232" y="576"/>
                      </a:moveTo>
                      <a:lnTo>
                        <a:pt x="232" y="0"/>
                      </a:lnTo>
                      <a:lnTo>
                        <a:pt x="116" y="173"/>
                      </a:lnTo>
                      <a:lnTo>
                        <a:pt x="1" y="173"/>
                      </a:lnTo>
                      <a:lnTo>
                        <a:pt x="1" y="230"/>
                      </a:lnTo>
                      <a:lnTo>
                        <a:pt x="0" y="347"/>
                      </a:lnTo>
                      <a:lnTo>
                        <a:pt x="1" y="403"/>
                      </a:lnTo>
                      <a:lnTo>
                        <a:pt x="116" y="403"/>
                      </a:lnTo>
                      <a:lnTo>
                        <a:pt x="232" y="576"/>
                      </a:lnTo>
                      <a:close/>
                    </a:path>
                  </a:pathLst>
                </a:cu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GB" dirty="0"/>
                </a:p>
              </p:txBody>
            </p:sp>
            <p:sp>
              <p:nvSpPr>
                <p:cNvPr id="72" name="Text Box 133"/>
                <p:cNvSpPr txBox="1">
                  <a:spLocks noChangeArrowheads="1"/>
                </p:cNvSpPr>
                <p:nvPr/>
              </p:nvSpPr>
              <p:spPr bwMode="auto">
                <a:xfrm>
                  <a:off x="2514" y="762"/>
                  <a:ext cx="291" cy="13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algn="l" eaLnBrk="1" hangingPunct="1"/>
                  <a:r>
                    <a:rPr lang="en-US" sz="800" dirty="0"/>
                    <a:t>SPKR</a:t>
                  </a:r>
                </a:p>
              </p:txBody>
            </p:sp>
          </p:grpSp>
          <p:grpSp>
            <p:nvGrpSpPr>
              <p:cNvPr id="2079" name="Group 2078"/>
              <p:cNvGrpSpPr/>
              <p:nvPr/>
            </p:nvGrpSpPr>
            <p:grpSpPr>
              <a:xfrm>
                <a:off x="2253293" y="2715764"/>
                <a:ext cx="1122834" cy="483922"/>
                <a:chOff x="3166443" y="2954548"/>
                <a:chExt cx="1122834" cy="483922"/>
              </a:xfrm>
            </p:grpSpPr>
            <p:grpSp>
              <p:nvGrpSpPr>
                <p:cNvPr id="73" name="Group 209"/>
                <p:cNvGrpSpPr>
                  <a:grpSpLocks/>
                </p:cNvGrpSpPr>
                <p:nvPr/>
              </p:nvGrpSpPr>
              <p:grpSpPr bwMode="auto">
                <a:xfrm rot="16200000">
                  <a:off x="3471243" y="2667668"/>
                  <a:ext cx="152400" cy="762000"/>
                  <a:chOff x="3935" y="1728"/>
                  <a:chExt cx="96" cy="480"/>
                </a:xfrm>
              </p:grpSpPr>
              <p:sp>
                <p:nvSpPr>
                  <p:cNvPr id="74" name="Arc 59"/>
                  <p:cNvSpPr>
                    <a:spLocks noChangeAspect="1"/>
                  </p:cNvSpPr>
                  <p:nvPr/>
                </p:nvSpPr>
                <p:spPr bwMode="auto">
                  <a:xfrm rot="5400000" flipV="1">
                    <a:off x="3947" y="1895"/>
                    <a:ext cx="24" cy="48"/>
                  </a:xfrm>
                  <a:custGeom>
                    <a:avLst/>
                    <a:gdLst>
                      <a:gd name="T0" fmla="*/ 0 w 43180"/>
                      <a:gd name="T1" fmla="*/ 46 h 21600"/>
                      <a:gd name="T2" fmla="*/ 24 w 43180"/>
                      <a:gd name="T3" fmla="*/ 48 h 21600"/>
                      <a:gd name="T4" fmla="*/ 12 w 43180"/>
                      <a:gd name="T5" fmla="*/ 48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180" h="21600" fill="none" extrusionOk="0">
                        <a:moveTo>
                          <a:pt x="0" y="20662"/>
                        </a:moveTo>
                        <a:cubicBezTo>
                          <a:pt x="502" y="9108"/>
                          <a:pt x="10015" y="-1"/>
                          <a:pt x="21580" y="0"/>
                        </a:cubicBezTo>
                        <a:cubicBezTo>
                          <a:pt x="33509" y="0"/>
                          <a:pt x="43180" y="9670"/>
                          <a:pt x="43180" y="21600"/>
                        </a:cubicBezTo>
                      </a:path>
                      <a:path w="43180" h="21600" stroke="0" extrusionOk="0">
                        <a:moveTo>
                          <a:pt x="0" y="20662"/>
                        </a:moveTo>
                        <a:cubicBezTo>
                          <a:pt x="502" y="9108"/>
                          <a:pt x="10015" y="-1"/>
                          <a:pt x="21580" y="0"/>
                        </a:cubicBezTo>
                        <a:cubicBezTo>
                          <a:pt x="33509" y="0"/>
                          <a:pt x="43180" y="9670"/>
                          <a:pt x="43180" y="21600"/>
                        </a:cubicBezTo>
                        <a:lnTo>
                          <a:pt x="21580" y="21600"/>
                        </a:lnTo>
                        <a:lnTo>
                          <a:pt x="0" y="20662"/>
                        </a:lnTo>
                        <a:close/>
                      </a:path>
                    </a:pathLst>
                  </a:custGeom>
                  <a:noFill/>
                  <a:ln w="63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 dirty="0"/>
                  </a:p>
                </p:txBody>
              </p:sp>
              <p:sp>
                <p:nvSpPr>
                  <p:cNvPr id="75" name="Arc 60"/>
                  <p:cNvSpPr>
                    <a:spLocks noChangeAspect="1"/>
                  </p:cNvSpPr>
                  <p:nvPr/>
                </p:nvSpPr>
                <p:spPr bwMode="auto">
                  <a:xfrm rot="5400000" flipV="1">
                    <a:off x="3947" y="1943"/>
                    <a:ext cx="24" cy="48"/>
                  </a:xfrm>
                  <a:custGeom>
                    <a:avLst/>
                    <a:gdLst>
                      <a:gd name="T0" fmla="*/ 0 w 43180"/>
                      <a:gd name="T1" fmla="*/ 46 h 21600"/>
                      <a:gd name="T2" fmla="*/ 24 w 43180"/>
                      <a:gd name="T3" fmla="*/ 48 h 21600"/>
                      <a:gd name="T4" fmla="*/ 12 w 43180"/>
                      <a:gd name="T5" fmla="*/ 48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180" h="21600" fill="none" extrusionOk="0">
                        <a:moveTo>
                          <a:pt x="0" y="20662"/>
                        </a:moveTo>
                        <a:cubicBezTo>
                          <a:pt x="502" y="9108"/>
                          <a:pt x="10015" y="-1"/>
                          <a:pt x="21580" y="0"/>
                        </a:cubicBezTo>
                        <a:cubicBezTo>
                          <a:pt x="33509" y="0"/>
                          <a:pt x="43180" y="9670"/>
                          <a:pt x="43180" y="21600"/>
                        </a:cubicBezTo>
                      </a:path>
                      <a:path w="43180" h="21600" stroke="0" extrusionOk="0">
                        <a:moveTo>
                          <a:pt x="0" y="20662"/>
                        </a:moveTo>
                        <a:cubicBezTo>
                          <a:pt x="502" y="9108"/>
                          <a:pt x="10015" y="-1"/>
                          <a:pt x="21580" y="0"/>
                        </a:cubicBezTo>
                        <a:cubicBezTo>
                          <a:pt x="33509" y="0"/>
                          <a:pt x="43180" y="9670"/>
                          <a:pt x="43180" y="21600"/>
                        </a:cubicBezTo>
                        <a:lnTo>
                          <a:pt x="21580" y="21600"/>
                        </a:lnTo>
                        <a:lnTo>
                          <a:pt x="0" y="20662"/>
                        </a:lnTo>
                        <a:close/>
                      </a:path>
                    </a:pathLst>
                  </a:custGeom>
                  <a:noFill/>
                  <a:ln w="63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 dirty="0"/>
                  </a:p>
                </p:txBody>
              </p:sp>
              <p:sp>
                <p:nvSpPr>
                  <p:cNvPr id="76" name="Arc 61"/>
                  <p:cNvSpPr>
                    <a:spLocks noChangeAspect="1"/>
                  </p:cNvSpPr>
                  <p:nvPr/>
                </p:nvSpPr>
                <p:spPr bwMode="auto">
                  <a:xfrm rot="5400000" flipV="1">
                    <a:off x="3946" y="1991"/>
                    <a:ext cx="25" cy="48"/>
                  </a:xfrm>
                  <a:custGeom>
                    <a:avLst/>
                    <a:gdLst>
                      <a:gd name="T0" fmla="*/ 0 w 43180"/>
                      <a:gd name="T1" fmla="*/ 46 h 21600"/>
                      <a:gd name="T2" fmla="*/ 25 w 43180"/>
                      <a:gd name="T3" fmla="*/ 48 h 21600"/>
                      <a:gd name="T4" fmla="*/ 12 w 43180"/>
                      <a:gd name="T5" fmla="*/ 48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180" h="21600" fill="none" extrusionOk="0">
                        <a:moveTo>
                          <a:pt x="0" y="20662"/>
                        </a:moveTo>
                        <a:cubicBezTo>
                          <a:pt x="502" y="9108"/>
                          <a:pt x="10015" y="-1"/>
                          <a:pt x="21580" y="0"/>
                        </a:cubicBezTo>
                        <a:cubicBezTo>
                          <a:pt x="33509" y="0"/>
                          <a:pt x="43180" y="9670"/>
                          <a:pt x="43180" y="21600"/>
                        </a:cubicBezTo>
                      </a:path>
                      <a:path w="43180" h="21600" stroke="0" extrusionOk="0">
                        <a:moveTo>
                          <a:pt x="0" y="20662"/>
                        </a:moveTo>
                        <a:cubicBezTo>
                          <a:pt x="502" y="9108"/>
                          <a:pt x="10015" y="-1"/>
                          <a:pt x="21580" y="0"/>
                        </a:cubicBezTo>
                        <a:cubicBezTo>
                          <a:pt x="33509" y="0"/>
                          <a:pt x="43180" y="9670"/>
                          <a:pt x="43180" y="21600"/>
                        </a:cubicBezTo>
                        <a:lnTo>
                          <a:pt x="21580" y="21600"/>
                        </a:lnTo>
                        <a:lnTo>
                          <a:pt x="0" y="20662"/>
                        </a:lnTo>
                        <a:close/>
                      </a:path>
                    </a:pathLst>
                  </a:custGeom>
                  <a:noFill/>
                  <a:ln w="63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 dirty="0"/>
                  </a:p>
                </p:txBody>
              </p:sp>
              <p:sp>
                <p:nvSpPr>
                  <p:cNvPr id="77" name="Arc 62"/>
                  <p:cNvSpPr>
                    <a:spLocks noChangeAspect="1"/>
                  </p:cNvSpPr>
                  <p:nvPr/>
                </p:nvSpPr>
                <p:spPr bwMode="auto">
                  <a:xfrm rot="5400000" flipV="1">
                    <a:off x="3947" y="1847"/>
                    <a:ext cx="24" cy="48"/>
                  </a:xfrm>
                  <a:custGeom>
                    <a:avLst/>
                    <a:gdLst>
                      <a:gd name="T0" fmla="*/ 0 w 43180"/>
                      <a:gd name="T1" fmla="*/ 46 h 21600"/>
                      <a:gd name="T2" fmla="*/ 24 w 43180"/>
                      <a:gd name="T3" fmla="*/ 48 h 21600"/>
                      <a:gd name="T4" fmla="*/ 12 w 43180"/>
                      <a:gd name="T5" fmla="*/ 48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180" h="21600" fill="none" extrusionOk="0">
                        <a:moveTo>
                          <a:pt x="0" y="20662"/>
                        </a:moveTo>
                        <a:cubicBezTo>
                          <a:pt x="502" y="9108"/>
                          <a:pt x="10015" y="-1"/>
                          <a:pt x="21580" y="0"/>
                        </a:cubicBezTo>
                        <a:cubicBezTo>
                          <a:pt x="33509" y="0"/>
                          <a:pt x="43180" y="9670"/>
                          <a:pt x="43180" y="21600"/>
                        </a:cubicBezTo>
                      </a:path>
                      <a:path w="43180" h="21600" stroke="0" extrusionOk="0">
                        <a:moveTo>
                          <a:pt x="0" y="20662"/>
                        </a:moveTo>
                        <a:cubicBezTo>
                          <a:pt x="502" y="9108"/>
                          <a:pt x="10015" y="-1"/>
                          <a:pt x="21580" y="0"/>
                        </a:cubicBezTo>
                        <a:cubicBezTo>
                          <a:pt x="33509" y="0"/>
                          <a:pt x="43180" y="9670"/>
                          <a:pt x="43180" y="21600"/>
                        </a:cubicBezTo>
                        <a:lnTo>
                          <a:pt x="21580" y="21600"/>
                        </a:lnTo>
                        <a:lnTo>
                          <a:pt x="0" y="20662"/>
                        </a:lnTo>
                        <a:close/>
                      </a:path>
                    </a:pathLst>
                  </a:custGeom>
                  <a:noFill/>
                  <a:ln w="63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 dirty="0"/>
                  </a:p>
                </p:txBody>
              </p:sp>
              <p:sp>
                <p:nvSpPr>
                  <p:cNvPr id="78" name="Line 63"/>
                  <p:cNvSpPr>
                    <a:spLocks noChangeAspect="1" noChangeShapeType="1"/>
                  </p:cNvSpPr>
                  <p:nvPr/>
                </p:nvSpPr>
                <p:spPr bwMode="auto">
                  <a:xfrm rot="5400000" flipH="1">
                    <a:off x="3941" y="1770"/>
                    <a:ext cx="83" cy="0"/>
                  </a:xfrm>
                  <a:prstGeom prst="line">
                    <a:avLst/>
                  </a:prstGeom>
                  <a:noFill/>
                  <a:ln w="63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GB" dirty="0"/>
                  </a:p>
                </p:txBody>
              </p:sp>
              <p:sp>
                <p:nvSpPr>
                  <p:cNvPr id="79" name="Line 64"/>
                  <p:cNvSpPr>
                    <a:spLocks noChangeAspect="1" noChangeShapeType="1"/>
                  </p:cNvSpPr>
                  <p:nvPr/>
                </p:nvSpPr>
                <p:spPr bwMode="auto">
                  <a:xfrm rot="5400000" flipH="1">
                    <a:off x="3940" y="2166"/>
                    <a:ext cx="85" cy="0"/>
                  </a:xfrm>
                  <a:prstGeom prst="line">
                    <a:avLst/>
                  </a:prstGeom>
                  <a:noFill/>
                  <a:ln w="63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GB" dirty="0"/>
                  </a:p>
                </p:txBody>
              </p:sp>
              <p:sp>
                <p:nvSpPr>
                  <p:cNvPr id="80" name="Arc 65"/>
                  <p:cNvSpPr>
                    <a:spLocks noChangeAspect="1"/>
                  </p:cNvSpPr>
                  <p:nvPr/>
                </p:nvSpPr>
                <p:spPr bwMode="auto">
                  <a:xfrm rot="5400000">
                    <a:off x="3970" y="1870"/>
                    <a:ext cx="72" cy="50"/>
                  </a:xfrm>
                  <a:custGeom>
                    <a:avLst/>
                    <a:gdLst>
                      <a:gd name="T0" fmla="*/ 0 w 43200"/>
                      <a:gd name="T1" fmla="*/ 50 h 22481"/>
                      <a:gd name="T2" fmla="*/ 72 w 43200"/>
                      <a:gd name="T3" fmla="*/ 48 h 22481"/>
                      <a:gd name="T4" fmla="*/ 36 w 43200"/>
                      <a:gd name="T5" fmla="*/ 48 h 22481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200" h="22481" fill="none" extrusionOk="0">
                        <a:moveTo>
                          <a:pt x="17" y="22481"/>
                        </a:moveTo>
                        <a:cubicBezTo>
                          <a:pt x="5" y="22187"/>
                          <a:pt x="0" y="21893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</a:path>
                      <a:path w="43200" h="22481" stroke="0" extrusionOk="0">
                        <a:moveTo>
                          <a:pt x="17" y="22481"/>
                        </a:moveTo>
                        <a:cubicBezTo>
                          <a:pt x="5" y="22187"/>
                          <a:pt x="0" y="21893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  <a:lnTo>
                          <a:pt x="21600" y="21600"/>
                        </a:lnTo>
                        <a:lnTo>
                          <a:pt x="17" y="22481"/>
                        </a:lnTo>
                        <a:close/>
                      </a:path>
                    </a:pathLst>
                  </a:custGeom>
                  <a:noFill/>
                  <a:ln w="63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 dirty="0"/>
                  </a:p>
                </p:txBody>
              </p:sp>
              <p:sp>
                <p:nvSpPr>
                  <p:cNvPr id="81" name="Arc 66"/>
                  <p:cNvSpPr>
                    <a:spLocks noChangeAspect="1"/>
                  </p:cNvSpPr>
                  <p:nvPr/>
                </p:nvSpPr>
                <p:spPr bwMode="auto">
                  <a:xfrm rot="5400000">
                    <a:off x="3970" y="1918"/>
                    <a:ext cx="72" cy="50"/>
                  </a:xfrm>
                  <a:custGeom>
                    <a:avLst/>
                    <a:gdLst>
                      <a:gd name="T0" fmla="*/ 0 w 43200"/>
                      <a:gd name="T1" fmla="*/ 50 h 22481"/>
                      <a:gd name="T2" fmla="*/ 72 w 43200"/>
                      <a:gd name="T3" fmla="*/ 48 h 22481"/>
                      <a:gd name="T4" fmla="*/ 36 w 43200"/>
                      <a:gd name="T5" fmla="*/ 48 h 22481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200" h="22481" fill="none" extrusionOk="0">
                        <a:moveTo>
                          <a:pt x="17" y="22481"/>
                        </a:moveTo>
                        <a:cubicBezTo>
                          <a:pt x="5" y="22187"/>
                          <a:pt x="0" y="21893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</a:path>
                      <a:path w="43200" h="22481" stroke="0" extrusionOk="0">
                        <a:moveTo>
                          <a:pt x="17" y="22481"/>
                        </a:moveTo>
                        <a:cubicBezTo>
                          <a:pt x="5" y="22187"/>
                          <a:pt x="0" y="21893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  <a:lnTo>
                          <a:pt x="21600" y="21600"/>
                        </a:lnTo>
                        <a:lnTo>
                          <a:pt x="17" y="22481"/>
                        </a:lnTo>
                        <a:close/>
                      </a:path>
                    </a:pathLst>
                  </a:custGeom>
                  <a:noFill/>
                  <a:ln w="63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 dirty="0"/>
                  </a:p>
                </p:txBody>
              </p:sp>
              <p:sp>
                <p:nvSpPr>
                  <p:cNvPr id="82" name="Arc 67"/>
                  <p:cNvSpPr>
                    <a:spLocks noChangeAspect="1"/>
                  </p:cNvSpPr>
                  <p:nvPr/>
                </p:nvSpPr>
                <p:spPr bwMode="auto">
                  <a:xfrm rot="5400000" flipV="1">
                    <a:off x="3947" y="2039"/>
                    <a:ext cx="24" cy="48"/>
                  </a:xfrm>
                  <a:custGeom>
                    <a:avLst/>
                    <a:gdLst>
                      <a:gd name="T0" fmla="*/ 0 w 43180"/>
                      <a:gd name="T1" fmla="*/ 46 h 21600"/>
                      <a:gd name="T2" fmla="*/ 24 w 43180"/>
                      <a:gd name="T3" fmla="*/ 48 h 21600"/>
                      <a:gd name="T4" fmla="*/ 12 w 43180"/>
                      <a:gd name="T5" fmla="*/ 48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180" h="21600" fill="none" extrusionOk="0">
                        <a:moveTo>
                          <a:pt x="0" y="20662"/>
                        </a:moveTo>
                        <a:cubicBezTo>
                          <a:pt x="502" y="9108"/>
                          <a:pt x="10015" y="-1"/>
                          <a:pt x="21580" y="0"/>
                        </a:cubicBezTo>
                        <a:cubicBezTo>
                          <a:pt x="33509" y="0"/>
                          <a:pt x="43180" y="9670"/>
                          <a:pt x="43180" y="21600"/>
                        </a:cubicBezTo>
                      </a:path>
                      <a:path w="43180" h="21600" stroke="0" extrusionOk="0">
                        <a:moveTo>
                          <a:pt x="0" y="20662"/>
                        </a:moveTo>
                        <a:cubicBezTo>
                          <a:pt x="502" y="9108"/>
                          <a:pt x="10015" y="-1"/>
                          <a:pt x="21580" y="0"/>
                        </a:cubicBezTo>
                        <a:cubicBezTo>
                          <a:pt x="33509" y="0"/>
                          <a:pt x="43180" y="9670"/>
                          <a:pt x="43180" y="21600"/>
                        </a:cubicBezTo>
                        <a:lnTo>
                          <a:pt x="21580" y="21600"/>
                        </a:lnTo>
                        <a:lnTo>
                          <a:pt x="0" y="20662"/>
                        </a:lnTo>
                        <a:close/>
                      </a:path>
                    </a:pathLst>
                  </a:custGeom>
                  <a:noFill/>
                  <a:ln w="63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 dirty="0"/>
                  </a:p>
                </p:txBody>
              </p:sp>
              <p:sp>
                <p:nvSpPr>
                  <p:cNvPr id="83" name="Arc 68"/>
                  <p:cNvSpPr>
                    <a:spLocks noChangeAspect="1"/>
                  </p:cNvSpPr>
                  <p:nvPr/>
                </p:nvSpPr>
                <p:spPr bwMode="auto">
                  <a:xfrm rot="5400000">
                    <a:off x="3970" y="1966"/>
                    <a:ext cx="72" cy="50"/>
                  </a:xfrm>
                  <a:custGeom>
                    <a:avLst/>
                    <a:gdLst>
                      <a:gd name="T0" fmla="*/ 0 w 43200"/>
                      <a:gd name="T1" fmla="*/ 50 h 22481"/>
                      <a:gd name="T2" fmla="*/ 72 w 43200"/>
                      <a:gd name="T3" fmla="*/ 48 h 22481"/>
                      <a:gd name="T4" fmla="*/ 36 w 43200"/>
                      <a:gd name="T5" fmla="*/ 48 h 22481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200" h="22481" fill="none" extrusionOk="0">
                        <a:moveTo>
                          <a:pt x="17" y="22481"/>
                        </a:moveTo>
                        <a:cubicBezTo>
                          <a:pt x="5" y="22187"/>
                          <a:pt x="0" y="21893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</a:path>
                      <a:path w="43200" h="22481" stroke="0" extrusionOk="0">
                        <a:moveTo>
                          <a:pt x="17" y="22481"/>
                        </a:moveTo>
                        <a:cubicBezTo>
                          <a:pt x="5" y="22187"/>
                          <a:pt x="0" y="21893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  <a:lnTo>
                          <a:pt x="21600" y="21600"/>
                        </a:lnTo>
                        <a:lnTo>
                          <a:pt x="17" y="22481"/>
                        </a:lnTo>
                        <a:close/>
                      </a:path>
                    </a:pathLst>
                  </a:custGeom>
                  <a:noFill/>
                  <a:ln w="63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 dirty="0"/>
                  </a:p>
                </p:txBody>
              </p:sp>
              <p:sp>
                <p:nvSpPr>
                  <p:cNvPr id="84" name="Arc 69"/>
                  <p:cNvSpPr>
                    <a:spLocks noChangeAspect="1"/>
                  </p:cNvSpPr>
                  <p:nvPr/>
                </p:nvSpPr>
                <p:spPr bwMode="auto">
                  <a:xfrm rot="5400000">
                    <a:off x="3970" y="2014"/>
                    <a:ext cx="72" cy="50"/>
                  </a:xfrm>
                  <a:custGeom>
                    <a:avLst/>
                    <a:gdLst>
                      <a:gd name="T0" fmla="*/ 0 w 43200"/>
                      <a:gd name="T1" fmla="*/ 50 h 22481"/>
                      <a:gd name="T2" fmla="*/ 72 w 43200"/>
                      <a:gd name="T3" fmla="*/ 48 h 22481"/>
                      <a:gd name="T4" fmla="*/ 36 w 43200"/>
                      <a:gd name="T5" fmla="*/ 48 h 22481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200" h="22481" fill="none" extrusionOk="0">
                        <a:moveTo>
                          <a:pt x="17" y="22481"/>
                        </a:moveTo>
                        <a:cubicBezTo>
                          <a:pt x="5" y="22187"/>
                          <a:pt x="0" y="21893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</a:path>
                      <a:path w="43200" h="22481" stroke="0" extrusionOk="0">
                        <a:moveTo>
                          <a:pt x="17" y="22481"/>
                        </a:moveTo>
                        <a:cubicBezTo>
                          <a:pt x="5" y="22187"/>
                          <a:pt x="0" y="21893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  <a:lnTo>
                          <a:pt x="21600" y="21600"/>
                        </a:lnTo>
                        <a:lnTo>
                          <a:pt x="17" y="22481"/>
                        </a:lnTo>
                        <a:close/>
                      </a:path>
                    </a:pathLst>
                  </a:custGeom>
                  <a:noFill/>
                  <a:ln w="63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 dirty="0"/>
                  </a:p>
                </p:txBody>
              </p:sp>
              <p:sp>
                <p:nvSpPr>
                  <p:cNvPr id="85" name="Arc 70"/>
                  <p:cNvSpPr>
                    <a:spLocks noChangeAspect="1"/>
                  </p:cNvSpPr>
                  <p:nvPr/>
                </p:nvSpPr>
                <p:spPr bwMode="auto">
                  <a:xfrm rot="5400000">
                    <a:off x="3969" y="1823"/>
                    <a:ext cx="73" cy="50"/>
                  </a:xfrm>
                  <a:custGeom>
                    <a:avLst/>
                    <a:gdLst>
                      <a:gd name="T0" fmla="*/ 0 w 43200"/>
                      <a:gd name="T1" fmla="*/ 50 h 22481"/>
                      <a:gd name="T2" fmla="*/ 73 w 43200"/>
                      <a:gd name="T3" fmla="*/ 48 h 22481"/>
                      <a:gd name="T4" fmla="*/ 37 w 43200"/>
                      <a:gd name="T5" fmla="*/ 48 h 22481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200" h="22481" fill="none" extrusionOk="0">
                        <a:moveTo>
                          <a:pt x="17" y="22481"/>
                        </a:moveTo>
                        <a:cubicBezTo>
                          <a:pt x="5" y="22187"/>
                          <a:pt x="0" y="21893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</a:path>
                      <a:path w="43200" h="22481" stroke="0" extrusionOk="0">
                        <a:moveTo>
                          <a:pt x="17" y="22481"/>
                        </a:moveTo>
                        <a:cubicBezTo>
                          <a:pt x="5" y="22187"/>
                          <a:pt x="0" y="21893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  <a:lnTo>
                          <a:pt x="21600" y="21600"/>
                        </a:lnTo>
                        <a:lnTo>
                          <a:pt x="17" y="22481"/>
                        </a:lnTo>
                        <a:close/>
                      </a:path>
                    </a:pathLst>
                  </a:custGeom>
                  <a:noFill/>
                  <a:ln w="63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 dirty="0"/>
                  </a:p>
                </p:txBody>
              </p:sp>
              <p:sp>
                <p:nvSpPr>
                  <p:cNvPr id="86" name="Arc 71"/>
                  <p:cNvSpPr>
                    <a:spLocks noChangeAspect="1"/>
                  </p:cNvSpPr>
                  <p:nvPr/>
                </p:nvSpPr>
                <p:spPr bwMode="auto">
                  <a:xfrm rot="5400000">
                    <a:off x="3969" y="2063"/>
                    <a:ext cx="73" cy="50"/>
                  </a:xfrm>
                  <a:custGeom>
                    <a:avLst/>
                    <a:gdLst>
                      <a:gd name="T0" fmla="*/ 0 w 43200"/>
                      <a:gd name="T1" fmla="*/ 50 h 22481"/>
                      <a:gd name="T2" fmla="*/ 73 w 43200"/>
                      <a:gd name="T3" fmla="*/ 48 h 22481"/>
                      <a:gd name="T4" fmla="*/ 37 w 43200"/>
                      <a:gd name="T5" fmla="*/ 48 h 22481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200" h="22481" fill="none" extrusionOk="0">
                        <a:moveTo>
                          <a:pt x="17" y="22481"/>
                        </a:moveTo>
                        <a:cubicBezTo>
                          <a:pt x="5" y="22187"/>
                          <a:pt x="0" y="21893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</a:path>
                      <a:path w="43200" h="22481" stroke="0" extrusionOk="0">
                        <a:moveTo>
                          <a:pt x="17" y="22481"/>
                        </a:moveTo>
                        <a:cubicBezTo>
                          <a:pt x="5" y="22187"/>
                          <a:pt x="0" y="21893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  <a:lnTo>
                          <a:pt x="21600" y="21600"/>
                        </a:lnTo>
                        <a:lnTo>
                          <a:pt x="17" y="22481"/>
                        </a:lnTo>
                        <a:close/>
                      </a:path>
                    </a:pathLst>
                  </a:custGeom>
                  <a:noFill/>
                  <a:ln w="63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2065" name="Group 2064"/>
                <p:cNvGrpSpPr/>
                <p:nvPr/>
              </p:nvGrpSpPr>
              <p:grpSpPr>
                <a:xfrm>
                  <a:off x="3504247" y="3217490"/>
                  <a:ext cx="150336" cy="220980"/>
                  <a:chOff x="3679999" y="3297506"/>
                  <a:chExt cx="150336" cy="220980"/>
                </a:xfrm>
              </p:grpSpPr>
              <p:sp>
                <p:nvSpPr>
                  <p:cNvPr id="2059" name="Freeform 2058"/>
                  <p:cNvSpPr/>
                  <p:nvPr/>
                </p:nvSpPr>
                <p:spPr>
                  <a:xfrm>
                    <a:off x="3679999" y="3297506"/>
                    <a:ext cx="150336" cy="220980"/>
                  </a:xfrm>
                  <a:custGeom>
                    <a:avLst/>
                    <a:gdLst>
                      <a:gd name="connsiteX0" fmla="*/ 0 w 226060"/>
                      <a:gd name="connsiteY0" fmla="*/ 0 h 220980"/>
                      <a:gd name="connsiteX1" fmla="*/ 226060 w 226060"/>
                      <a:gd name="connsiteY1" fmla="*/ 0 h 220980"/>
                      <a:gd name="connsiteX2" fmla="*/ 226060 w 226060"/>
                      <a:gd name="connsiteY2" fmla="*/ 220980 h 220980"/>
                      <a:gd name="connsiteX3" fmla="*/ 5080 w 226060"/>
                      <a:gd name="connsiteY3" fmla="*/ 220980 h 2209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26060" h="220980">
                        <a:moveTo>
                          <a:pt x="0" y="0"/>
                        </a:moveTo>
                        <a:lnTo>
                          <a:pt x="226060" y="0"/>
                        </a:lnTo>
                        <a:lnTo>
                          <a:pt x="226060" y="220980"/>
                        </a:lnTo>
                        <a:lnTo>
                          <a:pt x="5080" y="220980"/>
                        </a:lnTo>
                      </a:path>
                    </a:pathLst>
                  </a:cu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dirty="0"/>
                  </a:p>
                </p:txBody>
              </p:sp>
              <p:cxnSp>
                <p:nvCxnSpPr>
                  <p:cNvPr id="2061" name="Straight Connector 2060"/>
                  <p:cNvCxnSpPr/>
                  <p:nvPr/>
                </p:nvCxnSpPr>
                <p:spPr>
                  <a:xfrm>
                    <a:off x="3737943" y="3322946"/>
                    <a:ext cx="0" cy="17010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066" name="Rectangle 2065"/>
                <p:cNvSpPr/>
                <p:nvPr/>
              </p:nvSpPr>
              <p:spPr>
                <a:xfrm>
                  <a:off x="3929237" y="2954548"/>
                  <a:ext cx="360040" cy="458482"/>
                </a:xfrm>
                <a:prstGeom prst="rect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GB" b="1" dirty="0" smtClean="0"/>
                    <a:t>M</a:t>
                  </a:r>
                  <a:endParaRPr lang="en-GB" b="1" dirty="0"/>
                </a:p>
              </p:txBody>
            </p:sp>
            <p:cxnSp>
              <p:nvCxnSpPr>
                <p:cNvPr id="2070" name="Straight Connector 2069"/>
                <p:cNvCxnSpPr/>
                <p:nvPr/>
              </p:nvCxnSpPr>
              <p:spPr>
                <a:xfrm flipH="1">
                  <a:off x="3641901" y="3307080"/>
                  <a:ext cx="287336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75" name="Straight Connector 2074"/>
                <p:cNvCxnSpPr/>
                <p:nvPr/>
              </p:nvCxnSpPr>
              <p:spPr>
                <a:xfrm flipH="1">
                  <a:off x="3167237" y="3327980"/>
                  <a:ext cx="397669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110" name="Picture 28" descr="D:\Documents and Settings\Dmitry\Local Settings\Temporary Internet Files\Content.IE5\KLX8K8U0\MC900064950[1].wmf"/>
              <p:cNvPicPr>
                <a:picLocks noChangeAspect="1" noChangeArrowheads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 bwMode="auto">
              <a:xfrm>
                <a:off x="5386557" y="3739814"/>
                <a:ext cx="433912" cy="382727"/>
              </a:xfrm>
              <a:prstGeom prst="rect">
                <a:avLst/>
              </a:prstGeom>
              <a:noFill/>
            </p:spPr>
          </p:pic>
          <p:sp>
            <p:nvSpPr>
              <p:cNvPr id="56" name="Left Brace 55"/>
              <p:cNvSpPr/>
              <p:nvPr/>
            </p:nvSpPr>
            <p:spPr>
              <a:xfrm rot="16200000">
                <a:off x="2711086" y="2747799"/>
                <a:ext cx="319408" cy="1274098"/>
              </a:xfrm>
              <a:prstGeom prst="leftBrace">
                <a:avLst>
                  <a:gd name="adj1" fmla="val 64085"/>
                  <a:gd name="adj2" fmla="val 50000"/>
                </a:avLst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57" name="Up-Down Arrow 56"/>
              <p:cNvSpPr/>
              <p:nvPr/>
            </p:nvSpPr>
            <p:spPr>
              <a:xfrm>
                <a:off x="2325266" y="3443529"/>
                <a:ext cx="210055" cy="360142"/>
              </a:xfrm>
              <a:prstGeom prst="upDownArrow">
                <a:avLst/>
              </a:prstGeom>
              <a:ln w="28575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dirty="0"/>
              </a:p>
            </p:txBody>
          </p:sp>
          <p:sp>
            <p:nvSpPr>
              <p:cNvPr id="89" name="TextBox 88"/>
              <p:cNvSpPr txBox="1"/>
              <p:nvPr/>
            </p:nvSpPr>
            <p:spPr>
              <a:xfrm>
                <a:off x="3567755" y="2465592"/>
                <a:ext cx="86409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 smtClean="0"/>
                  <a:t>Walls</a:t>
                </a:r>
                <a:endParaRPr lang="en-GB" sz="1400" dirty="0"/>
              </a:p>
            </p:txBody>
          </p:sp>
          <p:sp>
            <p:nvSpPr>
              <p:cNvPr id="123" name="TextBox 122"/>
              <p:cNvSpPr txBox="1"/>
              <p:nvPr/>
            </p:nvSpPr>
            <p:spPr>
              <a:xfrm>
                <a:off x="3532214" y="3308547"/>
                <a:ext cx="12407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b="1" dirty="0" smtClean="0"/>
                  <a:t>Reflections</a:t>
                </a:r>
                <a:endParaRPr lang="en-GB" b="1" dirty="0"/>
              </a:p>
            </p:txBody>
          </p:sp>
          <p:sp>
            <p:nvSpPr>
              <p:cNvPr id="90" name="TextBox 89"/>
              <p:cNvSpPr txBox="1"/>
              <p:nvPr/>
            </p:nvSpPr>
            <p:spPr>
              <a:xfrm>
                <a:off x="383036" y="2846882"/>
                <a:ext cx="194915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 smtClean="0"/>
                  <a:t>Electromechanical coupling</a:t>
                </a:r>
                <a:endParaRPr lang="en-GB" b="1" dirty="0"/>
              </a:p>
            </p:txBody>
          </p:sp>
        </p:grpSp>
        <p:grpSp>
          <p:nvGrpSpPr>
            <p:cNvPr id="130" name="Group 60"/>
            <p:cNvGrpSpPr>
              <a:grpSpLocks/>
            </p:cNvGrpSpPr>
            <p:nvPr/>
          </p:nvGrpSpPr>
          <p:grpSpPr bwMode="auto">
            <a:xfrm>
              <a:off x="210952" y="2048643"/>
              <a:ext cx="803776" cy="560269"/>
              <a:chOff x="3702" y="3427"/>
              <a:chExt cx="576" cy="461"/>
            </a:xfrm>
          </p:grpSpPr>
          <p:sp>
            <p:nvSpPr>
              <p:cNvPr id="132" name="Line 55"/>
              <p:cNvSpPr>
                <a:spLocks noChangeShapeType="1"/>
              </p:cNvSpPr>
              <p:nvPr/>
            </p:nvSpPr>
            <p:spPr bwMode="auto">
              <a:xfrm>
                <a:off x="3702" y="3658"/>
                <a:ext cx="57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133" name="AutoShape 56"/>
              <p:cNvSpPr>
                <a:spLocks noChangeArrowheads="1"/>
              </p:cNvSpPr>
              <p:nvPr/>
            </p:nvSpPr>
            <p:spPr bwMode="auto">
              <a:xfrm rot="5400000">
                <a:off x="3771" y="3497"/>
                <a:ext cx="461" cy="322"/>
              </a:xfrm>
              <a:prstGeom prst="triangle">
                <a:avLst>
                  <a:gd name="adj" fmla="val 50000"/>
                </a:avLst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10800000" vert="eaVert" wrap="none" anchor="ctr"/>
              <a:lstStyle/>
              <a:p>
                <a:r>
                  <a:rPr lang="en-US" sz="1400" dirty="0" smtClean="0"/>
                  <a:t>PA</a:t>
                </a:r>
                <a:endParaRPr lang="en-US" sz="1400" dirty="0"/>
              </a:p>
            </p:txBody>
          </p:sp>
        </p:grpSp>
      </p:grpSp>
      <p:sp>
        <p:nvSpPr>
          <p:cNvPr id="114" name="TextBox 113"/>
          <p:cNvSpPr txBox="1"/>
          <p:nvPr/>
        </p:nvSpPr>
        <p:spPr>
          <a:xfrm>
            <a:off x="6522153" y="175041"/>
            <a:ext cx="2304256" cy="29392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dirty="0" smtClean="0"/>
              <a:t>Advantages:</a:t>
            </a:r>
          </a:p>
          <a:p>
            <a:pPr marL="285750" indent="-285750">
              <a:lnSpc>
                <a:spcPct val="125000"/>
              </a:lnSpc>
              <a:buFont typeface="Arial" pitchFamily="34" charset="0"/>
              <a:buChar char="•"/>
            </a:pPr>
            <a:r>
              <a:rPr lang="en-US" sz="1600" dirty="0" smtClean="0"/>
              <a:t>One amplifier channel per loudspeaker</a:t>
            </a:r>
          </a:p>
          <a:p>
            <a:pPr marL="285750" indent="-285750">
              <a:lnSpc>
                <a:spcPct val="125000"/>
              </a:lnSpc>
              <a:buFont typeface="Arial" pitchFamily="34" charset="0"/>
              <a:buChar char="•"/>
            </a:pPr>
            <a:r>
              <a:rPr lang="en-US" sz="1600" dirty="0" smtClean="0"/>
              <a:t>Good for all-analogue</a:t>
            </a:r>
          </a:p>
          <a:p>
            <a:pPr>
              <a:lnSpc>
                <a:spcPct val="125000"/>
              </a:lnSpc>
            </a:pPr>
            <a:r>
              <a:rPr lang="en-US" dirty="0" smtClean="0"/>
              <a:t>Disadvantages:</a:t>
            </a:r>
          </a:p>
          <a:p>
            <a:pPr marL="285750" indent="-285750">
              <a:lnSpc>
                <a:spcPct val="125000"/>
              </a:lnSpc>
              <a:buFont typeface="Arial" pitchFamily="34" charset="0"/>
              <a:buChar char="•"/>
            </a:pPr>
            <a:r>
              <a:rPr lang="en-US" sz="1600" dirty="0" smtClean="0"/>
              <a:t>Large passive components</a:t>
            </a:r>
          </a:p>
          <a:p>
            <a:pPr marL="285750" indent="-285750">
              <a:lnSpc>
                <a:spcPct val="125000"/>
              </a:lnSpc>
              <a:buFont typeface="Arial" pitchFamily="34" charset="0"/>
              <a:buChar char="•"/>
            </a:pPr>
            <a:r>
              <a:rPr lang="en-US" sz="1600" dirty="0" smtClean="0"/>
              <a:t>Power losses</a:t>
            </a:r>
          </a:p>
          <a:p>
            <a:pPr marL="285750" indent="-285750">
              <a:lnSpc>
                <a:spcPct val="125000"/>
              </a:lnSpc>
              <a:buFont typeface="Arial" pitchFamily="34" charset="0"/>
              <a:buChar char="•"/>
            </a:pPr>
            <a:r>
              <a:rPr lang="en-US" sz="1600" dirty="0" smtClean="0"/>
              <a:t>Inflexible</a:t>
            </a:r>
            <a:endParaRPr lang="en-GB" sz="1600" dirty="0"/>
          </a:p>
        </p:txBody>
      </p:sp>
      <p:sp>
        <p:nvSpPr>
          <p:cNvPr id="170" name="TextBox 169"/>
          <p:cNvSpPr txBox="1"/>
          <p:nvPr/>
        </p:nvSpPr>
        <p:spPr>
          <a:xfrm>
            <a:off x="6522153" y="3668029"/>
            <a:ext cx="2304256" cy="29392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dirty="0" smtClean="0"/>
              <a:t>Advantages:</a:t>
            </a:r>
          </a:p>
          <a:p>
            <a:pPr marL="285750" indent="-285750">
              <a:lnSpc>
                <a:spcPct val="125000"/>
              </a:lnSpc>
              <a:buFont typeface="Arial" pitchFamily="34" charset="0"/>
              <a:buChar char="•"/>
            </a:pPr>
            <a:r>
              <a:rPr lang="en-US" sz="1600" dirty="0" smtClean="0"/>
              <a:t>Flexible filters</a:t>
            </a:r>
          </a:p>
          <a:p>
            <a:pPr marL="285750" indent="-285750">
              <a:lnSpc>
                <a:spcPct val="125000"/>
              </a:lnSpc>
              <a:buFont typeface="Arial" pitchFamily="34" charset="0"/>
              <a:buChar char="•"/>
            </a:pPr>
            <a:r>
              <a:rPr lang="en-US" sz="1600" dirty="0" smtClean="0"/>
              <a:t>Lower power requirements</a:t>
            </a:r>
          </a:p>
          <a:p>
            <a:pPr marL="285750" indent="-285750">
              <a:lnSpc>
                <a:spcPct val="125000"/>
              </a:lnSpc>
              <a:buFont typeface="Arial" pitchFamily="34" charset="0"/>
              <a:buChar char="•"/>
            </a:pPr>
            <a:r>
              <a:rPr lang="en-US" sz="1600" dirty="0" smtClean="0"/>
              <a:t>Linear phase possible</a:t>
            </a:r>
          </a:p>
          <a:p>
            <a:pPr>
              <a:lnSpc>
                <a:spcPct val="125000"/>
              </a:lnSpc>
            </a:pPr>
            <a:r>
              <a:rPr lang="en-US" dirty="0" smtClean="0"/>
              <a:t>Disadvantages:</a:t>
            </a:r>
          </a:p>
          <a:p>
            <a:pPr marL="285750" indent="-285750">
              <a:lnSpc>
                <a:spcPct val="125000"/>
              </a:lnSpc>
              <a:buFont typeface="Arial" pitchFamily="34" charset="0"/>
              <a:buChar char="•"/>
            </a:pPr>
            <a:r>
              <a:rPr lang="en-US" sz="1600" dirty="0" smtClean="0"/>
              <a:t>Multiple amplifier channels per loudspeaker</a:t>
            </a:r>
            <a:endParaRPr lang="en-GB" sz="1600" dirty="0"/>
          </a:p>
        </p:txBody>
      </p:sp>
      <p:cxnSp>
        <p:nvCxnSpPr>
          <p:cNvPr id="116" name="Straight Connector 115"/>
          <p:cNvCxnSpPr/>
          <p:nvPr/>
        </p:nvCxnSpPr>
        <p:spPr>
          <a:xfrm>
            <a:off x="107504" y="3284984"/>
            <a:ext cx="885698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/>
          <p:cNvGrpSpPr/>
          <p:nvPr/>
        </p:nvGrpSpPr>
        <p:grpSpPr>
          <a:xfrm>
            <a:off x="107504" y="3593968"/>
            <a:ext cx="5906216" cy="2985111"/>
            <a:chOff x="107504" y="3593968"/>
            <a:chExt cx="5906216" cy="2985111"/>
          </a:xfrm>
        </p:grpSpPr>
        <p:pic>
          <p:nvPicPr>
            <p:cNvPr id="112" name="Picture 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6439" y="4831690"/>
              <a:ext cx="1335189" cy="10466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pSp>
          <p:nvGrpSpPr>
            <p:cNvPr id="135" name="Group 864"/>
            <p:cNvGrpSpPr>
              <a:grpSpLocks/>
            </p:cNvGrpSpPr>
            <p:nvPr/>
          </p:nvGrpSpPr>
          <p:grpSpPr bwMode="auto">
            <a:xfrm>
              <a:off x="1891599" y="4757427"/>
              <a:ext cx="948902" cy="561484"/>
              <a:chOff x="1739" y="1698"/>
              <a:chExt cx="680" cy="462"/>
            </a:xfrm>
          </p:grpSpPr>
          <p:grpSp>
            <p:nvGrpSpPr>
              <p:cNvPr id="136" name="Group 60"/>
              <p:cNvGrpSpPr>
                <a:grpSpLocks/>
              </p:cNvGrpSpPr>
              <p:nvPr/>
            </p:nvGrpSpPr>
            <p:grpSpPr bwMode="auto">
              <a:xfrm>
                <a:off x="1739" y="1698"/>
                <a:ext cx="680" cy="461"/>
                <a:chOff x="3352" y="3427"/>
                <a:chExt cx="680" cy="461"/>
              </a:xfrm>
            </p:grpSpPr>
            <p:sp>
              <p:nvSpPr>
                <p:cNvPr id="138" name="Line 55"/>
                <p:cNvSpPr>
                  <a:spLocks noChangeShapeType="1"/>
                </p:cNvSpPr>
                <p:nvPr/>
              </p:nvSpPr>
              <p:spPr bwMode="auto">
                <a:xfrm flipV="1">
                  <a:off x="3352" y="3658"/>
                  <a:ext cx="68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GB" dirty="0"/>
                </a:p>
              </p:txBody>
            </p:sp>
            <p:sp>
              <p:nvSpPr>
                <p:cNvPr id="139" name="AutoShape 56"/>
                <p:cNvSpPr>
                  <a:spLocks noChangeArrowheads="1"/>
                </p:cNvSpPr>
                <p:nvPr/>
              </p:nvSpPr>
              <p:spPr bwMode="auto">
                <a:xfrm rot="5400000">
                  <a:off x="3525" y="3497"/>
                  <a:ext cx="461" cy="322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vert="eaVert" wrap="none" anchor="ctr"/>
                <a:lstStyle/>
                <a:p>
                  <a:r>
                    <a:rPr lang="en-US" sz="1200" dirty="0" smtClean="0"/>
                    <a:t>DAC</a:t>
                  </a:r>
                  <a:endParaRPr lang="en-US" sz="1200" dirty="0"/>
                </a:p>
              </p:txBody>
            </p:sp>
          </p:grpSp>
          <p:sp>
            <p:nvSpPr>
              <p:cNvPr id="137" name="Freeform 863"/>
              <p:cNvSpPr>
                <a:spLocks/>
              </p:cNvSpPr>
              <p:nvPr/>
            </p:nvSpPr>
            <p:spPr bwMode="auto">
              <a:xfrm>
                <a:off x="1843" y="1699"/>
                <a:ext cx="576" cy="461"/>
              </a:xfrm>
              <a:custGeom>
                <a:avLst/>
                <a:gdLst>
                  <a:gd name="T0" fmla="*/ 0 w 576"/>
                  <a:gd name="T1" fmla="*/ 231 h 461"/>
                  <a:gd name="T2" fmla="*/ 115 w 576"/>
                  <a:gd name="T3" fmla="*/ 461 h 461"/>
                  <a:gd name="T4" fmla="*/ 576 w 576"/>
                  <a:gd name="T5" fmla="*/ 231 h 461"/>
                  <a:gd name="T6" fmla="*/ 115 w 576"/>
                  <a:gd name="T7" fmla="*/ 0 h 461"/>
                  <a:gd name="T8" fmla="*/ 0 w 576"/>
                  <a:gd name="T9" fmla="*/ 231 h 46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76" h="461">
                    <a:moveTo>
                      <a:pt x="0" y="231"/>
                    </a:moveTo>
                    <a:lnTo>
                      <a:pt x="115" y="461"/>
                    </a:lnTo>
                    <a:lnTo>
                      <a:pt x="576" y="231"/>
                    </a:lnTo>
                    <a:lnTo>
                      <a:pt x="115" y="0"/>
                    </a:lnTo>
                    <a:lnTo>
                      <a:pt x="0" y="231"/>
                    </a:lnTo>
                    <a:close/>
                  </a:path>
                </a:pathLst>
              </a:cu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 dirty="0"/>
              </a:p>
            </p:txBody>
          </p:sp>
        </p:grpSp>
        <p:grpSp>
          <p:nvGrpSpPr>
            <p:cNvPr id="143" name="Group 307"/>
            <p:cNvGrpSpPr>
              <a:grpSpLocks/>
            </p:cNvGrpSpPr>
            <p:nvPr/>
          </p:nvGrpSpPr>
          <p:grpSpPr bwMode="auto">
            <a:xfrm>
              <a:off x="2830370" y="4580969"/>
              <a:ext cx="461963" cy="914400"/>
              <a:chOff x="2514" y="547"/>
              <a:chExt cx="291" cy="576"/>
            </a:xfrm>
          </p:grpSpPr>
          <p:sp>
            <p:nvSpPr>
              <p:cNvPr id="144" name="Freeform 132"/>
              <p:cNvSpPr>
                <a:spLocks/>
              </p:cNvSpPr>
              <p:nvPr/>
            </p:nvSpPr>
            <p:spPr bwMode="auto">
              <a:xfrm>
                <a:off x="2540" y="547"/>
                <a:ext cx="232" cy="576"/>
              </a:xfrm>
              <a:custGeom>
                <a:avLst/>
                <a:gdLst>
                  <a:gd name="T0" fmla="*/ 232 w 232"/>
                  <a:gd name="T1" fmla="*/ 576 h 576"/>
                  <a:gd name="T2" fmla="*/ 232 w 232"/>
                  <a:gd name="T3" fmla="*/ 0 h 576"/>
                  <a:gd name="T4" fmla="*/ 116 w 232"/>
                  <a:gd name="T5" fmla="*/ 173 h 576"/>
                  <a:gd name="T6" fmla="*/ 1 w 232"/>
                  <a:gd name="T7" fmla="*/ 173 h 576"/>
                  <a:gd name="T8" fmla="*/ 1 w 232"/>
                  <a:gd name="T9" fmla="*/ 230 h 576"/>
                  <a:gd name="T10" fmla="*/ 0 w 232"/>
                  <a:gd name="T11" fmla="*/ 347 h 576"/>
                  <a:gd name="T12" fmla="*/ 1 w 232"/>
                  <a:gd name="T13" fmla="*/ 403 h 576"/>
                  <a:gd name="T14" fmla="*/ 116 w 232"/>
                  <a:gd name="T15" fmla="*/ 403 h 576"/>
                  <a:gd name="T16" fmla="*/ 232 w 232"/>
                  <a:gd name="T17" fmla="*/ 576 h 57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32" h="576">
                    <a:moveTo>
                      <a:pt x="232" y="576"/>
                    </a:moveTo>
                    <a:lnTo>
                      <a:pt x="232" y="0"/>
                    </a:lnTo>
                    <a:lnTo>
                      <a:pt x="116" y="173"/>
                    </a:lnTo>
                    <a:lnTo>
                      <a:pt x="1" y="173"/>
                    </a:lnTo>
                    <a:lnTo>
                      <a:pt x="1" y="230"/>
                    </a:lnTo>
                    <a:lnTo>
                      <a:pt x="0" y="347"/>
                    </a:lnTo>
                    <a:lnTo>
                      <a:pt x="1" y="403"/>
                    </a:lnTo>
                    <a:lnTo>
                      <a:pt x="116" y="403"/>
                    </a:lnTo>
                    <a:lnTo>
                      <a:pt x="232" y="576"/>
                    </a:lnTo>
                    <a:close/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145" name="Text Box 133"/>
              <p:cNvSpPr txBox="1">
                <a:spLocks noChangeArrowheads="1"/>
              </p:cNvSpPr>
              <p:nvPr/>
            </p:nvSpPr>
            <p:spPr bwMode="auto">
              <a:xfrm>
                <a:off x="2514" y="762"/>
                <a:ext cx="291" cy="1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l" eaLnBrk="1" hangingPunct="1"/>
                <a:r>
                  <a:rPr lang="en-US" sz="800" dirty="0"/>
                  <a:t>SPKR</a:t>
                </a:r>
              </a:p>
            </p:txBody>
          </p:sp>
        </p:grpSp>
        <p:cxnSp>
          <p:nvCxnSpPr>
            <p:cNvPr id="146" name="Straight Arrow Connector 145"/>
            <p:cNvCxnSpPr/>
            <p:nvPr/>
          </p:nvCxnSpPr>
          <p:spPr>
            <a:xfrm>
              <a:off x="3254068" y="5038776"/>
              <a:ext cx="2304256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/>
            <p:cNvCxnSpPr/>
            <p:nvPr/>
          </p:nvCxnSpPr>
          <p:spPr>
            <a:xfrm flipV="1">
              <a:off x="3261375" y="3875953"/>
              <a:ext cx="885212" cy="1162824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Arrow Connector 147"/>
            <p:cNvCxnSpPr/>
            <p:nvPr/>
          </p:nvCxnSpPr>
          <p:spPr>
            <a:xfrm>
              <a:off x="4146587" y="3875953"/>
              <a:ext cx="1411737" cy="1132948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49" name="Picture 28" descr="D:\Documents and Settings\Dmitry\Local Settings\Temporary Internet Files\Content.IE5\KLX8K8U0\MC900064950[1].wmf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5558324" y="4837939"/>
              <a:ext cx="455396" cy="401676"/>
            </a:xfrm>
            <a:prstGeom prst="rect">
              <a:avLst/>
            </a:prstGeom>
            <a:noFill/>
          </p:spPr>
        </p:pic>
        <p:sp>
          <p:nvSpPr>
            <p:cNvPr id="150" name="TextBox 149"/>
            <p:cNvSpPr txBox="1"/>
            <p:nvPr/>
          </p:nvSpPr>
          <p:spPr>
            <a:xfrm>
              <a:off x="3804354" y="3593968"/>
              <a:ext cx="86409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/>
                <a:t>Walls</a:t>
              </a:r>
              <a:endParaRPr lang="en-GB" sz="1400" dirty="0"/>
            </a:p>
          </p:txBody>
        </p:sp>
        <p:cxnSp>
          <p:nvCxnSpPr>
            <p:cNvPr id="151" name="Straight Connector 150"/>
            <p:cNvCxnSpPr/>
            <p:nvPr/>
          </p:nvCxnSpPr>
          <p:spPr>
            <a:xfrm flipV="1">
              <a:off x="3744152" y="3875951"/>
              <a:ext cx="712100" cy="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2" name="TextBox 161"/>
            <p:cNvSpPr txBox="1"/>
            <p:nvPr/>
          </p:nvSpPr>
          <p:spPr>
            <a:xfrm>
              <a:off x="3744152" y="4440247"/>
              <a:ext cx="12407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 smtClean="0"/>
                <a:t>Reflections</a:t>
              </a:r>
              <a:endParaRPr lang="en-GB" b="1" dirty="0"/>
            </a:p>
          </p:txBody>
        </p:sp>
        <p:sp>
          <p:nvSpPr>
            <p:cNvPr id="109" name="Freeform 108"/>
            <p:cNvSpPr/>
            <p:nvPr/>
          </p:nvSpPr>
          <p:spPr>
            <a:xfrm>
              <a:off x="1174361" y="4225115"/>
              <a:ext cx="2900639" cy="501851"/>
            </a:xfrm>
            <a:custGeom>
              <a:avLst/>
              <a:gdLst>
                <a:gd name="connsiteX0" fmla="*/ 2993136 w 2993136"/>
                <a:gd name="connsiteY0" fmla="*/ 298704 h 451104"/>
                <a:gd name="connsiteX1" fmla="*/ 2987040 w 2993136"/>
                <a:gd name="connsiteY1" fmla="*/ 0 h 451104"/>
                <a:gd name="connsiteX2" fmla="*/ 0 w 2993136"/>
                <a:gd name="connsiteY2" fmla="*/ 0 h 451104"/>
                <a:gd name="connsiteX3" fmla="*/ 0 w 2993136"/>
                <a:gd name="connsiteY3" fmla="*/ 451104 h 451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93136" h="451104">
                  <a:moveTo>
                    <a:pt x="2993136" y="298704"/>
                  </a:moveTo>
                  <a:lnTo>
                    <a:pt x="2987040" y="0"/>
                  </a:lnTo>
                  <a:lnTo>
                    <a:pt x="0" y="0"/>
                  </a:lnTo>
                  <a:lnTo>
                    <a:pt x="0" y="451104"/>
                  </a:lnTo>
                </a:path>
              </a:pathLst>
            </a:cu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grpSp>
          <p:nvGrpSpPr>
            <p:cNvPr id="141" name="Group 140"/>
            <p:cNvGrpSpPr/>
            <p:nvPr/>
          </p:nvGrpSpPr>
          <p:grpSpPr>
            <a:xfrm>
              <a:off x="443383" y="6003886"/>
              <a:ext cx="1092129" cy="504056"/>
              <a:chOff x="766141" y="5877272"/>
              <a:chExt cx="1092129" cy="504056"/>
            </a:xfrm>
          </p:grpSpPr>
          <p:cxnSp>
            <p:nvCxnSpPr>
              <p:cNvPr id="118" name="Straight Connector 117"/>
              <p:cNvCxnSpPr/>
              <p:nvPr/>
            </p:nvCxnSpPr>
            <p:spPr>
              <a:xfrm flipV="1">
                <a:off x="766141" y="5877272"/>
                <a:ext cx="0" cy="504056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/>
              <p:cNvCxnSpPr/>
              <p:nvPr/>
            </p:nvCxnSpPr>
            <p:spPr>
              <a:xfrm>
                <a:off x="766141" y="6381328"/>
                <a:ext cx="1092129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8" name="Freeform 127"/>
              <p:cNvSpPr/>
              <p:nvPr/>
            </p:nvSpPr>
            <p:spPr>
              <a:xfrm>
                <a:off x="931400" y="5949280"/>
                <a:ext cx="712990" cy="432048"/>
              </a:xfrm>
              <a:custGeom>
                <a:avLst/>
                <a:gdLst>
                  <a:gd name="connsiteX0" fmla="*/ 0 w 995680"/>
                  <a:gd name="connsiteY0" fmla="*/ 391442 h 391442"/>
                  <a:gd name="connsiteX1" fmla="*/ 274320 w 995680"/>
                  <a:gd name="connsiteY1" fmla="*/ 53622 h 391442"/>
                  <a:gd name="connsiteX2" fmla="*/ 995680 w 995680"/>
                  <a:gd name="connsiteY2" fmla="*/ 5362 h 3914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95680" h="391442">
                    <a:moveTo>
                      <a:pt x="0" y="391442"/>
                    </a:moveTo>
                    <a:cubicBezTo>
                      <a:pt x="54186" y="254705"/>
                      <a:pt x="108373" y="117969"/>
                      <a:pt x="274320" y="53622"/>
                    </a:cubicBezTo>
                    <a:cubicBezTo>
                      <a:pt x="440267" y="-10725"/>
                      <a:pt x="717973" y="-2682"/>
                      <a:pt x="995680" y="5362"/>
                    </a:cubicBezTo>
                  </a:path>
                </a:pathLst>
              </a:custGeom>
              <a:ln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134" name="TextBox 133"/>
              <p:cNvSpPr txBox="1"/>
              <p:nvPr/>
            </p:nvSpPr>
            <p:spPr>
              <a:xfrm>
                <a:off x="1054858" y="5980638"/>
                <a:ext cx="80341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HP/LP</a:t>
                </a:r>
                <a:endParaRPr lang="en-GB" dirty="0"/>
              </a:p>
            </p:txBody>
          </p:sp>
        </p:grpSp>
        <p:sp>
          <p:nvSpPr>
            <p:cNvPr id="156" name="Freeform 155"/>
            <p:cNvSpPr/>
            <p:nvPr/>
          </p:nvSpPr>
          <p:spPr>
            <a:xfrm>
              <a:off x="1395984" y="4419600"/>
              <a:ext cx="1633728" cy="377952"/>
            </a:xfrm>
            <a:custGeom>
              <a:avLst/>
              <a:gdLst>
                <a:gd name="connsiteX0" fmla="*/ 1633728 w 1633728"/>
                <a:gd name="connsiteY0" fmla="*/ 377952 h 377952"/>
                <a:gd name="connsiteX1" fmla="*/ 1633728 w 1633728"/>
                <a:gd name="connsiteY1" fmla="*/ 0 h 377952"/>
                <a:gd name="connsiteX2" fmla="*/ 0 w 1633728"/>
                <a:gd name="connsiteY2" fmla="*/ 0 h 377952"/>
                <a:gd name="connsiteX3" fmla="*/ 0 w 1633728"/>
                <a:gd name="connsiteY3" fmla="*/ 298704 h 377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33728" h="377952">
                  <a:moveTo>
                    <a:pt x="1633728" y="377952"/>
                  </a:moveTo>
                  <a:lnTo>
                    <a:pt x="1633728" y="0"/>
                  </a:lnTo>
                  <a:lnTo>
                    <a:pt x="0" y="0"/>
                  </a:lnTo>
                  <a:lnTo>
                    <a:pt x="0" y="298704"/>
                  </a:lnTo>
                </a:path>
              </a:pathLst>
            </a:cu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" name="Rectangle 1"/>
            <p:cNvSpPr/>
            <p:nvPr/>
          </p:nvSpPr>
          <p:spPr>
            <a:xfrm>
              <a:off x="432596" y="4726966"/>
              <a:ext cx="1668994" cy="1109366"/>
            </a:xfrm>
            <a:prstGeom prst="rect">
              <a:avLst/>
            </a:prstGeom>
            <a:ln w="2857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1573347" y="5932748"/>
              <a:ext cx="202496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Digital equaliser +</a:t>
              </a:r>
            </a:p>
            <a:p>
              <a:r>
                <a:rPr lang="en-GB" dirty="0"/>
                <a:t>c</a:t>
              </a:r>
              <a:r>
                <a:rPr lang="en-GB" dirty="0" smtClean="0"/>
                <a:t>ross-over</a:t>
              </a:r>
              <a:endParaRPr lang="en-GB" dirty="0"/>
            </a:p>
          </p:txBody>
        </p:sp>
        <p:cxnSp>
          <p:nvCxnSpPr>
            <p:cNvPr id="6" name="Straight Connector 5"/>
            <p:cNvCxnSpPr/>
            <p:nvPr/>
          </p:nvCxnSpPr>
          <p:spPr>
            <a:xfrm flipH="1">
              <a:off x="107504" y="5038169"/>
              <a:ext cx="549759" cy="6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2249342" y="5134744"/>
              <a:ext cx="613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+PA</a:t>
              </a:r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3597419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Group 123"/>
          <p:cNvGrpSpPr/>
          <p:nvPr/>
        </p:nvGrpSpPr>
        <p:grpSpPr>
          <a:xfrm>
            <a:off x="-108520" y="78597"/>
            <a:ext cx="7556015" cy="2993050"/>
            <a:chOff x="-108520" y="78597"/>
            <a:chExt cx="7556015" cy="2993050"/>
          </a:xfrm>
        </p:grpSpPr>
        <p:grpSp>
          <p:nvGrpSpPr>
            <p:cNvPr id="4" name="Group 3"/>
            <p:cNvGrpSpPr/>
            <p:nvPr/>
          </p:nvGrpSpPr>
          <p:grpSpPr>
            <a:xfrm>
              <a:off x="1499649" y="78597"/>
              <a:ext cx="5947846" cy="2993050"/>
              <a:chOff x="210952" y="793153"/>
              <a:chExt cx="5947846" cy="2993050"/>
            </a:xfrm>
          </p:grpSpPr>
          <p:grpSp>
            <p:nvGrpSpPr>
              <p:cNvPr id="5" name="Group 4"/>
              <p:cNvGrpSpPr/>
              <p:nvPr/>
            </p:nvGrpSpPr>
            <p:grpSpPr>
              <a:xfrm>
                <a:off x="254321" y="793153"/>
                <a:ext cx="5904477" cy="2993050"/>
                <a:chOff x="-84008" y="2465592"/>
                <a:chExt cx="5904477" cy="2993050"/>
              </a:xfrm>
            </p:grpSpPr>
            <p:sp>
              <p:nvSpPr>
                <p:cNvPr id="9" name="Rectangle 8"/>
                <p:cNvSpPr/>
                <p:nvPr/>
              </p:nvSpPr>
              <p:spPr>
                <a:xfrm>
                  <a:off x="755576" y="3830129"/>
                  <a:ext cx="1921312" cy="1224136"/>
                </a:xfrm>
                <a:prstGeom prst="rect">
                  <a:avLst/>
                </a:prstGeom>
                <a:ln w="28575">
                  <a:solidFill>
                    <a:schemeClr val="tx1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dirty="0"/>
                </a:p>
              </p:txBody>
            </p:sp>
            <p:sp>
              <p:nvSpPr>
                <p:cNvPr id="10" name="Bent Arrow 9"/>
                <p:cNvSpPr/>
                <p:nvPr/>
              </p:nvSpPr>
              <p:spPr>
                <a:xfrm rot="5400000">
                  <a:off x="768229" y="4257349"/>
                  <a:ext cx="806388" cy="661858"/>
                </a:xfrm>
                <a:prstGeom prst="bentArrow">
                  <a:avLst>
                    <a:gd name="adj1" fmla="val 10734"/>
                    <a:gd name="adj2" fmla="val 25000"/>
                    <a:gd name="adj3" fmla="val 34210"/>
                    <a:gd name="adj4" fmla="val 43750"/>
                  </a:avLst>
                </a:prstGeom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11" name="Straight Connector 10"/>
                <p:cNvCxnSpPr/>
                <p:nvPr/>
              </p:nvCxnSpPr>
              <p:spPr>
                <a:xfrm flipV="1">
                  <a:off x="3585999" y="2773369"/>
                  <a:ext cx="712100" cy="2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Arrow Connector 11"/>
                <p:cNvCxnSpPr/>
                <p:nvPr/>
              </p:nvCxnSpPr>
              <p:spPr>
                <a:xfrm>
                  <a:off x="3082301" y="3961053"/>
                  <a:ext cx="2304256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Straight Connector 12"/>
                <p:cNvCxnSpPr/>
                <p:nvPr/>
              </p:nvCxnSpPr>
              <p:spPr>
                <a:xfrm flipV="1">
                  <a:off x="3089608" y="2798230"/>
                  <a:ext cx="885212" cy="1162824"/>
                </a:xfrm>
                <a:prstGeom prst="line">
                  <a:avLst/>
                </a:prstGeom>
                <a:ln w="1270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Arrow Connector 13"/>
                <p:cNvCxnSpPr/>
                <p:nvPr/>
              </p:nvCxnSpPr>
              <p:spPr>
                <a:xfrm>
                  <a:off x="3974820" y="2798230"/>
                  <a:ext cx="1411737" cy="1132948"/>
                </a:xfrm>
                <a:prstGeom prst="straightConnector1">
                  <a:avLst/>
                </a:prstGeom>
                <a:ln w="12700">
                  <a:solidFill>
                    <a:schemeClr val="accent2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5" name="Group 346"/>
                <p:cNvGrpSpPr>
                  <a:grpSpLocks/>
                </p:cNvGrpSpPr>
                <p:nvPr/>
              </p:nvGrpSpPr>
              <p:grpSpPr bwMode="auto">
                <a:xfrm>
                  <a:off x="1454002" y="4077072"/>
                  <a:ext cx="549275" cy="914400"/>
                  <a:chOff x="5012" y="1930"/>
                  <a:chExt cx="346" cy="576"/>
                </a:xfrm>
              </p:grpSpPr>
              <p:grpSp>
                <p:nvGrpSpPr>
                  <p:cNvPr id="82" name="Group 135"/>
                  <p:cNvGrpSpPr>
                    <a:grpSpLocks/>
                  </p:cNvGrpSpPr>
                  <p:nvPr/>
                </p:nvGrpSpPr>
                <p:grpSpPr bwMode="auto">
                  <a:xfrm>
                    <a:off x="5012" y="1930"/>
                    <a:ext cx="346" cy="576"/>
                    <a:chOff x="2707" y="2736"/>
                    <a:chExt cx="346" cy="576"/>
                  </a:xfrm>
                </p:grpSpPr>
                <p:sp>
                  <p:nvSpPr>
                    <p:cNvPr id="84" name="Line 13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707" y="2966"/>
                      <a:ext cx="346" cy="0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GB" dirty="0"/>
                    </a:p>
                  </p:txBody>
                </p:sp>
                <p:sp>
                  <p:nvSpPr>
                    <p:cNvPr id="85" name="Line 13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80" y="2736"/>
                      <a:ext cx="0" cy="230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GB" dirty="0"/>
                    </a:p>
                  </p:txBody>
                </p:sp>
                <p:sp>
                  <p:nvSpPr>
                    <p:cNvPr id="86" name="Line 13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80" y="3024"/>
                      <a:ext cx="0" cy="288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GB" dirty="0"/>
                    </a:p>
                  </p:txBody>
                </p:sp>
                <p:sp>
                  <p:nvSpPr>
                    <p:cNvPr id="87" name="Line 13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707" y="3024"/>
                      <a:ext cx="346" cy="0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GB" dirty="0"/>
                    </a:p>
                  </p:txBody>
                </p:sp>
              </p:grpSp>
              <p:sp>
                <p:nvSpPr>
                  <p:cNvPr id="83" name="Freeform 345"/>
                  <p:cNvSpPr>
                    <a:spLocks/>
                  </p:cNvSpPr>
                  <p:nvPr/>
                </p:nvSpPr>
                <p:spPr bwMode="auto">
                  <a:xfrm>
                    <a:off x="5069" y="1930"/>
                    <a:ext cx="230" cy="576"/>
                  </a:xfrm>
                  <a:custGeom>
                    <a:avLst/>
                    <a:gdLst>
                      <a:gd name="T0" fmla="*/ 115 w 230"/>
                      <a:gd name="T1" fmla="*/ 0 h 576"/>
                      <a:gd name="T2" fmla="*/ 0 w 230"/>
                      <a:gd name="T3" fmla="*/ 230 h 576"/>
                      <a:gd name="T4" fmla="*/ 115 w 230"/>
                      <a:gd name="T5" fmla="*/ 576 h 576"/>
                      <a:gd name="T6" fmla="*/ 230 w 230"/>
                      <a:gd name="T7" fmla="*/ 230 h 576"/>
                      <a:gd name="T8" fmla="*/ 115 w 230"/>
                      <a:gd name="T9" fmla="*/ 0 h 57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30" h="576">
                        <a:moveTo>
                          <a:pt x="115" y="0"/>
                        </a:moveTo>
                        <a:lnTo>
                          <a:pt x="0" y="230"/>
                        </a:lnTo>
                        <a:lnTo>
                          <a:pt x="115" y="576"/>
                        </a:lnTo>
                        <a:lnTo>
                          <a:pt x="230" y="230"/>
                        </a:lnTo>
                        <a:lnTo>
                          <a:pt x="115" y="0"/>
                        </a:lnTo>
                        <a:close/>
                      </a:path>
                    </a:pathLst>
                  </a:cu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9050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16" name="Group 338"/>
                <p:cNvGrpSpPr>
                  <a:grpSpLocks/>
                </p:cNvGrpSpPr>
                <p:nvPr/>
              </p:nvGrpSpPr>
              <p:grpSpPr bwMode="auto">
                <a:xfrm rot="16200000">
                  <a:off x="2189332" y="3556998"/>
                  <a:ext cx="203200" cy="858824"/>
                  <a:chOff x="3398" y="1757"/>
                  <a:chExt cx="128" cy="518"/>
                </a:xfrm>
              </p:grpSpPr>
              <p:grpSp>
                <p:nvGrpSpPr>
                  <p:cNvPr id="59" name="Group 54"/>
                  <p:cNvGrpSpPr>
                    <a:grpSpLocks/>
                  </p:cNvGrpSpPr>
                  <p:nvPr/>
                </p:nvGrpSpPr>
                <p:grpSpPr bwMode="auto">
                  <a:xfrm>
                    <a:off x="3398" y="1757"/>
                    <a:ext cx="128" cy="518"/>
                    <a:chOff x="451" y="2160"/>
                    <a:chExt cx="298" cy="1209"/>
                  </a:xfrm>
                </p:grpSpPr>
                <p:grpSp>
                  <p:nvGrpSpPr>
                    <p:cNvPr id="61" name="Group 55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51" y="2621"/>
                      <a:ext cx="230" cy="115"/>
                      <a:chOff x="576" y="2218"/>
                      <a:chExt cx="230" cy="230"/>
                    </a:xfrm>
                  </p:grpSpPr>
                  <p:sp>
                    <p:nvSpPr>
                      <p:cNvPr id="80" name="Freeform 56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576" y="2218"/>
                        <a:ext cx="230" cy="115"/>
                      </a:xfrm>
                      <a:custGeom>
                        <a:avLst/>
                        <a:gdLst>
                          <a:gd name="T0" fmla="*/ 0 w 230"/>
                          <a:gd name="T1" fmla="*/ 115 h 115"/>
                          <a:gd name="T2" fmla="*/ 115 w 230"/>
                          <a:gd name="T3" fmla="*/ 0 h 115"/>
                          <a:gd name="T4" fmla="*/ 230 w 230"/>
                          <a:gd name="T5" fmla="*/ 115 h 115"/>
                          <a:gd name="T6" fmla="*/ 0 60000 65536"/>
                          <a:gd name="T7" fmla="*/ 0 60000 65536"/>
                          <a:gd name="T8" fmla="*/ 0 60000 65536"/>
                        </a:gdLst>
                        <a:ahLst/>
                        <a:cxnLst>
                          <a:cxn ang="T6">
                            <a:pos x="T0" y="T1"/>
                          </a:cxn>
                          <a:cxn ang="T7">
                            <a:pos x="T2" y="T3"/>
                          </a:cxn>
                          <a:cxn ang="T8">
                            <a:pos x="T4" y="T5"/>
                          </a:cxn>
                        </a:cxnLst>
                        <a:rect l="0" t="0" r="r" b="b"/>
                        <a:pathLst>
                          <a:path w="230" h="115">
                            <a:moveTo>
                              <a:pt x="0" y="115"/>
                            </a:moveTo>
                            <a:cubicBezTo>
                              <a:pt x="38" y="57"/>
                              <a:pt x="77" y="0"/>
                              <a:pt x="115" y="0"/>
                            </a:cubicBezTo>
                            <a:cubicBezTo>
                              <a:pt x="153" y="0"/>
                              <a:pt x="191" y="57"/>
                              <a:pt x="230" y="115"/>
                            </a:cubicBezTo>
                          </a:path>
                        </a:pathLst>
                      </a:custGeom>
                      <a:noFill/>
                      <a:ln w="19050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GB" dirty="0"/>
                      </a:p>
                    </p:txBody>
                  </p:sp>
                  <p:sp>
                    <p:nvSpPr>
                      <p:cNvPr id="81" name="Freeform 57"/>
                      <p:cNvSpPr>
                        <a:spLocks/>
                      </p:cNvSpPr>
                      <p:nvPr/>
                    </p:nvSpPr>
                    <p:spPr bwMode="auto">
                      <a:xfrm flipV="1">
                        <a:off x="576" y="2333"/>
                        <a:ext cx="230" cy="115"/>
                      </a:xfrm>
                      <a:custGeom>
                        <a:avLst/>
                        <a:gdLst>
                          <a:gd name="T0" fmla="*/ 0 w 230"/>
                          <a:gd name="T1" fmla="*/ 115 h 115"/>
                          <a:gd name="T2" fmla="*/ 115 w 230"/>
                          <a:gd name="T3" fmla="*/ 0 h 115"/>
                          <a:gd name="T4" fmla="*/ 230 w 230"/>
                          <a:gd name="T5" fmla="*/ 115 h 115"/>
                          <a:gd name="T6" fmla="*/ 0 60000 65536"/>
                          <a:gd name="T7" fmla="*/ 0 60000 65536"/>
                          <a:gd name="T8" fmla="*/ 0 60000 65536"/>
                        </a:gdLst>
                        <a:ahLst/>
                        <a:cxnLst>
                          <a:cxn ang="T6">
                            <a:pos x="T0" y="T1"/>
                          </a:cxn>
                          <a:cxn ang="T7">
                            <a:pos x="T2" y="T3"/>
                          </a:cxn>
                          <a:cxn ang="T8">
                            <a:pos x="T4" y="T5"/>
                          </a:cxn>
                        </a:cxnLst>
                        <a:rect l="0" t="0" r="r" b="b"/>
                        <a:pathLst>
                          <a:path w="230" h="115">
                            <a:moveTo>
                              <a:pt x="0" y="115"/>
                            </a:moveTo>
                            <a:cubicBezTo>
                              <a:pt x="38" y="57"/>
                              <a:pt x="77" y="0"/>
                              <a:pt x="115" y="0"/>
                            </a:cubicBezTo>
                            <a:cubicBezTo>
                              <a:pt x="153" y="0"/>
                              <a:pt x="191" y="57"/>
                              <a:pt x="230" y="115"/>
                            </a:cubicBezTo>
                          </a:path>
                        </a:pathLst>
                      </a:custGeom>
                      <a:noFill/>
                      <a:ln w="19050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GB" dirty="0"/>
                      </a:p>
                    </p:txBody>
                  </p:sp>
                </p:grpSp>
                <p:grpSp>
                  <p:nvGrpSpPr>
                    <p:cNvPr id="62" name="Group 58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51" y="2448"/>
                      <a:ext cx="230" cy="115"/>
                      <a:chOff x="576" y="2218"/>
                      <a:chExt cx="230" cy="230"/>
                    </a:xfrm>
                  </p:grpSpPr>
                  <p:sp>
                    <p:nvSpPr>
                      <p:cNvPr id="78" name="Freeform 59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576" y="2218"/>
                        <a:ext cx="230" cy="115"/>
                      </a:xfrm>
                      <a:custGeom>
                        <a:avLst/>
                        <a:gdLst>
                          <a:gd name="T0" fmla="*/ 0 w 230"/>
                          <a:gd name="T1" fmla="*/ 115 h 115"/>
                          <a:gd name="T2" fmla="*/ 115 w 230"/>
                          <a:gd name="T3" fmla="*/ 0 h 115"/>
                          <a:gd name="T4" fmla="*/ 230 w 230"/>
                          <a:gd name="T5" fmla="*/ 115 h 115"/>
                          <a:gd name="T6" fmla="*/ 0 60000 65536"/>
                          <a:gd name="T7" fmla="*/ 0 60000 65536"/>
                          <a:gd name="T8" fmla="*/ 0 60000 65536"/>
                        </a:gdLst>
                        <a:ahLst/>
                        <a:cxnLst>
                          <a:cxn ang="T6">
                            <a:pos x="T0" y="T1"/>
                          </a:cxn>
                          <a:cxn ang="T7">
                            <a:pos x="T2" y="T3"/>
                          </a:cxn>
                          <a:cxn ang="T8">
                            <a:pos x="T4" y="T5"/>
                          </a:cxn>
                        </a:cxnLst>
                        <a:rect l="0" t="0" r="r" b="b"/>
                        <a:pathLst>
                          <a:path w="230" h="115">
                            <a:moveTo>
                              <a:pt x="0" y="115"/>
                            </a:moveTo>
                            <a:cubicBezTo>
                              <a:pt x="38" y="57"/>
                              <a:pt x="77" y="0"/>
                              <a:pt x="115" y="0"/>
                            </a:cubicBezTo>
                            <a:cubicBezTo>
                              <a:pt x="153" y="0"/>
                              <a:pt x="191" y="57"/>
                              <a:pt x="230" y="115"/>
                            </a:cubicBezTo>
                          </a:path>
                        </a:pathLst>
                      </a:custGeom>
                      <a:noFill/>
                      <a:ln w="19050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GB" dirty="0"/>
                      </a:p>
                    </p:txBody>
                  </p:sp>
                  <p:sp>
                    <p:nvSpPr>
                      <p:cNvPr id="79" name="Freeform 60"/>
                      <p:cNvSpPr>
                        <a:spLocks/>
                      </p:cNvSpPr>
                      <p:nvPr/>
                    </p:nvSpPr>
                    <p:spPr bwMode="auto">
                      <a:xfrm flipV="1">
                        <a:off x="576" y="2333"/>
                        <a:ext cx="230" cy="115"/>
                      </a:xfrm>
                      <a:custGeom>
                        <a:avLst/>
                        <a:gdLst>
                          <a:gd name="T0" fmla="*/ 0 w 230"/>
                          <a:gd name="T1" fmla="*/ 115 h 115"/>
                          <a:gd name="T2" fmla="*/ 115 w 230"/>
                          <a:gd name="T3" fmla="*/ 0 h 115"/>
                          <a:gd name="T4" fmla="*/ 230 w 230"/>
                          <a:gd name="T5" fmla="*/ 115 h 115"/>
                          <a:gd name="T6" fmla="*/ 0 60000 65536"/>
                          <a:gd name="T7" fmla="*/ 0 60000 65536"/>
                          <a:gd name="T8" fmla="*/ 0 60000 65536"/>
                        </a:gdLst>
                        <a:ahLst/>
                        <a:cxnLst>
                          <a:cxn ang="T6">
                            <a:pos x="T0" y="T1"/>
                          </a:cxn>
                          <a:cxn ang="T7">
                            <a:pos x="T2" y="T3"/>
                          </a:cxn>
                          <a:cxn ang="T8">
                            <a:pos x="T4" y="T5"/>
                          </a:cxn>
                        </a:cxnLst>
                        <a:rect l="0" t="0" r="r" b="b"/>
                        <a:pathLst>
                          <a:path w="230" h="115">
                            <a:moveTo>
                              <a:pt x="0" y="115"/>
                            </a:moveTo>
                            <a:cubicBezTo>
                              <a:pt x="38" y="57"/>
                              <a:pt x="77" y="0"/>
                              <a:pt x="115" y="0"/>
                            </a:cubicBezTo>
                            <a:cubicBezTo>
                              <a:pt x="153" y="0"/>
                              <a:pt x="191" y="57"/>
                              <a:pt x="230" y="115"/>
                            </a:cubicBezTo>
                          </a:path>
                        </a:pathLst>
                      </a:custGeom>
                      <a:noFill/>
                      <a:ln w="19050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GB" dirty="0"/>
                      </a:p>
                    </p:txBody>
                  </p:sp>
                </p:grpSp>
                <p:sp>
                  <p:nvSpPr>
                    <p:cNvPr id="63" name="Freeform 61"/>
                    <p:cNvSpPr>
                      <a:spLocks/>
                    </p:cNvSpPr>
                    <p:nvPr/>
                  </p:nvSpPr>
                  <p:spPr bwMode="auto">
                    <a:xfrm>
                      <a:off x="681" y="2506"/>
                      <a:ext cx="68" cy="172"/>
                    </a:xfrm>
                    <a:custGeom>
                      <a:avLst/>
                      <a:gdLst>
                        <a:gd name="T0" fmla="*/ 0 w 68"/>
                        <a:gd name="T1" fmla="*/ 172 h 172"/>
                        <a:gd name="T2" fmla="*/ 58 w 68"/>
                        <a:gd name="T3" fmla="*/ 115 h 172"/>
                        <a:gd name="T4" fmla="*/ 58 w 68"/>
                        <a:gd name="T5" fmla="*/ 57 h 172"/>
                        <a:gd name="T6" fmla="*/ 0 w 68"/>
                        <a:gd name="T7" fmla="*/ 0 h 172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0" t="0" r="r" b="b"/>
                      <a:pathLst>
                        <a:path w="68" h="172">
                          <a:moveTo>
                            <a:pt x="0" y="172"/>
                          </a:moveTo>
                          <a:cubicBezTo>
                            <a:pt x="24" y="153"/>
                            <a:pt x="48" y="134"/>
                            <a:pt x="58" y="115"/>
                          </a:cubicBezTo>
                          <a:cubicBezTo>
                            <a:pt x="68" y="96"/>
                            <a:pt x="68" y="76"/>
                            <a:pt x="58" y="57"/>
                          </a:cubicBezTo>
                          <a:cubicBezTo>
                            <a:pt x="48" y="38"/>
                            <a:pt x="24" y="19"/>
                            <a:pt x="0" y="0"/>
                          </a:cubicBezTo>
                        </a:path>
                      </a:pathLst>
                    </a:custGeom>
                    <a:noFill/>
                    <a:ln w="19050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 dirty="0"/>
                    </a:p>
                  </p:txBody>
                </p:sp>
                <p:sp>
                  <p:nvSpPr>
                    <p:cNvPr id="64" name="Freeform 62"/>
                    <p:cNvSpPr>
                      <a:spLocks/>
                    </p:cNvSpPr>
                    <p:nvPr/>
                  </p:nvSpPr>
                  <p:spPr bwMode="auto">
                    <a:xfrm>
                      <a:off x="681" y="2678"/>
                      <a:ext cx="68" cy="172"/>
                    </a:xfrm>
                    <a:custGeom>
                      <a:avLst/>
                      <a:gdLst>
                        <a:gd name="T0" fmla="*/ 0 w 68"/>
                        <a:gd name="T1" fmla="*/ 172 h 172"/>
                        <a:gd name="T2" fmla="*/ 58 w 68"/>
                        <a:gd name="T3" fmla="*/ 115 h 172"/>
                        <a:gd name="T4" fmla="*/ 58 w 68"/>
                        <a:gd name="T5" fmla="*/ 57 h 172"/>
                        <a:gd name="T6" fmla="*/ 0 w 68"/>
                        <a:gd name="T7" fmla="*/ 0 h 172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0" t="0" r="r" b="b"/>
                      <a:pathLst>
                        <a:path w="68" h="172">
                          <a:moveTo>
                            <a:pt x="0" y="172"/>
                          </a:moveTo>
                          <a:cubicBezTo>
                            <a:pt x="24" y="153"/>
                            <a:pt x="48" y="134"/>
                            <a:pt x="58" y="115"/>
                          </a:cubicBezTo>
                          <a:cubicBezTo>
                            <a:pt x="68" y="96"/>
                            <a:pt x="68" y="76"/>
                            <a:pt x="58" y="57"/>
                          </a:cubicBezTo>
                          <a:cubicBezTo>
                            <a:pt x="48" y="38"/>
                            <a:pt x="24" y="19"/>
                            <a:pt x="0" y="0"/>
                          </a:cubicBezTo>
                        </a:path>
                      </a:pathLst>
                    </a:custGeom>
                    <a:noFill/>
                    <a:ln w="19050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 dirty="0"/>
                    </a:p>
                  </p:txBody>
                </p:sp>
                <p:grpSp>
                  <p:nvGrpSpPr>
                    <p:cNvPr id="65" name="Group 63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51" y="2794"/>
                      <a:ext cx="230" cy="115"/>
                      <a:chOff x="576" y="2218"/>
                      <a:chExt cx="230" cy="230"/>
                    </a:xfrm>
                  </p:grpSpPr>
                  <p:sp>
                    <p:nvSpPr>
                      <p:cNvPr id="76" name="Freeform 64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576" y="2218"/>
                        <a:ext cx="230" cy="115"/>
                      </a:xfrm>
                      <a:custGeom>
                        <a:avLst/>
                        <a:gdLst>
                          <a:gd name="T0" fmla="*/ 0 w 230"/>
                          <a:gd name="T1" fmla="*/ 115 h 115"/>
                          <a:gd name="T2" fmla="*/ 115 w 230"/>
                          <a:gd name="T3" fmla="*/ 0 h 115"/>
                          <a:gd name="T4" fmla="*/ 230 w 230"/>
                          <a:gd name="T5" fmla="*/ 115 h 115"/>
                          <a:gd name="T6" fmla="*/ 0 60000 65536"/>
                          <a:gd name="T7" fmla="*/ 0 60000 65536"/>
                          <a:gd name="T8" fmla="*/ 0 60000 65536"/>
                        </a:gdLst>
                        <a:ahLst/>
                        <a:cxnLst>
                          <a:cxn ang="T6">
                            <a:pos x="T0" y="T1"/>
                          </a:cxn>
                          <a:cxn ang="T7">
                            <a:pos x="T2" y="T3"/>
                          </a:cxn>
                          <a:cxn ang="T8">
                            <a:pos x="T4" y="T5"/>
                          </a:cxn>
                        </a:cxnLst>
                        <a:rect l="0" t="0" r="r" b="b"/>
                        <a:pathLst>
                          <a:path w="230" h="115">
                            <a:moveTo>
                              <a:pt x="0" y="115"/>
                            </a:moveTo>
                            <a:cubicBezTo>
                              <a:pt x="38" y="57"/>
                              <a:pt x="77" y="0"/>
                              <a:pt x="115" y="0"/>
                            </a:cubicBezTo>
                            <a:cubicBezTo>
                              <a:pt x="153" y="0"/>
                              <a:pt x="191" y="57"/>
                              <a:pt x="230" y="115"/>
                            </a:cubicBezTo>
                          </a:path>
                        </a:pathLst>
                      </a:custGeom>
                      <a:noFill/>
                      <a:ln w="19050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GB" dirty="0"/>
                      </a:p>
                    </p:txBody>
                  </p:sp>
                  <p:sp>
                    <p:nvSpPr>
                      <p:cNvPr id="77" name="Freeform 65"/>
                      <p:cNvSpPr>
                        <a:spLocks/>
                      </p:cNvSpPr>
                      <p:nvPr/>
                    </p:nvSpPr>
                    <p:spPr bwMode="auto">
                      <a:xfrm flipV="1">
                        <a:off x="576" y="2333"/>
                        <a:ext cx="230" cy="115"/>
                      </a:xfrm>
                      <a:custGeom>
                        <a:avLst/>
                        <a:gdLst>
                          <a:gd name="T0" fmla="*/ 0 w 230"/>
                          <a:gd name="T1" fmla="*/ 115 h 115"/>
                          <a:gd name="T2" fmla="*/ 115 w 230"/>
                          <a:gd name="T3" fmla="*/ 0 h 115"/>
                          <a:gd name="T4" fmla="*/ 230 w 230"/>
                          <a:gd name="T5" fmla="*/ 115 h 115"/>
                          <a:gd name="T6" fmla="*/ 0 60000 65536"/>
                          <a:gd name="T7" fmla="*/ 0 60000 65536"/>
                          <a:gd name="T8" fmla="*/ 0 60000 65536"/>
                        </a:gdLst>
                        <a:ahLst/>
                        <a:cxnLst>
                          <a:cxn ang="T6">
                            <a:pos x="T0" y="T1"/>
                          </a:cxn>
                          <a:cxn ang="T7">
                            <a:pos x="T2" y="T3"/>
                          </a:cxn>
                          <a:cxn ang="T8">
                            <a:pos x="T4" y="T5"/>
                          </a:cxn>
                        </a:cxnLst>
                        <a:rect l="0" t="0" r="r" b="b"/>
                        <a:pathLst>
                          <a:path w="230" h="115">
                            <a:moveTo>
                              <a:pt x="0" y="115"/>
                            </a:moveTo>
                            <a:cubicBezTo>
                              <a:pt x="38" y="57"/>
                              <a:pt x="77" y="0"/>
                              <a:pt x="115" y="0"/>
                            </a:cubicBezTo>
                            <a:cubicBezTo>
                              <a:pt x="153" y="0"/>
                              <a:pt x="191" y="57"/>
                              <a:pt x="230" y="115"/>
                            </a:cubicBezTo>
                          </a:path>
                        </a:pathLst>
                      </a:custGeom>
                      <a:noFill/>
                      <a:ln w="19050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GB" dirty="0"/>
                      </a:p>
                    </p:txBody>
                  </p:sp>
                </p:grpSp>
                <p:grpSp>
                  <p:nvGrpSpPr>
                    <p:cNvPr id="66" name="Group 66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51" y="2967"/>
                      <a:ext cx="230" cy="115"/>
                      <a:chOff x="576" y="2218"/>
                      <a:chExt cx="230" cy="230"/>
                    </a:xfrm>
                  </p:grpSpPr>
                  <p:sp>
                    <p:nvSpPr>
                      <p:cNvPr id="74" name="Freeform 67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576" y="2218"/>
                        <a:ext cx="230" cy="115"/>
                      </a:xfrm>
                      <a:custGeom>
                        <a:avLst/>
                        <a:gdLst>
                          <a:gd name="T0" fmla="*/ 0 w 230"/>
                          <a:gd name="T1" fmla="*/ 115 h 115"/>
                          <a:gd name="T2" fmla="*/ 115 w 230"/>
                          <a:gd name="T3" fmla="*/ 0 h 115"/>
                          <a:gd name="T4" fmla="*/ 230 w 230"/>
                          <a:gd name="T5" fmla="*/ 115 h 115"/>
                          <a:gd name="T6" fmla="*/ 0 60000 65536"/>
                          <a:gd name="T7" fmla="*/ 0 60000 65536"/>
                          <a:gd name="T8" fmla="*/ 0 60000 65536"/>
                        </a:gdLst>
                        <a:ahLst/>
                        <a:cxnLst>
                          <a:cxn ang="T6">
                            <a:pos x="T0" y="T1"/>
                          </a:cxn>
                          <a:cxn ang="T7">
                            <a:pos x="T2" y="T3"/>
                          </a:cxn>
                          <a:cxn ang="T8">
                            <a:pos x="T4" y="T5"/>
                          </a:cxn>
                        </a:cxnLst>
                        <a:rect l="0" t="0" r="r" b="b"/>
                        <a:pathLst>
                          <a:path w="230" h="115">
                            <a:moveTo>
                              <a:pt x="0" y="115"/>
                            </a:moveTo>
                            <a:cubicBezTo>
                              <a:pt x="38" y="57"/>
                              <a:pt x="77" y="0"/>
                              <a:pt x="115" y="0"/>
                            </a:cubicBezTo>
                            <a:cubicBezTo>
                              <a:pt x="153" y="0"/>
                              <a:pt x="191" y="57"/>
                              <a:pt x="230" y="115"/>
                            </a:cubicBezTo>
                          </a:path>
                        </a:pathLst>
                      </a:custGeom>
                      <a:noFill/>
                      <a:ln w="19050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GB" dirty="0"/>
                      </a:p>
                    </p:txBody>
                  </p:sp>
                  <p:sp>
                    <p:nvSpPr>
                      <p:cNvPr id="75" name="Freeform 68"/>
                      <p:cNvSpPr>
                        <a:spLocks/>
                      </p:cNvSpPr>
                      <p:nvPr/>
                    </p:nvSpPr>
                    <p:spPr bwMode="auto">
                      <a:xfrm flipV="1">
                        <a:off x="576" y="2333"/>
                        <a:ext cx="230" cy="115"/>
                      </a:xfrm>
                      <a:custGeom>
                        <a:avLst/>
                        <a:gdLst>
                          <a:gd name="T0" fmla="*/ 0 w 230"/>
                          <a:gd name="T1" fmla="*/ 115 h 115"/>
                          <a:gd name="T2" fmla="*/ 115 w 230"/>
                          <a:gd name="T3" fmla="*/ 0 h 115"/>
                          <a:gd name="T4" fmla="*/ 230 w 230"/>
                          <a:gd name="T5" fmla="*/ 115 h 115"/>
                          <a:gd name="T6" fmla="*/ 0 60000 65536"/>
                          <a:gd name="T7" fmla="*/ 0 60000 65536"/>
                          <a:gd name="T8" fmla="*/ 0 60000 65536"/>
                        </a:gdLst>
                        <a:ahLst/>
                        <a:cxnLst>
                          <a:cxn ang="T6">
                            <a:pos x="T0" y="T1"/>
                          </a:cxn>
                          <a:cxn ang="T7">
                            <a:pos x="T2" y="T3"/>
                          </a:cxn>
                          <a:cxn ang="T8">
                            <a:pos x="T4" y="T5"/>
                          </a:cxn>
                        </a:cxnLst>
                        <a:rect l="0" t="0" r="r" b="b"/>
                        <a:pathLst>
                          <a:path w="230" h="115">
                            <a:moveTo>
                              <a:pt x="0" y="115"/>
                            </a:moveTo>
                            <a:cubicBezTo>
                              <a:pt x="38" y="57"/>
                              <a:pt x="77" y="0"/>
                              <a:pt x="115" y="0"/>
                            </a:cubicBezTo>
                            <a:cubicBezTo>
                              <a:pt x="153" y="0"/>
                              <a:pt x="191" y="57"/>
                              <a:pt x="230" y="115"/>
                            </a:cubicBezTo>
                          </a:path>
                        </a:pathLst>
                      </a:custGeom>
                      <a:noFill/>
                      <a:ln w="19050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GB" dirty="0"/>
                      </a:p>
                    </p:txBody>
                  </p:sp>
                </p:grpSp>
                <p:sp>
                  <p:nvSpPr>
                    <p:cNvPr id="67" name="Freeform 69"/>
                    <p:cNvSpPr>
                      <a:spLocks/>
                    </p:cNvSpPr>
                    <p:nvPr/>
                  </p:nvSpPr>
                  <p:spPr bwMode="auto">
                    <a:xfrm>
                      <a:off x="681" y="2851"/>
                      <a:ext cx="68" cy="172"/>
                    </a:xfrm>
                    <a:custGeom>
                      <a:avLst/>
                      <a:gdLst>
                        <a:gd name="T0" fmla="*/ 0 w 68"/>
                        <a:gd name="T1" fmla="*/ 172 h 172"/>
                        <a:gd name="T2" fmla="*/ 58 w 68"/>
                        <a:gd name="T3" fmla="*/ 115 h 172"/>
                        <a:gd name="T4" fmla="*/ 58 w 68"/>
                        <a:gd name="T5" fmla="*/ 57 h 172"/>
                        <a:gd name="T6" fmla="*/ 0 w 68"/>
                        <a:gd name="T7" fmla="*/ 0 h 172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0" t="0" r="r" b="b"/>
                      <a:pathLst>
                        <a:path w="68" h="172">
                          <a:moveTo>
                            <a:pt x="0" y="172"/>
                          </a:moveTo>
                          <a:cubicBezTo>
                            <a:pt x="24" y="153"/>
                            <a:pt x="48" y="134"/>
                            <a:pt x="58" y="115"/>
                          </a:cubicBezTo>
                          <a:cubicBezTo>
                            <a:pt x="68" y="96"/>
                            <a:pt x="68" y="76"/>
                            <a:pt x="58" y="57"/>
                          </a:cubicBezTo>
                          <a:cubicBezTo>
                            <a:pt x="48" y="38"/>
                            <a:pt x="24" y="19"/>
                            <a:pt x="0" y="0"/>
                          </a:cubicBezTo>
                        </a:path>
                      </a:pathLst>
                    </a:custGeom>
                    <a:noFill/>
                    <a:ln w="19050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 dirty="0"/>
                    </a:p>
                  </p:txBody>
                </p:sp>
                <p:grpSp>
                  <p:nvGrpSpPr>
                    <p:cNvPr id="68" name="Group 70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576" y="2160"/>
                      <a:ext cx="135" cy="345"/>
                      <a:chOff x="576" y="2160"/>
                      <a:chExt cx="135" cy="345"/>
                    </a:xfrm>
                  </p:grpSpPr>
                  <p:sp>
                    <p:nvSpPr>
                      <p:cNvPr id="72" name="Freeform 71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579" y="2333"/>
                        <a:ext cx="132" cy="172"/>
                      </a:xfrm>
                      <a:custGeom>
                        <a:avLst/>
                        <a:gdLst>
                          <a:gd name="T0" fmla="*/ 0 w 132"/>
                          <a:gd name="T1" fmla="*/ 0 h 172"/>
                          <a:gd name="T2" fmla="*/ 115 w 132"/>
                          <a:gd name="T3" fmla="*/ 57 h 172"/>
                          <a:gd name="T4" fmla="*/ 99 w 132"/>
                          <a:gd name="T5" fmla="*/ 172 h 172"/>
                          <a:gd name="T6" fmla="*/ 0 60000 65536"/>
                          <a:gd name="T7" fmla="*/ 0 60000 65536"/>
                          <a:gd name="T8" fmla="*/ 0 60000 65536"/>
                        </a:gdLst>
                        <a:ahLst/>
                        <a:cxnLst>
                          <a:cxn ang="T6">
                            <a:pos x="T0" y="T1"/>
                          </a:cxn>
                          <a:cxn ang="T7">
                            <a:pos x="T2" y="T3"/>
                          </a:cxn>
                          <a:cxn ang="T8">
                            <a:pos x="T4" y="T5"/>
                          </a:cxn>
                        </a:cxnLst>
                        <a:rect l="0" t="0" r="r" b="b"/>
                        <a:pathLst>
                          <a:path w="132" h="172">
                            <a:moveTo>
                              <a:pt x="0" y="0"/>
                            </a:moveTo>
                            <a:cubicBezTo>
                              <a:pt x="49" y="14"/>
                              <a:pt x="98" y="28"/>
                              <a:pt x="115" y="57"/>
                            </a:cubicBezTo>
                            <a:cubicBezTo>
                              <a:pt x="132" y="86"/>
                              <a:pt x="115" y="129"/>
                              <a:pt x="99" y="172"/>
                            </a:cubicBezTo>
                          </a:path>
                        </a:pathLst>
                      </a:custGeom>
                      <a:noFill/>
                      <a:ln w="19050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GB" dirty="0"/>
                      </a:p>
                    </p:txBody>
                  </p:sp>
                  <p:sp>
                    <p:nvSpPr>
                      <p:cNvPr id="73" name="Line 72"/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576" y="2160"/>
                        <a:ext cx="0" cy="173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GB" dirty="0"/>
                      </a:p>
                    </p:txBody>
                  </p:sp>
                </p:grpSp>
                <p:grpSp>
                  <p:nvGrpSpPr>
                    <p:cNvPr id="69" name="Group 73"/>
                    <p:cNvGrpSpPr>
                      <a:grpSpLocks/>
                    </p:cNvGrpSpPr>
                    <p:nvPr/>
                  </p:nvGrpSpPr>
                  <p:grpSpPr bwMode="auto">
                    <a:xfrm flipV="1">
                      <a:off x="576" y="3024"/>
                      <a:ext cx="135" cy="345"/>
                      <a:chOff x="576" y="2160"/>
                      <a:chExt cx="135" cy="345"/>
                    </a:xfrm>
                  </p:grpSpPr>
                  <p:sp>
                    <p:nvSpPr>
                      <p:cNvPr id="70" name="Freeform 74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579" y="2333"/>
                        <a:ext cx="132" cy="172"/>
                      </a:xfrm>
                      <a:custGeom>
                        <a:avLst/>
                        <a:gdLst>
                          <a:gd name="T0" fmla="*/ 0 w 132"/>
                          <a:gd name="T1" fmla="*/ 0 h 172"/>
                          <a:gd name="T2" fmla="*/ 115 w 132"/>
                          <a:gd name="T3" fmla="*/ 57 h 172"/>
                          <a:gd name="T4" fmla="*/ 99 w 132"/>
                          <a:gd name="T5" fmla="*/ 172 h 172"/>
                          <a:gd name="T6" fmla="*/ 0 60000 65536"/>
                          <a:gd name="T7" fmla="*/ 0 60000 65536"/>
                          <a:gd name="T8" fmla="*/ 0 60000 65536"/>
                        </a:gdLst>
                        <a:ahLst/>
                        <a:cxnLst>
                          <a:cxn ang="T6">
                            <a:pos x="T0" y="T1"/>
                          </a:cxn>
                          <a:cxn ang="T7">
                            <a:pos x="T2" y="T3"/>
                          </a:cxn>
                          <a:cxn ang="T8">
                            <a:pos x="T4" y="T5"/>
                          </a:cxn>
                        </a:cxnLst>
                        <a:rect l="0" t="0" r="r" b="b"/>
                        <a:pathLst>
                          <a:path w="132" h="172">
                            <a:moveTo>
                              <a:pt x="0" y="0"/>
                            </a:moveTo>
                            <a:cubicBezTo>
                              <a:pt x="49" y="14"/>
                              <a:pt x="98" y="28"/>
                              <a:pt x="115" y="57"/>
                            </a:cubicBezTo>
                            <a:cubicBezTo>
                              <a:pt x="132" y="86"/>
                              <a:pt x="115" y="129"/>
                              <a:pt x="99" y="172"/>
                            </a:cubicBezTo>
                          </a:path>
                        </a:pathLst>
                      </a:custGeom>
                      <a:noFill/>
                      <a:ln w="19050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GB" dirty="0"/>
                      </a:p>
                    </p:txBody>
                  </p:sp>
                  <p:sp>
                    <p:nvSpPr>
                      <p:cNvPr id="71" name="Line 75"/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576" y="2160"/>
                        <a:ext cx="0" cy="173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GB" dirty="0"/>
                      </a:p>
                    </p:txBody>
                  </p:sp>
                </p:grpSp>
              </p:grpSp>
              <p:sp>
                <p:nvSpPr>
                  <p:cNvPr id="60" name="Freeform 337"/>
                  <p:cNvSpPr>
                    <a:spLocks/>
                  </p:cNvSpPr>
                  <p:nvPr/>
                </p:nvSpPr>
                <p:spPr bwMode="auto">
                  <a:xfrm>
                    <a:off x="3398" y="1757"/>
                    <a:ext cx="116" cy="518"/>
                  </a:xfrm>
                  <a:custGeom>
                    <a:avLst/>
                    <a:gdLst>
                      <a:gd name="T0" fmla="*/ 58 w 116"/>
                      <a:gd name="T1" fmla="*/ 0 h 518"/>
                      <a:gd name="T2" fmla="*/ 0 w 116"/>
                      <a:gd name="T3" fmla="*/ 230 h 518"/>
                      <a:gd name="T4" fmla="*/ 58 w 116"/>
                      <a:gd name="T5" fmla="*/ 518 h 518"/>
                      <a:gd name="T6" fmla="*/ 116 w 116"/>
                      <a:gd name="T7" fmla="*/ 230 h 518"/>
                      <a:gd name="T8" fmla="*/ 58 w 116"/>
                      <a:gd name="T9" fmla="*/ 0 h 51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16" h="518">
                        <a:moveTo>
                          <a:pt x="58" y="0"/>
                        </a:moveTo>
                        <a:lnTo>
                          <a:pt x="0" y="230"/>
                        </a:lnTo>
                        <a:lnTo>
                          <a:pt x="58" y="518"/>
                        </a:lnTo>
                        <a:lnTo>
                          <a:pt x="116" y="230"/>
                        </a:lnTo>
                        <a:lnTo>
                          <a:pt x="58" y="0"/>
                        </a:lnTo>
                        <a:close/>
                      </a:path>
                    </a:pathLst>
                  </a:cu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9050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 dirty="0"/>
                  </a:p>
                </p:txBody>
              </p:sp>
            </p:grpSp>
            <p:cxnSp>
              <p:nvCxnSpPr>
                <p:cNvPr id="17" name="Straight Connector 16"/>
                <p:cNvCxnSpPr>
                  <a:stCxn id="73" idx="1"/>
                </p:cNvCxnSpPr>
                <p:nvPr/>
              </p:nvCxnSpPr>
              <p:spPr>
                <a:xfrm flipH="1" flipV="1">
                  <a:off x="624103" y="4000730"/>
                  <a:ext cx="1237417" cy="204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/>
                <p:cNvCxnSpPr>
                  <a:stCxn id="83" idx="0"/>
                  <a:endCxn id="83" idx="0"/>
                </p:cNvCxnSpPr>
                <p:nvPr/>
              </p:nvCxnSpPr>
              <p:spPr>
                <a:xfrm>
                  <a:off x="1727053" y="4077072"/>
                  <a:ext cx="0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/>
                <p:cNvCxnSpPr>
                  <a:stCxn id="83" idx="0"/>
                </p:cNvCxnSpPr>
                <p:nvPr/>
              </p:nvCxnSpPr>
              <p:spPr>
                <a:xfrm flipV="1">
                  <a:off x="1727053" y="4002775"/>
                  <a:ext cx="1587" cy="7429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0" name="TextBox 19"/>
                <p:cNvSpPr txBox="1"/>
                <p:nvPr/>
              </p:nvSpPr>
              <p:spPr>
                <a:xfrm>
                  <a:off x="-84008" y="5089310"/>
                  <a:ext cx="141622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b="1" dirty="0" smtClean="0"/>
                    <a:t>Power losses</a:t>
                  </a:r>
                  <a:endParaRPr lang="en-GB" b="1" dirty="0"/>
                </a:p>
              </p:txBody>
            </p:sp>
            <p:grpSp>
              <p:nvGrpSpPr>
                <p:cNvPr id="21" name="Group 324"/>
                <p:cNvGrpSpPr>
                  <a:grpSpLocks/>
                </p:cNvGrpSpPr>
                <p:nvPr/>
              </p:nvGrpSpPr>
              <p:grpSpPr bwMode="auto">
                <a:xfrm>
                  <a:off x="1502352" y="4986464"/>
                  <a:ext cx="490538" cy="457200"/>
                  <a:chOff x="2110" y="1699"/>
                  <a:chExt cx="309" cy="288"/>
                </a:xfrm>
              </p:grpSpPr>
              <p:grpSp>
                <p:nvGrpSpPr>
                  <p:cNvPr id="52" name="Group 125"/>
                  <p:cNvGrpSpPr>
                    <a:grpSpLocks/>
                  </p:cNvGrpSpPr>
                  <p:nvPr/>
                </p:nvGrpSpPr>
                <p:grpSpPr bwMode="auto">
                  <a:xfrm>
                    <a:off x="2110" y="1699"/>
                    <a:ext cx="288" cy="288"/>
                    <a:chOff x="1585" y="1987"/>
                    <a:chExt cx="288" cy="288"/>
                  </a:xfrm>
                </p:grpSpPr>
                <p:grpSp>
                  <p:nvGrpSpPr>
                    <p:cNvPr id="54" name="Group 126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585" y="2160"/>
                      <a:ext cx="288" cy="115"/>
                      <a:chOff x="1152" y="2160"/>
                      <a:chExt cx="288" cy="115"/>
                    </a:xfrm>
                  </p:grpSpPr>
                  <p:sp>
                    <p:nvSpPr>
                      <p:cNvPr id="56" name="Line 127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152" y="2160"/>
                        <a:ext cx="288" cy="0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en-GB" dirty="0"/>
                      </a:p>
                    </p:txBody>
                  </p:sp>
                  <p:sp>
                    <p:nvSpPr>
                      <p:cNvPr id="57" name="Line 128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210" y="2218"/>
                        <a:ext cx="172" cy="0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en-GB" dirty="0"/>
                      </a:p>
                    </p:txBody>
                  </p:sp>
                  <p:sp>
                    <p:nvSpPr>
                      <p:cNvPr id="58" name="Line 129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267" y="2275"/>
                        <a:ext cx="58" cy="0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en-GB" dirty="0"/>
                      </a:p>
                    </p:txBody>
                  </p:sp>
                </p:grpSp>
                <p:sp>
                  <p:nvSpPr>
                    <p:cNvPr id="55" name="Line 130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1728" y="1987"/>
                      <a:ext cx="0" cy="173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GB" dirty="0"/>
                    </a:p>
                  </p:txBody>
                </p:sp>
              </p:grpSp>
              <p:sp>
                <p:nvSpPr>
                  <p:cNvPr id="53" name="Freeform 323"/>
                  <p:cNvSpPr>
                    <a:spLocks/>
                  </p:cNvSpPr>
                  <p:nvPr/>
                </p:nvSpPr>
                <p:spPr bwMode="auto">
                  <a:xfrm>
                    <a:off x="2131" y="1699"/>
                    <a:ext cx="288" cy="173"/>
                  </a:xfrm>
                  <a:custGeom>
                    <a:avLst/>
                    <a:gdLst>
                      <a:gd name="T0" fmla="*/ 115 w 288"/>
                      <a:gd name="T1" fmla="*/ 0 h 173"/>
                      <a:gd name="T2" fmla="*/ 0 w 288"/>
                      <a:gd name="T3" fmla="*/ 173 h 173"/>
                      <a:gd name="T4" fmla="*/ 288 w 288"/>
                      <a:gd name="T5" fmla="*/ 173 h 173"/>
                      <a:gd name="T6" fmla="*/ 115 w 288"/>
                      <a:gd name="T7" fmla="*/ 0 h 17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88" h="173">
                        <a:moveTo>
                          <a:pt x="115" y="0"/>
                        </a:moveTo>
                        <a:lnTo>
                          <a:pt x="0" y="173"/>
                        </a:lnTo>
                        <a:lnTo>
                          <a:pt x="288" y="173"/>
                        </a:lnTo>
                        <a:lnTo>
                          <a:pt x="115" y="0"/>
                        </a:lnTo>
                        <a:close/>
                      </a:path>
                    </a:pathLst>
                  </a:cu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9050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22" name="Group 307"/>
                <p:cNvGrpSpPr>
                  <a:grpSpLocks/>
                </p:cNvGrpSpPr>
                <p:nvPr/>
              </p:nvGrpSpPr>
              <p:grpSpPr bwMode="auto">
                <a:xfrm>
                  <a:off x="2672726" y="3544552"/>
                  <a:ext cx="461963" cy="914400"/>
                  <a:chOff x="2514" y="547"/>
                  <a:chExt cx="291" cy="576"/>
                </a:xfrm>
              </p:grpSpPr>
              <p:sp>
                <p:nvSpPr>
                  <p:cNvPr id="50" name="Freeform 132"/>
                  <p:cNvSpPr>
                    <a:spLocks/>
                  </p:cNvSpPr>
                  <p:nvPr/>
                </p:nvSpPr>
                <p:spPr bwMode="auto">
                  <a:xfrm>
                    <a:off x="2540" y="547"/>
                    <a:ext cx="232" cy="576"/>
                  </a:xfrm>
                  <a:custGeom>
                    <a:avLst/>
                    <a:gdLst>
                      <a:gd name="T0" fmla="*/ 232 w 232"/>
                      <a:gd name="T1" fmla="*/ 576 h 576"/>
                      <a:gd name="T2" fmla="*/ 232 w 232"/>
                      <a:gd name="T3" fmla="*/ 0 h 576"/>
                      <a:gd name="T4" fmla="*/ 116 w 232"/>
                      <a:gd name="T5" fmla="*/ 173 h 576"/>
                      <a:gd name="T6" fmla="*/ 1 w 232"/>
                      <a:gd name="T7" fmla="*/ 173 h 576"/>
                      <a:gd name="T8" fmla="*/ 1 w 232"/>
                      <a:gd name="T9" fmla="*/ 230 h 576"/>
                      <a:gd name="T10" fmla="*/ 0 w 232"/>
                      <a:gd name="T11" fmla="*/ 347 h 576"/>
                      <a:gd name="T12" fmla="*/ 1 w 232"/>
                      <a:gd name="T13" fmla="*/ 403 h 576"/>
                      <a:gd name="T14" fmla="*/ 116 w 232"/>
                      <a:gd name="T15" fmla="*/ 403 h 576"/>
                      <a:gd name="T16" fmla="*/ 232 w 232"/>
                      <a:gd name="T17" fmla="*/ 576 h 57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232" h="576">
                        <a:moveTo>
                          <a:pt x="232" y="576"/>
                        </a:moveTo>
                        <a:lnTo>
                          <a:pt x="232" y="0"/>
                        </a:lnTo>
                        <a:lnTo>
                          <a:pt x="116" y="173"/>
                        </a:lnTo>
                        <a:lnTo>
                          <a:pt x="1" y="173"/>
                        </a:lnTo>
                        <a:lnTo>
                          <a:pt x="1" y="230"/>
                        </a:lnTo>
                        <a:lnTo>
                          <a:pt x="0" y="347"/>
                        </a:lnTo>
                        <a:lnTo>
                          <a:pt x="1" y="403"/>
                        </a:lnTo>
                        <a:lnTo>
                          <a:pt x="116" y="403"/>
                        </a:lnTo>
                        <a:lnTo>
                          <a:pt x="232" y="576"/>
                        </a:lnTo>
                        <a:close/>
                      </a:path>
                    </a:pathLst>
                  </a:custGeom>
                  <a:noFill/>
                  <a:ln w="19050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GB" dirty="0"/>
                  </a:p>
                </p:txBody>
              </p:sp>
              <p:sp>
                <p:nvSpPr>
                  <p:cNvPr id="51" name="Text Box 13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514" y="762"/>
                    <a:ext cx="291" cy="135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90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algn="l" eaLnBrk="1" hangingPunct="1"/>
                    <a:r>
                      <a:rPr lang="en-US" sz="800" dirty="0"/>
                      <a:t>SPKR</a:t>
                    </a:r>
                  </a:p>
                </p:txBody>
              </p:sp>
            </p:grpSp>
            <p:grpSp>
              <p:nvGrpSpPr>
                <p:cNvPr id="23" name="Group 22"/>
                <p:cNvGrpSpPr/>
                <p:nvPr/>
              </p:nvGrpSpPr>
              <p:grpSpPr>
                <a:xfrm>
                  <a:off x="2253293" y="2715764"/>
                  <a:ext cx="1122834" cy="483922"/>
                  <a:chOff x="3166443" y="2954548"/>
                  <a:chExt cx="1122834" cy="483922"/>
                </a:xfrm>
              </p:grpSpPr>
              <p:grpSp>
                <p:nvGrpSpPr>
                  <p:cNvPr id="30" name="Group 209"/>
                  <p:cNvGrpSpPr>
                    <a:grpSpLocks/>
                  </p:cNvGrpSpPr>
                  <p:nvPr/>
                </p:nvGrpSpPr>
                <p:grpSpPr bwMode="auto">
                  <a:xfrm rot="16200000">
                    <a:off x="3471243" y="2667668"/>
                    <a:ext cx="152400" cy="762000"/>
                    <a:chOff x="3935" y="1728"/>
                    <a:chExt cx="96" cy="480"/>
                  </a:xfrm>
                </p:grpSpPr>
                <p:sp>
                  <p:nvSpPr>
                    <p:cNvPr id="37" name="Arc 59"/>
                    <p:cNvSpPr>
                      <a:spLocks noChangeAspect="1"/>
                    </p:cNvSpPr>
                    <p:nvPr/>
                  </p:nvSpPr>
                  <p:spPr bwMode="auto">
                    <a:xfrm rot="5400000" flipV="1">
                      <a:off x="3947" y="1895"/>
                      <a:ext cx="24" cy="48"/>
                    </a:xfrm>
                    <a:custGeom>
                      <a:avLst/>
                      <a:gdLst>
                        <a:gd name="T0" fmla="*/ 0 w 43180"/>
                        <a:gd name="T1" fmla="*/ 46 h 21600"/>
                        <a:gd name="T2" fmla="*/ 24 w 43180"/>
                        <a:gd name="T3" fmla="*/ 48 h 21600"/>
                        <a:gd name="T4" fmla="*/ 12 w 43180"/>
                        <a:gd name="T5" fmla="*/ 48 h 216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180" h="21600" fill="none" extrusionOk="0">
                          <a:moveTo>
                            <a:pt x="0" y="20662"/>
                          </a:moveTo>
                          <a:cubicBezTo>
                            <a:pt x="502" y="9108"/>
                            <a:pt x="10015" y="-1"/>
                            <a:pt x="21580" y="0"/>
                          </a:cubicBezTo>
                          <a:cubicBezTo>
                            <a:pt x="33509" y="0"/>
                            <a:pt x="43180" y="9670"/>
                            <a:pt x="43180" y="21600"/>
                          </a:cubicBezTo>
                        </a:path>
                        <a:path w="43180" h="21600" stroke="0" extrusionOk="0">
                          <a:moveTo>
                            <a:pt x="0" y="20662"/>
                          </a:moveTo>
                          <a:cubicBezTo>
                            <a:pt x="502" y="9108"/>
                            <a:pt x="10015" y="-1"/>
                            <a:pt x="21580" y="0"/>
                          </a:cubicBezTo>
                          <a:cubicBezTo>
                            <a:pt x="33509" y="0"/>
                            <a:pt x="43180" y="9670"/>
                            <a:pt x="43180" y="21600"/>
                          </a:cubicBezTo>
                          <a:lnTo>
                            <a:pt x="21580" y="21600"/>
                          </a:lnTo>
                          <a:lnTo>
                            <a:pt x="0" y="20662"/>
                          </a:lnTo>
                          <a:close/>
                        </a:path>
                      </a:pathLst>
                    </a:custGeom>
                    <a:noFill/>
                    <a:ln w="63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 dirty="0"/>
                    </a:p>
                  </p:txBody>
                </p:sp>
                <p:sp>
                  <p:nvSpPr>
                    <p:cNvPr id="38" name="Arc 60"/>
                    <p:cNvSpPr>
                      <a:spLocks noChangeAspect="1"/>
                    </p:cNvSpPr>
                    <p:nvPr/>
                  </p:nvSpPr>
                  <p:spPr bwMode="auto">
                    <a:xfrm rot="5400000" flipV="1">
                      <a:off x="3947" y="1943"/>
                      <a:ext cx="24" cy="48"/>
                    </a:xfrm>
                    <a:custGeom>
                      <a:avLst/>
                      <a:gdLst>
                        <a:gd name="T0" fmla="*/ 0 w 43180"/>
                        <a:gd name="T1" fmla="*/ 46 h 21600"/>
                        <a:gd name="T2" fmla="*/ 24 w 43180"/>
                        <a:gd name="T3" fmla="*/ 48 h 21600"/>
                        <a:gd name="T4" fmla="*/ 12 w 43180"/>
                        <a:gd name="T5" fmla="*/ 48 h 216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180" h="21600" fill="none" extrusionOk="0">
                          <a:moveTo>
                            <a:pt x="0" y="20662"/>
                          </a:moveTo>
                          <a:cubicBezTo>
                            <a:pt x="502" y="9108"/>
                            <a:pt x="10015" y="-1"/>
                            <a:pt x="21580" y="0"/>
                          </a:cubicBezTo>
                          <a:cubicBezTo>
                            <a:pt x="33509" y="0"/>
                            <a:pt x="43180" y="9670"/>
                            <a:pt x="43180" y="21600"/>
                          </a:cubicBezTo>
                        </a:path>
                        <a:path w="43180" h="21600" stroke="0" extrusionOk="0">
                          <a:moveTo>
                            <a:pt x="0" y="20662"/>
                          </a:moveTo>
                          <a:cubicBezTo>
                            <a:pt x="502" y="9108"/>
                            <a:pt x="10015" y="-1"/>
                            <a:pt x="21580" y="0"/>
                          </a:cubicBezTo>
                          <a:cubicBezTo>
                            <a:pt x="33509" y="0"/>
                            <a:pt x="43180" y="9670"/>
                            <a:pt x="43180" y="21600"/>
                          </a:cubicBezTo>
                          <a:lnTo>
                            <a:pt x="21580" y="21600"/>
                          </a:lnTo>
                          <a:lnTo>
                            <a:pt x="0" y="20662"/>
                          </a:lnTo>
                          <a:close/>
                        </a:path>
                      </a:pathLst>
                    </a:custGeom>
                    <a:noFill/>
                    <a:ln w="63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 dirty="0"/>
                    </a:p>
                  </p:txBody>
                </p:sp>
                <p:sp>
                  <p:nvSpPr>
                    <p:cNvPr id="39" name="Arc 61"/>
                    <p:cNvSpPr>
                      <a:spLocks noChangeAspect="1"/>
                    </p:cNvSpPr>
                    <p:nvPr/>
                  </p:nvSpPr>
                  <p:spPr bwMode="auto">
                    <a:xfrm rot="5400000" flipV="1">
                      <a:off x="3946" y="1991"/>
                      <a:ext cx="25" cy="48"/>
                    </a:xfrm>
                    <a:custGeom>
                      <a:avLst/>
                      <a:gdLst>
                        <a:gd name="T0" fmla="*/ 0 w 43180"/>
                        <a:gd name="T1" fmla="*/ 46 h 21600"/>
                        <a:gd name="T2" fmla="*/ 25 w 43180"/>
                        <a:gd name="T3" fmla="*/ 48 h 21600"/>
                        <a:gd name="T4" fmla="*/ 12 w 43180"/>
                        <a:gd name="T5" fmla="*/ 48 h 216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180" h="21600" fill="none" extrusionOk="0">
                          <a:moveTo>
                            <a:pt x="0" y="20662"/>
                          </a:moveTo>
                          <a:cubicBezTo>
                            <a:pt x="502" y="9108"/>
                            <a:pt x="10015" y="-1"/>
                            <a:pt x="21580" y="0"/>
                          </a:cubicBezTo>
                          <a:cubicBezTo>
                            <a:pt x="33509" y="0"/>
                            <a:pt x="43180" y="9670"/>
                            <a:pt x="43180" y="21600"/>
                          </a:cubicBezTo>
                        </a:path>
                        <a:path w="43180" h="21600" stroke="0" extrusionOk="0">
                          <a:moveTo>
                            <a:pt x="0" y="20662"/>
                          </a:moveTo>
                          <a:cubicBezTo>
                            <a:pt x="502" y="9108"/>
                            <a:pt x="10015" y="-1"/>
                            <a:pt x="21580" y="0"/>
                          </a:cubicBezTo>
                          <a:cubicBezTo>
                            <a:pt x="33509" y="0"/>
                            <a:pt x="43180" y="9670"/>
                            <a:pt x="43180" y="21600"/>
                          </a:cubicBezTo>
                          <a:lnTo>
                            <a:pt x="21580" y="21600"/>
                          </a:lnTo>
                          <a:lnTo>
                            <a:pt x="0" y="20662"/>
                          </a:lnTo>
                          <a:close/>
                        </a:path>
                      </a:pathLst>
                    </a:custGeom>
                    <a:noFill/>
                    <a:ln w="63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 dirty="0"/>
                    </a:p>
                  </p:txBody>
                </p:sp>
                <p:sp>
                  <p:nvSpPr>
                    <p:cNvPr id="40" name="Arc 62"/>
                    <p:cNvSpPr>
                      <a:spLocks noChangeAspect="1"/>
                    </p:cNvSpPr>
                    <p:nvPr/>
                  </p:nvSpPr>
                  <p:spPr bwMode="auto">
                    <a:xfrm rot="5400000" flipV="1">
                      <a:off x="3947" y="1847"/>
                      <a:ext cx="24" cy="48"/>
                    </a:xfrm>
                    <a:custGeom>
                      <a:avLst/>
                      <a:gdLst>
                        <a:gd name="T0" fmla="*/ 0 w 43180"/>
                        <a:gd name="T1" fmla="*/ 46 h 21600"/>
                        <a:gd name="T2" fmla="*/ 24 w 43180"/>
                        <a:gd name="T3" fmla="*/ 48 h 21600"/>
                        <a:gd name="T4" fmla="*/ 12 w 43180"/>
                        <a:gd name="T5" fmla="*/ 48 h 216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180" h="21600" fill="none" extrusionOk="0">
                          <a:moveTo>
                            <a:pt x="0" y="20662"/>
                          </a:moveTo>
                          <a:cubicBezTo>
                            <a:pt x="502" y="9108"/>
                            <a:pt x="10015" y="-1"/>
                            <a:pt x="21580" y="0"/>
                          </a:cubicBezTo>
                          <a:cubicBezTo>
                            <a:pt x="33509" y="0"/>
                            <a:pt x="43180" y="9670"/>
                            <a:pt x="43180" y="21600"/>
                          </a:cubicBezTo>
                        </a:path>
                        <a:path w="43180" h="21600" stroke="0" extrusionOk="0">
                          <a:moveTo>
                            <a:pt x="0" y="20662"/>
                          </a:moveTo>
                          <a:cubicBezTo>
                            <a:pt x="502" y="9108"/>
                            <a:pt x="10015" y="-1"/>
                            <a:pt x="21580" y="0"/>
                          </a:cubicBezTo>
                          <a:cubicBezTo>
                            <a:pt x="33509" y="0"/>
                            <a:pt x="43180" y="9670"/>
                            <a:pt x="43180" y="21600"/>
                          </a:cubicBezTo>
                          <a:lnTo>
                            <a:pt x="21580" y="21600"/>
                          </a:lnTo>
                          <a:lnTo>
                            <a:pt x="0" y="20662"/>
                          </a:lnTo>
                          <a:close/>
                        </a:path>
                      </a:pathLst>
                    </a:custGeom>
                    <a:noFill/>
                    <a:ln w="63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 dirty="0"/>
                    </a:p>
                  </p:txBody>
                </p:sp>
                <p:sp>
                  <p:nvSpPr>
                    <p:cNvPr id="41" name="Line 63"/>
                    <p:cNvSpPr>
                      <a:spLocks noChangeAspect="1" noChangeShapeType="1"/>
                    </p:cNvSpPr>
                    <p:nvPr/>
                  </p:nvSpPr>
                  <p:spPr bwMode="auto">
                    <a:xfrm rot="5400000" flipH="1">
                      <a:off x="3941" y="1770"/>
                      <a:ext cx="83" cy="0"/>
                    </a:xfrm>
                    <a:prstGeom prst="line">
                      <a:avLst/>
                    </a:prstGeom>
                    <a:noFill/>
                    <a:ln w="63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GB" dirty="0"/>
                    </a:p>
                  </p:txBody>
                </p:sp>
                <p:sp>
                  <p:nvSpPr>
                    <p:cNvPr id="42" name="Line 64"/>
                    <p:cNvSpPr>
                      <a:spLocks noChangeAspect="1" noChangeShapeType="1"/>
                    </p:cNvSpPr>
                    <p:nvPr/>
                  </p:nvSpPr>
                  <p:spPr bwMode="auto">
                    <a:xfrm rot="5400000" flipH="1">
                      <a:off x="3940" y="2166"/>
                      <a:ext cx="85" cy="0"/>
                    </a:xfrm>
                    <a:prstGeom prst="line">
                      <a:avLst/>
                    </a:prstGeom>
                    <a:noFill/>
                    <a:ln w="63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GB" dirty="0"/>
                    </a:p>
                  </p:txBody>
                </p:sp>
                <p:sp>
                  <p:nvSpPr>
                    <p:cNvPr id="43" name="Arc 65"/>
                    <p:cNvSpPr>
                      <a:spLocks noChangeAspect="1"/>
                    </p:cNvSpPr>
                    <p:nvPr/>
                  </p:nvSpPr>
                  <p:spPr bwMode="auto">
                    <a:xfrm rot="5400000">
                      <a:off x="3970" y="1870"/>
                      <a:ext cx="72" cy="50"/>
                    </a:xfrm>
                    <a:custGeom>
                      <a:avLst/>
                      <a:gdLst>
                        <a:gd name="T0" fmla="*/ 0 w 43200"/>
                        <a:gd name="T1" fmla="*/ 50 h 22481"/>
                        <a:gd name="T2" fmla="*/ 72 w 43200"/>
                        <a:gd name="T3" fmla="*/ 48 h 22481"/>
                        <a:gd name="T4" fmla="*/ 36 w 43200"/>
                        <a:gd name="T5" fmla="*/ 48 h 22481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22481" fill="none" extrusionOk="0">
                          <a:moveTo>
                            <a:pt x="17" y="22481"/>
                          </a:moveTo>
                          <a:cubicBezTo>
                            <a:pt x="5" y="22187"/>
                            <a:pt x="0" y="21893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22481" stroke="0" extrusionOk="0">
                          <a:moveTo>
                            <a:pt x="17" y="22481"/>
                          </a:moveTo>
                          <a:cubicBezTo>
                            <a:pt x="5" y="22187"/>
                            <a:pt x="0" y="21893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17" y="22481"/>
                          </a:lnTo>
                          <a:close/>
                        </a:path>
                      </a:pathLst>
                    </a:custGeom>
                    <a:noFill/>
                    <a:ln w="63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 dirty="0"/>
                    </a:p>
                  </p:txBody>
                </p:sp>
                <p:sp>
                  <p:nvSpPr>
                    <p:cNvPr id="44" name="Arc 66"/>
                    <p:cNvSpPr>
                      <a:spLocks noChangeAspect="1"/>
                    </p:cNvSpPr>
                    <p:nvPr/>
                  </p:nvSpPr>
                  <p:spPr bwMode="auto">
                    <a:xfrm rot="5400000">
                      <a:off x="3970" y="1918"/>
                      <a:ext cx="72" cy="50"/>
                    </a:xfrm>
                    <a:custGeom>
                      <a:avLst/>
                      <a:gdLst>
                        <a:gd name="T0" fmla="*/ 0 w 43200"/>
                        <a:gd name="T1" fmla="*/ 50 h 22481"/>
                        <a:gd name="T2" fmla="*/ 72 w 43200"/>
                        <a:gd name="T3" fmla="*/ 48 h 22481"/>
                        <a:gd name="T4" fmla="*/ 36 w 43200"/>
                        <a:gd name="T5" fmla="*/ 48 h 22481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22481" fill="none" extrusionOk="0">
                          <a:moveTo>
                            <a:pt x="17" y="22481"/>
                          </a:moveTo>
                          <a:cubicBezTo>
                            <a:pt x="5" y="22187"/>
                            <a:pt x="0" y="21893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22481" stroke="0" extrusionOk="0">
                          <a:moveTo>
                            <a:pt x="17" y="22481"/>
                          </a:moveTo>
                          <a:cubicBezTo>
                            <a:pt x="5" y="22187"/>
                            <a:pt x="0" y="21893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17" y="22481"/>
                          </a:lnTo>
                          <a:close/>
                        </a:path>
                      </a:pathLst>
                    </a:custGeom>
                    <a:noFill/>
                    <a:ln w="63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 dirty="0"/>
                    </a:p>
                  </p:txBody>
                </p:sp>
                <p:sp>
                  <p:nvSpPr>
                    <p:cNvPr id="45" name="Arc 67"/>
                    <p:cNvSpPr>
                      <a:spLocks noChangeAspect="1"/>
                    </p:cNvSpPr>
                    <p:nvPr/>
                  </p:nvSpPr>
                  <p:spPr bwMode="auto">
                    <a:xfrm rot="5400000" flipV="1">
                      <a:off x="3947" y="2039"/>
                      <a:ext cx="24" cy="48"/>
                    </a:xfrm>
                    <a:custGeom>
                      <a:avLst/>
                      <a:gdLst>
                        <a:gd name="T0" fmla="*/ 0 w 43180"/>
                        <a:gd name="T1" fmla="*/ 46 h 21600"/>
                        <a:gd name="T2" fmla="*/ 24 w 43180"/>
                        <a:gd name="T3" fmla="*/ 48 h 21600"/>
                        <a:gd name="T4" fmla="*/ 12 w 43180"/>
                        <a:gd name="T5" fmla="*/ 48 h 216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180" h="21600" fill="none" extrusionOk="0">
                          <a:moveTo>
                            <a:pt x="0" y="20662"/>
                          </a:moveTo>
                          <a:cubicBezTo>
                            <a:pt x="502" y="9108"/>
                            <a:pt x="10015" y="-1"/>
                            <a:pt x="21580" y="0"/>
                          </a:cubicBezTo>
                          <a:cubicBezTo>
                            <a:pt x="33509" y="0"/>
                            <a:pt x="43180" y="9670"/>
                            <a:pt x="43180" y="21600"/>
                          </a:cubicBezTo>
                        </a:path>
                        <a:path w="43180" h="21600" stroke="0" extrusionOk="0">
                          <a:moveTo>
                            <a:pt x="0" y="20662"/>
                          </a:moveTo>
                          <a:cubicBezTo>
                            <a:pt x="502" y="9108"/>
                            <a:pt x="10015" y="-1"/>
                            <a:pt x="21580" y="0"/>
                          </a:cubicBezTo>
                          <a:cubicBezTo>
                            <a:pt x="33509" y="0"/>
                            <a:pt x="43180" y="9670"/>
                            <a:pt x="43180" y="21600"/>
                          </a:cubicBezTo>
                          <a:lnTo>
                            <a:pt x="21580" y="21600"/>
                          </a:lnTo>
                          <a:lnTo>
                            <a:pt x="0" y="20662"/>
                          </a:lnTo>
                          <a:close/>
                        </a:path>
                      </a:pathLst>
                    </a:custGeom>
                    <a:noFill/>
                    <a:ln w="63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 dirty="0"/>
                    </a:p>
                  </p:txBody>
                </p:sp>
                <p:sp>
                  <p:nvSpPr>
                    <p:cNvPr id="46" name="Arc 68"/>
                    <p:cNvSpPr>
                      <a:spLocks noChangeAspect="1"/>
                    </p:cNvSpPr>
                    <p:nvPr/>
                  </p:nvSpPr>
                  <p:spPr bwMode="auto">
                    <a:xfrm rot="5400000">
                      <a:off x="3970" y="1966"/>
                      <a:ext cx="72" cy="50"/>
                    </a:xfrm>
                    <a:custGeom>
                      <a:avLst/>
                      <a:gdLst>
                        <a:gd name="T0" fmla="*/ 0 w 43200"/>
                        <a:gd name="T1" fmla="*/ 50 h 22481"/>
                        <a:gd name="T2" fmla="*/ 72 w 43200"/>
                        <a:gd name="T3" fmla="*/ 48 h 22481"/>
                        <a:gd name="T4" fmla="*/ 36 w 43200"/>
                        <a:gd name="T5" fmla="*/ 48 h 22481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22481" fill="none" extrusionOk="0">
                          <a:moveTo>
                            <a:pt x="17" y="22481"/>
                          </a:moveTo>
                          <a:cubicBezTo>
                            <a:pt x="5" y="22187"/>
                            <a:pt x="0" y="21893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22481" stroke="0" extrusionOk="0">
                          <a:moveTo>
                            <a:pt x="17" y="22481"/>
                          </a:moveTo>
                          <a:cubicBezTo>
                            <a:pt x="5" y="22187"/>
                            <a:pt x="0" y="21893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17" y="22481"/>
                          </a:lnTo>
                          <a:close/>
                        </a:path>
                      </a:pathLst>
                    </a:custGeom>
                    <a:noFill/>
                    <a:ln w="63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 dirty="0"/>
                    </a:p>
                  </p:txBody>
                </p:sp>
                <p:sp>
                  <p:nvSpPr>
                    <p:cNvPr id="47" name="Arc 69"/>
                    <p:cNvSpPr>
                      <a:spLocks noChangeAspect="1"/>
                    </p:cNvSpPr>
                    <p:nvPr/>
                  </p:nvSpPr>
                  <p:spPr bwMode="auto">
                    <a:xfrm rot="5400000">
                      <a:off x="3970" y="2014"/>
                      <a:ext cx="72" cy="50"/>
                    </a:xfrm>
                    <a:custGeom>
                      <a:avLst/>
                      <a:gdLst>
                        <a:gd name="T0" fmla="*/ 0 w 43200"/>
                        <a:gd name="T1" fmla="*/ 50 h 22481"/>
                        <a:gd name="T2" fmla="*/ 72 w 43200"/>
                        <a:gd name="T3" fmla="*/ 48 h 22481"/>
                        <a:gd name="T4" fmla="*/ 36 w 43200"/>
                        <a:gd name="T5" fmla="*/ 48 h 22481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22481" fill="none" extrusionOk="0">
                          <a:moveTo>
                            <a:pt x="17" y="22481"/>
                          </a:moveTo>
                          <a:cubicBezTo>
                            <a:pt x="5" y="22187"/>
                            <a:pt x="0" y="21893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22481" stroke="0" extrusionOk="0">
                          <a:moveTo>
                            <a:pt x="17" y="22481"/>
                          </a:moveTo>
                          <a:cubicBezTo>
                            <a:pt x="5" y="22187"/>
                            <a:pt x="0" y="21893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17" y="22481"/>
                          </a:lnTo>
                          <a:close/>
                        </a:path>
                      </a:pathLst>
                    </a:custGeom>
                    <a:noFill/>
                    <a:ln w="63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 dirty="0"/>
                    </a:p>
                  </p:txBody>
                </p:sp>
                <p:sp>
                  <p:nvSpPr>
                    <p:cNvPr id="48" name="Arc 70"/>
                    <p:cNvSpPr>
                      <a:spLocks noChangeAspect="1"/>
                    </p:cNvSpPr>
                    <p:nvPr/>
                  </p:nvSpPr>
                  <p:spPr bwMode="auto">
                    <a:xfrm rot="5400000">
                      <a:off x="3969" y="1823"/>
                      <a:ext cx="73" cy="50"/>
                    </a:xfrm>
                    <a:custGeom>
                      <a:avLst/>
                      <a:gdLst>
                        <a:gd name="T0" fmla="*/ 0 w 43200"/>
                        <a:gd name="T1" fmla="*/ 50 h 22481"/>
                        <a:gd name="T2" fmla="*/ 73 w 43200"/>
                        <a:gd name="T3" fmla="*/ 48 h 22481"/>
                        <a:gd name="T4" fmla="*/ 37 w 43200"/>
                        <a:gd name="T5" fmla="*/ 48 h 22481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22481" fill="none" extrusionOk="0">
                          <a:moveTo>
                            <a:pt x="17" y="22481"/>
                          </a:moveTo>
                          <a:cubicBezTo>
                            <a:pt x="5" y="22187"/>
                            <a:pt x="0" y="21893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22481" stroke="0" extrusionOk="0">
                          <a:moveTo>
                            <a:pt x="17" y="22481"/>
                          </a:moveTo>
                          <a:cubicBezTo>
                            <a:pt x="5" y="22187"/>
                            <a:pt x="0" y="21893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17" y="22481"/>
                          </a:lnTo>
                          <a:close/>
                        </a:path>
                      </a:pathLst>
                    </a:custGeom>
                    <a:noFill/>
                    <a:ln w="63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 dirty="0"/>
                    </a:p>
                  </p:txBody>
                </p:sp>
                <p:sp>
                  <p:nvSpPr>
                    <p:cNvPr id="49" name="Arc 71"/>
                    <p:cNvSpPr>
                      <a:spLocks noChangeAspect="1"/>
                    </p:cNvSpPr>
                    <p:nvPr/>
                  </p:nvSpPr>
                  <p:spPr bwMode="auto">
                    <a:xfrm rot="5400000">
                      <a:off x="3969" y="2063"/>
                      <a:ext cx="73" cy="50"/>
                    </a:xfrm>
                    <a:custGeom>
                      <a:avLst/>
                      <a:gdLst>
                        <a:gd name="T0" fmla="*/ 0 w 43200"/>
                        <a:gd name="T1" fmla="*/ 50 h 22481"/>
                        <a:gd name="T2" fmla="*/ 73 w 43200"/>
                        <a:gd name="T3" fmla="*/ 48 h 22481"/>
                        <a:gd name="T4" fmla="*/ 37 w 43200"/>
                        <a:gd name="T5" fmla="*/ 48 h 22481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22481" fill="none" extrusionOk="0">
                          <a:moveTo>
                            <a:pt x="17" y="22481"/>
                          </a:moveTo>
                          <a:cubicBezTo>
                            <a:pt x="5" y="22187"/>
                            <a:pt x="0" y="21893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22481" stroke="0" extrusionOk="0">
                          <a:moveTo>
                            <a:pt x="17" y="22481"/>
                          </a:moveTo>
                          <a:cubicBezTo>
                            <a:pt x="5" y="22187"/>
                            <a:pt x="0" y="21893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17" y="22481"/>
                          </a:lnTo>
                          <a:close/>
                        </a:path>
                      </a:pathLst>
                    </a:custGeom>
                    <a:noFill/>
                    <a:ln w="63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 dirty="0"/>
                    </a:p>
                  </p:txBody>
                </p:sp>
              </p:grpSp>
              <p:grpSp>
                <p:nvGrpSpPr>
                  <p:cNvPr id="31" name="Group 30"/>
                  <p:cNvGrpSpPr/>
                  <p:nvPr/>
                </p:nvGrpSpPr>
                <p:grpSpPr>
                  <a:xfrm>
                    <a:off x="3504247" y="3217490"/>
                    <a:ext cx="150336" cy="220980"/>
                    <a:chOff x="3679999" y="3297506"/>
                    <a:chExt cx="150336" cy="220980"/>
                  </a:xfrm>
                </p:grpSpPr>
                <p:sp>
                  <p:nvSpPr>
                    <p:cNvPr id="35" name="Freeform 34"/>
                    <p:cNvSpPr/>
                    <p:nvPr/>
                  </p:nvSpPr>
                  <p:spPr>
                    <a:xfrm>
                      <a:off x="3679999" y="3297506"/>
                      <a:ext cx="150336" cy="220980"/>
                    </a:xfrm>
                    <a:custGeom>
                      <a:avLst/>
                      <a:gdLst>
                        <a:gd name="connsiteX0" fmla="*/ 0 w 226060"/>
                        <a:gd name="connsiteY0" fmla="*/ 0 h 220980"/>
                        <a:gd name="connsiteX1" fmla="*/ 226060 w 226060"/>
                        <a:gd name="connsiteY1" fmla="*/ 0 h 220980"/>
                        <a:gd name="connsiteX2" fmla="*/ 226060 w 226060"/>
                        <a:gd name="connsiteY2" fmla="*/ 220980 h 220980"/>
                        <a:gd name="connsiteX3" fmla="*/ 5080 w 226060"/>
                        <a:gd name="connsiteY3" fmla="*/ 220980 h 2209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26060" h="220980">
                          <a:moveTo>
                            <a:pt x="0" y="0"/>
                          </a:moveTo>
                          <a:lnTo>
                            <a:pt x="226060" y="0"/>
                          </a:lnTo>
                          <a:lnTo>
                            <a:pt x="226060" y="220980"/>
                          </a:lnTo>
                          <a:lnTo>
                            <a:pt x="5080" y="220980"/>
                          </a:lnTo>
                        </a:path>
                      </a:pathLst>
                    </a:cu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dirty="0"/>
                    </a:p>
                  </p:txBody>
                </p:sp>
                <p:cxnSp>
                  <p:nvCxnSpPr>
                    <p:cNvPr id="36" name="Straight Connector 35"/>
                    <p:cNvCxnSpPr/>
                    <p:nvPr/>
                  </p:nvCxnSpPr>
                  <p:spPr>
                    <a:xfrm>
                      <a:off x="3737943" y="3322946"/>
                      <a:ext cx="0" cy="170100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32" name="Rectangle 31"/>
                  <p:cNvSpPr/>
                  <p:nvPr/>
                </p:nvSpPr>
                <p:spPr>
                  <a:xfrm>
                    <a:off x="3929237" y="2954548"/>
                    <a:ext cx="360040" cy="458482"/>
                  </a:xfrm>
                  <a:prstGeom prst="rect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r>
                      <a:rPr lang="en-GB" b="1" dirty="0" smtClean="0"/>
                      <a:t>M</a:t>
                    </a:r>
                    <a:endParaRPr lang="en-GB" b="1" dirty="0"/>
                  </a:p>
                </p:txBody>
              </p:sp>
              <p:cxnSp>
                <p:nvCxnSpPr>
                  <p:cNvPr id="33" name="Straight Connector 32"/>
                  <p:cNvCxnSpPr/>
                  <p:nvPr/>
                </p:nvCxnSpPr>
                <p:spPr>
                  <a:xfrm flipH="1">
                    <a:off x="3641901" y="3307080"/>
                    <a:ext cx="287336" cy="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" name="Straight Connector 33"/>
                  <p:cNvCxnSpPr/>
                  <p:nvPr/>
                </p:nvCxnSpPr>
                <p:spPr>
                  <a:xfrm flipH="1">
                    <a:off x="3167237" y="3327980"/>
                    <a:ext cx="397669" cy="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pic>
              <p:nvPicPr>
                <p:cNvPr id="24" name="Picture 28" descr="D:\Documents and Settings\Dmitry\Local Settings\Temporary Internet Files\Content.IE5\KLX8K8U0\MC900064950[1].wmf"/>
                <p:cNvPicPr>
                  <a:picLocks noChangeAspect="1" noChangeArrowheads="1"/>
                </p:cNvPicPr>
                <p:nvPr/>
              </p:nvPicPr>
              <p:blipFill>
                <a:blip r:embed="rId2"/>
                <a:srcRect/>
                <a:stretch>
                  <a:fillRect/>
                </a:stretch>
              </p:blipFill>
              <p:spPr bwMode="auto">
                <a:xfrm>
                  <a:off x="5386557" y="3739814"/>
                  <a:ext cx="433912" cy="382727"/>
                </a:xfrm>
                <a:prstGeom prst="rect">
                  <a:avLst/>
                </a:prstGeom>
                <a:noFill/>
              </p:spPr>
            </p:pic>
            <p:sp>
              <p:nvSpPr>
                <p:cNvPr id="25" name="Left Brace 24"/>
                <p:cNvSpPr/>
                <p:nvPr/>
              </p:nvSpPr>
              <p:spPr>
                <a:xfrm rot="16200000">
                  <a:off x="2711086" y="2747799"/>
                  <a:ext cx="319408" cy="1274098"/>
                </a:xfrm>
                <a:prstGeom prst="leftBrace">
                  <a:avLst>
                    <a:gd name="adj1" fmla="val 64085"/>
                    <a:gd name="adj2" fmla="val 50000"/>
                  </a:avLst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GB" dirty="0"/>
                </a:p>
              </p:txBody>
            </p:sp>
            <p:sp>
              <p:nvSpPr>
                <p:cNvPr id="26" name="Up-Down Arrow 25"/>
                <p:cNvSpPr/>
                <p:nvPr/>
              </p:nvSpPr>
              <p:spPr>
                <a:xfrm>
                  <a:off x="2325266" y="3443529"/>
                  <a:ext cx="210055" cy="360142"/>
                </a:xfrm>
                <a:prstGeom prst="upDownArrow">
                  <a:avLst/>
                </a:prstGeom>
                <a:ln w="28575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dirty="0"/>
                </a:p>
              </p:txBody>
            </p:sp>
            <p:sp>
              <p:nvSpPr>
                <p:cNvPr id="27" name="TextBox 26"/>
                <p:cNvSpPr txBox="1"/>
                <p:nvPr/>
              </p:nvSpPr>
              <p:spPr>
                <a:xfrm>
                  <a:off x="3567755" y="2465592"/>
                  <a:ext cx="86409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 smtClean="0"/>
                    <a:t>Walls</a:t>
                  </a:r>
                  <a:endParaRPr lang="en-GB" sz="1400" dirty="0"/>
                </a:p>
              </p:txBody>
            </p:sp>
            <p:sp>
              <p:nvSpPr>
                <p:cNvPr id="28" name="TextBox 27"/>
                <p:cNvSpPr txBox="1"/>
                <p:nvPr/>
              </p:nvSpPr>
              <p:spPr>
                <a:xfrm>
                  <a:off x="3532214" y="3308547"/>
                  <a:ext cx="124078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b="1" dirty="0" smtClean="0"/>
                    <a:t>Reflections</a:t>
                  </a:r>
                  <a:endParaRPr lang="en-GB" b="1" dirty="0"/>
                </a:p>
              </p:txBody>
            </p:sp>
            <p:sp>
              <p:nvSpPr>
                <p:cNvPr id="29" name="TextBox 28"/>
                <p:cNvSpPr txBox="1"/>
                <p:nvPr/>
              </p:nvSpPr>
              <p:spPr>
                <a:xfrm>
                  <a:off x="383036" y="2846882"/>
                  <a:ext cx="1949150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1" dirty="0" smtClean="0"/>
                    <a:t>Electromechanical coupling</a:t>
                  </a:r>
                  <a:endParaRPr lang="en-GB" b="1" dirty="0"/>
                </a:p>
              </p:txBody>
            </p:sp>
          </p:grpSp>
          <p:grpSp>
            <p:nvGrpSpPr>
              <p:cNvPr id="6" name="Group 60"/>
              <p:cNvGrpSpPr>
                <a:grpSpLocks/>
              </p:cNvGrpSpPr>
              <p:nvPr/>
            </p:nvGrpSpPr>
            <p:grpSpPr bwMode="auto">
              <a:xfrm>
                <a:off x="210952" y="2048643"/>
                <a:ext cx="803776" cy="560269"/>
                <a:chOff x="3702" y="3427"/>
                <a:chExt cx="576" cy="461"/>
              </a:xfrm>
            </p:grpSpPr>
            <p:sp>
              <p:nvSpPr>
                <p:cNvPr id="7" name="Line 55"/>
                <p:cNvSpPr>
                  <a:spLocks noChangeShapeType="1"/>
                </p:cNvSpPr>
                <p:nvPr/>
              </p:nvSpPr>
              <p:spPr bwMode="auto">
                <a:xfrm>
                  <a:off x="3702" y="3658"/>
                  <a:ext cx="576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GB" dirty="0"/>
                </a:p>
              </p:txBody>
            </p:sp>
            <p:sp>
              <p:nvSpPr>
                <p:cNvPr id="8" name="AutoShape 56"/>
                <p:cNvSpPr>
                  <a:spLocks noChangeArrowheads="1"/>
                </p:cNvSpPr>
                <p:nvPr/>
              </p:nvSpPr>
              <p:spPr bwMode="auto">
                <a:xfrm rot="5400000">
                  <a:off x="3771" y="3497"/>
                  <a:ext cx="461" cy="322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vert="eaVert" wrap="none" anchor="ctr"/>
                <a:lstStyle/>
                <a:p>
                  <a:r>
                    <a:rPr lang="en-US" sz="1400" dirty="0" smtClean="0"/>
                    <a:t>PA</a:t>
                  </a:r>
                  <a:endParaRPr lang="en-US" sz="1400" dirty="0"/>
                </a:p>
              </p:txBody>
            </p:sp>
          </p:grpSp>
        </p:grpSp>
        <p:sp>
          <p:nvSpPr>
            <p:cNvPr id="117" name="Rectangle 116"/>
            <p:cNvSpPr/>
            <p:nvPr/>
          </p:nvSpPr>
          <p:spPr>
            <a:xfrm>
              <a:off x="-108520" y="1234963"/>
              <a:ext cx="1008112" cy="737407"/>
            </a:xfrm>
            <a:prstGeom prst="rect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GB" sz="1600" dirty="0" smtClean="0"/>
                <a:t>Digitally stored sound</a:t>
              </a:r>
              <a:endParaRPr lang="en-GB" sz="1600" dirty="0"/>
            </a:p>
          </p:txBody>
        </p:sp>
        <p:sp>
          <p:nvSpPr>
            <p:cNvPr id="118" name="Rectangle 117"/>
            <p:cNvSpPr/>
            <p:nvPr/>
          </p:nvSpPr>
          <p:spPr>
            <a:xfrm>
              <a:off x="1046069" y="1334696"/>
              <a:ext cx="459536" cy="537944"/>
            </a:xfrm>
            <a:prstGeom prst="rect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GB" sz="1400" dirty="0" smtClean="0"/>
                <a:t>D/A</a:t>
              </a:r>
              <a:endParaRPr lang="en-GB" sz="1400" dirty="0"/>
            </a:p>
          </p:txBody>
        </p:sp>
        <p:cxnSp>
          <p:nvCxnSpPr>
            <p:cNvPr id="120" name="Straight Arrow Connector 119"/>
            <p:cNvCxnSpPr>
              <a:stCxn id="7" idx="0"/>
              <a:endCxn id="8" idx="3"/>
            </p:cNvCxnSpPr>
            <p:nvPr/>
          </p:nvCxnSpPr>
          <p:spPr>
            <a:xfrm>
              <a:off x="1499649" y="1614829"/>
              <a:ext cx="193269" cy="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Arrow Connector 121"/>
            <p:cNvCxnSpPr>
              <a:stCxn id="117" idx="3"/>
              <a:endCxn id="118" idx="1"/>
            </p:cNvCxnSpPr>
            <p:nvPr/>
          </p:nvCxnSpPr>
          <p:spPr>
            <a:xfrm>
              <a:off x="899592" y="1603667"/>
              <a:ext cx="146477" cy="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5" name="Group 124"/>
          <p:cNvGrpSpPr/>
          <p:nvPr/>
        </p:nvGrpSpPr>
        <p:grpSpPr>
          <a:xfrm>
            <a:off x="491537" y="3522831"/>
            <a:ext cx="6917823" cy="2985111"/>
            <a:chOff x="491537" y="3522831"/>
            <a:chExt cx="6917823" cy="2985111"/>
          </a:xfrm>
        </p:grpSpPr>
        <p:grpSp>
          <p:nvGrpSpPr>
            <p:cNvPr id="88" name="Group 87"/>
            <p:cNvGrpSpPr/>
            <p:nvPr/>
          </p:nvGrpSpPr>
          <p:grpSpPr>
            <a:xfrm>
              <a:off x="1503144" y="3522831"/>
              <a:ext cx="5906216" cy="2985111"/>
              <a:chOff x="107504" y="3593968"/>
              <a:chExt cx="5906216" cy="2985111"/>
            </a:xfrm>
          </p:grpSpPr>
          <p:pic>
            <p:nvPicPr>
              <p:cNvPr id="89" name="Picture 4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36439" y="4831690"/>
                <a:ext cx="1335189" cy="104668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grpSp>
            <p:nvGrpSpPr>
              <p:cNvPr id="90" name="Group 864"/>
              <p:cNvGrpSpPr>
                <a:grpSpLocks/>
              </p:cNvGrpSpPr>
              <p:nvPr/>
            </p:nvGrpSpPr>
            <p:grpSpPr bwMode="auto">
              <a:xfrm>
                <a:off x="1891599" y="4757427"/>
                <a:ext cx="948902" cy="561484"/>
                <a:chOff x="1739" y="1698"/>
                <a:chExt cx="680" cy="462"/>
              </a:xfrm>
            </p:grpSpPr>
            <p:grpSp>
              <p:nvGrpSpPr>
                <p:cNvPr id="112" name="Group 60"/>
                <p:cNvGrpSpPr>
                  <a:grpSpLocks/>
                </p:cNvGrpSpPr>
                <p:nvPr/>
              </p:nvGrpSpPr>
              <p:grpSpPr bwMode="auto">
                <a:xfrm>
                  <a:off x="1739" y="1698"/>
                  <a:ext cx="680" cy="461"/>
                  <a:chOff x="3352" y="3427"/>
                  <a:chExt cx="680" cy="461"/>
                </a:xfrm>
              </p:grpSpPr>
              <p:sp>
                <p:nvSpPr>
                  <p:cNvPr id="114" name="Line 55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352" y="3658"/>
                    <a:ext cx="680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GB" dirty="0"/>
                  </a:p>
                </p:txBody>
              </p:sp>
              <p:sp>
                <p:nvSpPr>
                  <p:cNvPr id="115" name="AutoShape 56"/>
                  <p:cNvSpPr>
                    <a:spLocks noChangeArrowheads="1"/>
                  </p:cNvSpPr>
                  <p:nvPr/>
                </p:nvSpPr>
                <p:spPr bwMode="auto">
                  <a:xfrm rot="5400000">
                    <a:off x="3525" y="3497"/>
                    <a:ext cx="461" cy="322"/>
                  </a:xfrm>
                  <a:prstGeom prst="triangle">
                    <a:avLst>
                      <a:gd name="adj" fmla="val 50000"/>
                    </a:avLst>
                  </a:prstGeom>
                  <a:solidFill>
                    <a:schemeClr val="bg1"/>
                  </a:solidFill>
                  <a:ln w="1905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10800000" vert="eaVert" wrap="none" anchor="ctr"/>
                  <a:lstStyle/>
                  <a:p>
                    <a:r>
                      <a:rPr lang="en-US" sz="1200" dirty="0" smtClean="0"/>
                      <a:t>D/A</a:t>
                    </a:r>
                    <a:endParaRPr lang="en-US" sz="1200" dirty="0"/>
                  </a:p>
                </p:txBody>
              </p:sp>
            </p:grpSp>
            <p:sp>
              <p:nvSpPr>
                <p:cNvPr id="113" name="Freeform 863"/>
                <p:cNvSpPr>
                  <a:spLocks/>
                </p:cNvSpPr>
                <p:nvPr/>
              </p:nvSpPr>
              <p:spPr bwMode="auto">
                <a:xfrm>
                  <a:off x="1843" y="1699"/>
                  <a:ext cx="576" cy="461"/>
                </a:xfrm>
                <a:custGeom>
                  <a:avLst/>
                  <a:gdLst>
                    <a:gd name="T0" fmla="*/ 0 w 576"/>
                    <a:gd name="T1" fmla="*/ 231 h 461"/>
                    <a:gd name="T2" fmla="*/ 115 w 576"/>
                    <a:gd name="T3" fmla="*/ 461 h 461"/>
                    <a:gd name="T4" fmla="*/ 576 w 576"/>
                    <a:gd name="T5" fmla="*/ 231 h 461"/>
                    <a:gd name="T6" fmla="*/ 115 w 576"/>
                    <a:gd name="T7" fmla="*/ 0 h 461"/>
                    <a:gd name="T8" fmla="*/ 0 w 576"/>
                    <a:gd name="T9" fmla="*/ 231 h 46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576" h="461">
                      <a:moveTo>
                        <a:pt x="0" y="231"/>
                      </a:moveTo>
                      <a:lnTo>
                        <a:pt x="115" y="461"/>
                      </a:lnTo>
                      <a:lnTo>
                        <a:pt x="576" y="231"/>
                      </a:lnTo>
                      <a:lnTo>
                        <a:pt x="115" y="0"/>
                      </a:lnTo>
                      <a:lnTo>
                        <a:pt x="0" y="231"/>
                      </a:lnTo>
                      <a:close/>
                    </a:path>
                  </a:pathLst>
                </a:cu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 dirty="0"/>
                </a:p>
              </p:txBody>
            </p:sp>
          </p:grpSp>
          <p:grpSp>
            <p:nvGrpSpPr>
              <p:cNvPr id="91" name="Group 307"/>
              <p:cNvGrpSpPr>
                <a:grpSpLocks/>
              </p:cNvGrpSpPr>
              <p:nvPr/>
            </p:nvGrpSpPr>
            <p:grpSpPr bwMode="auto">
              <a:xfrm>
                <a:off x="2830370" y="4580969"/>
                <a:ext cx="461963" cy="914400"/>
                <a:chOff x="2514" y="547"/>
                <a:chExt cx="291" cy="576"/>
              </a:xfrm>
            </p:grpSpPr>
            <p:sp>
              <p:nvSpPr>
                <p:cNvPr id="110" name="Freeform 132"/>
                <p:cNvSpPr>
                  <a:spLocks/>
                </p:cNvSpPr>
                <p:nvPr/>
              </p:nvSpPr>
              <p:spPr bwMode="auto">
                <a:xfrm>
                  <a:off x="2540" y="547"/>
                  <a:ext cx="232" cy="576"/>
                </a:xfrm>
                <a:custGeom>
                  <a:avLst/>
                  <a:gdLst>
                    <a:gd name="T0" fmla="*/ 232 w 232"/>
                    <a:gd name="T1" fmla="*/ 576 h 576"/>
                    <a:gd name="T2" fmla="*/ 232 w 232"/>
                    <a:gd name="T3" fmla="*/ 0 h 576"/>
                    <a:gd name="T4" fmla="*/ 116 w 232"/>
                    <a:gd name="T5" fmla="*/ 173 h 576"/>
                    <a:gd name="T6" fmla="*/ 1 w 232"/>
                    <a:gd name="T7" fmla="*/ 173 h 576"/>
                    <a:gd name="T8" fmla="*/ 1 w 232"/>
                    <a:gd name="T9" fmla="*/ 230 h 576"/>
                    <a:gd name="T10" fmla="*/ 0 w 232"/>
                    <a:gd name="T11" fmla="*/ 347 h 576"/>
                    <a:gd name="T12" fmla="*/ 1 w 232"/>
                    <a:gd name="T13" fmla="*/ 403 h 576"/>
                    <a:gd name="T14" fmla="*/ 116 w 232"/>
                    <a:gd name="T15" fmla="*/ 403 h 576"/>
                    <a:gd name="T16" fmla="*/ 232 w 232"/>
                    <a:gd name="T17" fmla="*/ 576 h 57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232" h="576">
                      <a:moveTo>
                        <a:pt x="232" y="576"/>
                      </a:moveTo>
                      <a:lnTo>
                        <a:pt x="232" y="0"/>
                      </a:lnTo>
                      <a:lnTo>
                        <a:pt x="116" y="173"/>
                      </a:lnTo>
                      <a:lnTo>
                        <a:pt x="1" y="173"/>
                      </a:lnTo>
                      <a:lnTo>
                        <a:pt x="1" y="230"/>
                      </a:lnTo>
                      <a:lnTo>
                        <a:pt x="0" y="347"/>
                      </a:lnTo>
                      <a:lnTo>
                        <a:pt x="1" y="403"/>
                      </a:lnTo>
                      <a:lnTo>
                        <a:pt x="116" y="403"/>
                      </a:lnTo>
                      <a:lnTo>
                        <a:pt x="232" y="576"/>
                      </a:lnTo>
                      <a:close/>
                    </a:path>
                  </a:pathLst>
                </a:cu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GB" dirty="0"/>
                </a:p>
              </p:txBody>
            </p:sp>
            <p:sp>
              <p:nvSpPr>
                <p:cNvPr id="111" name="Text Box 133"/>
                <p:cNvSpPr txBox="1">
                  <a:spLocks noChangeArrowheads="1"/>
                </p:cNvSpPr>
                <p:nvPr/>
              </p:nvSpPr>
              <p:spPr bwMode="auto">
                <a:xfrm>
                  <a:off x="2514" y="762"/>
                  <a:ext cx="291" cy="13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algn="l" eaLnBrk="1" hangingPunct="1"/>
                  <a:r>
                    <a:rPr lang="en-US" sz="800" dirty="0"/>
                    <a:t>SPKR</a:t>
                  </a:r>
                </a:p>
              </p:txBody>
            </p:sp>
          </p:grpSp>
          <p:cxnSp>
            <p:nvCxnSpPr>
              <p:cNvPr id="92" name="Straight Arrow Connector 91"/>
              <p:cNvCxnSpPr/>
              <p:nvPr/>
            </p:nvCxnSpPr>
            <p:spPr>
              <a:xfrm>
                <a:off x="3254068" y="5038776"/>
                <a:ext cx="23042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Connector 92"/>
              <p:cNvCxnSpPr/>
              <p:nvPr/>
            </p:nvCxnSpPr>
            <p:spPr>
              <a:xfrm flipV="1">
                <a:off x="3261375" y="3875953"/>
                <a:ext cx="885212" cy="1162824"/>
              </a:xfrm>
              <a:prstGeom prst="line">
                <a:avLst/>
              </a:prstGeom>
              <a:ln w="127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/>
              <p:cNvCxnSpPr/>
              <p:nvPr/>
            </p:nvCxnSpPr>
            <p:spPr>
              <a:xfrm>
                <a:off x="4146587" y="3875953"/>
                <a:ext cx="1411737" cy="1132948"/>
              </a:xfrm>
              <a:prstGeom prst="straightConnector1">
                <a:avLst/>
              </a:prstGeom>
              <a:ln w="12700">
                <a:solidFill>
                  <a:schemeClr val="accent2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95" name="Picture 28" descr="D:\Documents and Settings\Dmitry\Local Settings\Temporary Internet Files\Content.IE5\KLX8K8U0\MC900064950[1].wmf"/>
              <p:cNvPicPr>
                <a:picLocks noChangeAspect="1" noChangeArrowheads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 bwMode="auto">
              <a:xfrm>
                <a:off x="5558324" y="4837939"/>
                <a:ext cx="455396" cy="401676"/>
              </a:xfrm>
              <a:prstGeom prst="rect">
                <a:avLst/>
              </a:prstGeom>
              <a:noFill/>
            </p:spPr>
          </p:pic>
          <p:sp>
            <p:nvSpPr>
              <p:cNvPr id="96" name="TextBox 95"/>
              <p:cNvSpPr txBox="1"/>
              <p:nvPr/>
            </p:nvSpPr>
            <p:spPr>
              <a:xfrm>
                <a:off x="3804354" y="3593968"/>
                <a:ext cx="86409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 smtClean="0"/>
                  <a:t>Walls</a:t>
                </a:r>
                <a:endParaRPr lang="en-GB" sz="1400" dirty="0"/>
              </a:p>
            </p:txBody>
          </p:sp>
          <p:cxnSp>
            <p:nvCxnSpPr>
              <p:cNvPr id="97" name="Straight Connector 96"/>
              <p:cNvCxnSpPr/>
              <p:nvPr/>
            </p:nvCxnSpPr>
            <p:spPr>
              <a:xfrm flipV="1">
                <a:off x="3744152" y="3875951"/>
                <a:ext cx="712100" cy="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8" name="TextBox 97"/>
              <p:cNvSpPr txBox="1"/>
              <p:nvPr/>
            </p:nvSpPr>
            <p:spPr>
              <a:xfrm>
                <a:off x="3744152" y="4440247"/>
                <a:ext cx="12407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b="1" dirty="0" smtClean="0"/>
                  <a:t>Reflections</a:t>
                </a:r>
                <a:endParaRPr lang="en-GB" b="1" dirty="0"/>
              </a:p>
            </p:txBody>
          </p:sp>
          <p:sp>
            <p:nvSpPr>
              <p:cNvPr id="99" name="Freeform 98"/>
              <p:cNvSpPr/>
              <p:nvPr/>
            </p:nvSpPr>
            <p:spPr>
              <a:xfrm>
                <a:off x="1174361" y="4225115"/>
                <a:ext cx="2900639" cy="501851"/>
              </a:xfrm>
              <a:custGeom>
                <a:avLst/>
                <a:gdLst>
                  <a:gd name="connsiteX0" fmla="*/ 2993136 w 2993136"/>
                  <a:gd name="connsiteY0" fmla="*/ 298704 h 451104"/>
                  <a:gd name="connsiteX1" fmla="*/ 2987040 w 2993136"/>
                  <a:gd name="connsiteY1" fmla="*/ 0 h 451104"/>
                  <a:gd name="connsiteX2" fmla="*/ 0 w 2993136"/>
                  <a:gd name="connsiteY2" fmla="*/ 0 h 451104"/>
                  <a:gd name="connsiteX3" fmla="*/ 0 w 2993136"/>
                  <a:gd name="connsiteY3" fmla="*/ 451104 h 451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93136" h="451104">
                    <a:moveTo>
                      <a:pt x="2993136" y="298704"/>
                    </a:moveTo>
                    <a:lnTo>
                      <a:pt x="2987040" y="0"/>
                    </a:lnTo>
                    <a:lnTo>
                      <a:pt x="0" y="0"/>
                    </a:lnTo>
                    <a:lnTo>
                      <a:pt x="0" y="451104"/>
                    </a:lnTo>
                  </a:path>
                </a:pathLst>
              </a:cu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grpSp>
            <p:nvGrpSpPr>
              <p:cNvPr id="100" name="Group 99"/>
              <p:cNvGrpSpPr/>
              <p:nvPr/>
            </p:nvGrpSpPr>
            <p:grpSpPr>
              <a:xfrm>
                <a:off x="443383" y="6003886"/>
                <a:ext cx="1092129" cy="504056"/>
                <a:chOff x="766141" y="5877272"/>
                <a:chExt cx="1092129" cy="504056"/>
              </a:xfrm>
            </p:grpSpPr>
            <p:cxnSp>
              <p:nvCxnSpPr>
                <p:cNvPr id="106" name="Straight Connector 105"/>
                <p:cNvCxnSpPr/>
                <p:nvPr/>
              </p:nvCxnSpPr>
              <p:spPr>
                <a:xfrm flipV="1">
                  <a:off x="766141" y="5877272"/>
                  <a:ext cx="0" cy="504056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7" name="Straight Connector 106"/>
                <p:cNvCxnSpPr/>
                <p:nvPr/>
              </p:nvCxnSpPr>
              <p:spPr>
                <a:xfrm>
                  <a:off x="766141" y="6381328"/>
                  <a:ext cx="1092129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8" name="Freeform 107"/>
                <p:cNvSpPr/>
                <p:nvPr/>
              </p:nvSpPr>
              <p:spPr>
                <a:xfrm>
                  <a:off x="931400" y="5949280"/>
                  <a:ext cx="712990" cy="432048"/>
                </a:xfrm>
                <a:custGeom>
                  <a:avLst/>
                  <a:gdLst>
                    <a:gd name="connsiteX0" fmla="*/ 0 w 995680"/>
                    <a:gd name="connsiteY0" fmla="*/ 391442 h 391442"/>
                    <a:gd name="connsiteX1" fmla="*/ 274320 w 995680"/>
                    <a:gd name="connsiteY1" fmla="*/ 53622 h 391442"/>
                    <a:gd name="connsiteX2" fmla="*/ 995680 w 995680"/>
                    <a:gd name="connsiteY2" fmla="*/ 5362 h 3914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95680" h="391442">
                      <a:moveTo>
                        <a:pt x="0" y="391442"/>
                      </a:moveTo>
                      <a:cubicBezTo>
                        <a:pt x="54186" y="254705"/>
                        <a:pt x="108373" y="117969"/>
                        <a:pt x="274320" y="53622"/>
                      </a:cubicBezTo>
                      <a:cubicBezTo>
                        <a:pt x="440267" y="-10725"/>
                        <a:pt x="717973" y="-2682"/>
                        <a:pt x="995680" y="5362"/>
                      </a:cubicBezTo>
                    </a:path>
                  </a:pathLst>
                </a:custGeom>
                <a:ln>
                  <a:solidFill>
                    <a:srgbClr val="0070C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GB" dirty="0"/>
                </a:p>
              </p:txBody>
            </p:sp>
            <p:sp>
              <p:nvSpPr>
                <p:cNvPr id="109" name="TextBox 108"/>
                <p:cNvSpPr txBox="1"/>
                <p:nvPr/>
              </p:nvSpPr>
              <p:spPr>
                <a:xfrm>
                  <a:off x="1054858" y="5980638"/>
                  <a:ext cx="80341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 smtClean="0"/>
                    <a:t>HP/LP</a:t>
                  </a:r>
                  <a:endParaRPr lang="en-GB" dirty="0"/>
                </a:p>
              </p:txBody>
            </p:sp>
          </p:grpSp>
          <p:sp>
            <p:nvSpPr>
              <p:cNvPr id="101" name="Freeform 100"/>
              <p:cNvSpPr/>
              <p:nvPr/>
            </p:nvSpPr>
            <p:spPr>
              <a:xfrm>
                <a:off x="1395984" y="4419600"/>
                <a:ext cx="1633728" cy="377952"/>
              </a:xfrm>
              <a:custGeom>
                <a:avLst/>
                <a:gdLst>
                  <a:gd name="connsiteX0" fmla="*/ 1633728 w 1633728"/>
                  <a:gd name="connsiteY0" fmla="*/ 377952 h 377952"/>
                  <a:gd name="connsiteX1" fmla="*/ 1633728 w 1633728"/>
                  <a:gd name="connsiteY1" fmla="*/ 0 h 377952"/>
                  <a:gd name="connsiteX2" fmla="*/ 0 w 1633728"/>
                  <a:gd name="connsiteY2" fmla="*/ 0 h 377952"/>
                  <a:gd name="connsiteX3" fmla="*/ 0 w 1633728"/>
                  <a:gd name="connsiteY3" fmla="*/ 298704 h 377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33728" h="377952">
                    <a:moveTo>
                      <a:pt x="1633728" y="377952"/>
                    </a:moveTo>
                    <a:lnTo>
                      <a:pt x="1633728" y="0"/>
                    </a:lnTo>
                    <a:lnTo>
                      <a:pt x="0" y="0"/>
                    </a:lnTo>
                    <a:lnTo>
                      <a:pt x="0" y="298704"/>
                    </a:lnTo>
                  </a:path>
                </a:pathLst>
              </a:custGeom>
              <a:ln w="19050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102" name="Rectangle 101"/>
              <p:cNvSpPr/>
              <p:nvPr/>
            </p:nvSpPr>
            <p:spPr>
              <a:xfrm>
                <a:off x="432596" y="4726966"/>
                <a:ext cx="1668994" cy="1109366"/>
              </a:xfrm>
              <a:prstGeom prst="rect">
                <a:avLst/>
              </a:prstGeom>
              <a:ln w="28575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3" name="TextBox 102"/>
              <p:cNvSpPr txBox="1"/>
              <p:nvPr/>
            </p:nvSpPr>
            <p:spPr>
              <a:xfrm>
                <a:off x="1573347" y="5932748"/>
                <a:ext cx="202496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 smtClean="0"/>
                  <a:t>Digital equaliser +</a:t>
                </a:r>
              </a:p>
              <a:p>
                <a:r>
                  <a:rPr lang="en-GB" dirty="0"/>
                  <a:t>c</a:t>
                </a:r>
                <a:r>
                  <a:rPr lang="en-GB" dirty="0" smtClean="0"/>
                  <a:t>ross-over</a:t>
                </a:r>
                <a:endParaRPr lang="en-GB" dirty="0"/>
              </a:p>
            </p:txBody>
          </p:sp>
          <p:cxnSp>
            <p:nvCxnSpPr>
              <p:cNvPr id="104" name="Straight Connector 103"/>
              <p:cNvCxnSpPr/>
              <p:nvPr/>
            </p:nvCxnSpPr>
            <p:spPr>
              <a:xfrm flipH="1">
                <a:off x="107504" y="5038169"/>
                <a:ext cx="549759" cy="60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5" name="TextBox 104"/>
              <p:cNvSpPr txBox="1"/>
              <p:nvPr/>
            </p:nvSpPr>
            <p:spPr>
              <a:xfrm>
                <a:off x="2249342" y="5134744"/>
                <a:ext cx="613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 smtClean="0"/>
                  <a:t>+PA</a:t>
                </a:r>
                <a:endParaRPr lang="en-GB" dirty="0"/>
              </a:p>
            </p:txBody>
          </p:sp>
        </p:grpSp>
        <p:sp>
          <p:nvSpPr>
            <p:cNvPr id="123" name="Rectangle 122"/>
            <p:cNvSpPr/>
            <p:nvPr/>
          </p:nvSpPr>
          <p:spPr>
            <a:xfrm>
              <a:off x="491537" y="4589597"/>
              <a:ext cx="1008112" cy="737407"/>
            </a:xfrm>
            <a:prstGeom prst="rect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GB" sz="1600" dirty="0" smtClean="0"/>
                <a:t>Digitally stored sound</a:t>
              </a:r>
              <a:endParaRPr lang="en-GB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17188995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0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en-US" dirty="0"/>
              <a:t>R</a:t>
            </a:r>
            <a:r>
              <a:rPr lang="en-US" dirty="0" smtClean="0"/>
              <a:t>oom response correction</a:t>
            </a:r>
            <a:endParaRPr lang="en-GB" dirty="0"/>
          </a:p>
        </p:txBody>
      </p:sp>
      <p:pic>
        <p:nvPicPr>
          <p:cNvPr id="4" name="Picture 3" descr="D:\Compaq_Owner\My Documents\3rd year project\Matlab code\Images\pole zero real 100.emf"/>
          <p:cNvPicPr/>
          <p:nvPr/>
        </p:nvPicPr>
        <p:blipFill rotWithShape="1">
          <a:blip r:embed="rId2"/>
          <a:srcRect l="19092" t="2946" r="30903" b="35088"/>
          <a:stretch/>
        </p:blipFill>
        <p:spPr bwMode="auto">
          <a:xfrm>
            <a:off x="395536" y="3212976"/>
            <a:ext cx="3962025" cy="256010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107503" y="980728"/>
            <a:ext cx="4178049" cy="1797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dirty="0" smtClean="0"/>
              <a:t>Room impulse response simulation:</a:t>
            </a:r>
          </a:p>
          <a:p>
            <a:pPr marL="285750" indent="-285750">
              <a:lnSpc>
                <a:spcPct val="125000"/>
              </a:lnSpc>
              <a:buFont typeface="Arial" pitchFamily="34" charset="0"/>
              <a:buChar char="•"/>
            </a:pPr>
            <a:r>
              <a:rPr lang="en-US" dirty="0" smtClean="0"/>
              <a:t>Ray tracing algorithm</a:t>
            </a:r>
          </a:p>
          <a:p>
            <a:pPr marL="285750" indent="-285750">
              <a:lnSpc>
                <a:spcPct val="125000"/>
              </a:lnSpc>
              <a:buFont typeface="Arial" pitchFamily="34" charset="0"/>
              <a:buChar char="•"/>
            </a:pPr>
            <a:r>
              <a:rPr lang="en-US" dirty="0" smtClean="0"/>
              <a:t>Material dependent reflections</a:t>
            </a:r>
          </a:p>
          <a:p>
            <a:pPr marL="285750" indent="-285750">
              <a:lnSpc>
                <a:spcPct val="125000"/>
              </a:lnSpc>
              <a:buFont typeface="Arial" pitchFamily="34" charset="0"/>
              <a:buChar char="•"/>
            </a:pPr>
            <a:r>
              <a:rPr lang="en-US" dirty="0" smtClean="0"/>
              <a:t>Does not account for diffraction or diffuse reflections</a:t>
            </a:r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395536" y="5773083"/>
            <a:ext cx="40340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Non-minimum phase  - direct inversion impossible</a:t>
            </a:r>
            <a:endParaRPr lang="en-GB" dirty="0"/>
          </a:p>
        </p:txBody>
      </p:sp>
      <p:pic>
        <p:nvPicPr>
          <p:cNvPr id="7" name="Picture 6" descr="impulse response.emf"/>
          <p:cNvPicPr/>
          <p:nvPr/>
        </p:nvPicPr>
        <p:blipFill rotWithShape="1">
          <a:blip r:embed="rId3"/>
          <a:srcRect l="12057" t="50569" r="7501" b="12231"/>
          <a:stretch/>
        </p:blipFill>
        <p:spPr>
          <a:xfrm>
            <a:off x="4429568" y="1161513"/>
            <a:ext cx="4694111" cy="147024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32040" y="5445224"/>
            <a:ext cx="40324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Simulation did not produce accurate results</a:t>
            </a:r>
            <a:endParaRPr lang="en-GB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22" r="9290" b="10827"/>
          <a:stretch/>
        </p:blipFill>
        <p:spPr bwMode="auto">
          <a:xfrm>
            <a:off x="4429569" y="2778656"/>
            <a:ext cx="4606927" cy="16839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5337782" y="1356541"/>
            <a:ext cx="29523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 smtClean="0"/>
              <a:t>Simulation</a:t>
            </a:r>
            <a:endParaRPr lang="en-GB" dirty="0"/>
          </a:p>
        </p:txBody>
      </p:sp>
      <p:sp>
        <p:nvSpPr>
          <p:cNvPr id="11" name="TextBox 10"/>
          <p:cNvSpPr txBox="1"/>
          <p:nvPr/>
        </p:nvSpPr>
        <p:spPr>
          <a:xfrm>
            <a:off x="5337782" y="3085322"/>
            <a:ext cx="28083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Real </a:t>
            </a:r>
            <a:r>
              <a:rPr lang="en-GB" sz="2000" dirty="0" smtClean="0"/>
              <a:t>impulse</a:t>
            </a:r>
            <a:r>
              <a:rPr lang="en-GB" dirty="0" smtClean="0"/>
              <a:t> response</a:t>
            </a:r>
            <a:endParaRPr lang="en-GB" dirty="0"/>
          </a:p>
        </p:txBody>
      </p:sp>
      <p:sp>
        <p:nvSpPr>
          <p:cNvPr id="12" name="Rectangle 11"/>
          <p:cNvSpPr/>
          <p:nvPr/>
        </p:nvSpPr>
        <p:spPr>
          <a:xfrm>
            <a:off x="4357561" y="1161513"/>
            <a:ext cx="98615" cy="1618263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174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1183" y="6124"/>
            <a:ext cx="8734493" cy="686572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Characterisation of the impulse response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231184" y="2884294"/>
                <a:ext cx="6482021" cy="60414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i="1" smtClean="0">
                        <a:latin typeface="Cambria Math"/>
                      </a:rPr>
                      <m:t>𝑥</m:t>
                    </m:r>
                    <m:d>
                      <m:dPr>
                        <m:ctrlPr>
                          <a:rPr lang="en-GB" i="1">
                            <a:latin typeface="Cambria Math"/>
                          </a:rPr>
                        </m:ctrlPr>
                      </m:dPr>
                      <m:e>
                        <m:r>
                          <a:rPr lang="en-GB" i="1"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en-GB" i="1">
                        <a:latin typeface="Cambria Math"/>
                      </a:rPr>
                      <m:t>=</m:t>
                    </m:r>
                    <m:func>
                      <m:funcPr>
                        <m:ctrlPr>
                          <a:rPr lang="en-GB" i="1">
                            <a:latin typeface="Cambria Math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GB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GB" i="1" smtClean="0">
                                <a:latin typeface="Cambria Math"/>
                              </a:rPr>
                              <m:t>𝐾</m:t>
                            </m:r>
                            <m:d>
                              <m:dPr>
                                <m:ctrlPr>
                                  <a:rPr lang="en-GB" i="1">
                                    <a:latin typeface="Cambria Math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GB" i="1"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i="1">
                                        <a:latin typeface="Cambria Math"/>
                                      </a:rPr>
                                      <m:t>𝑒</m:t>
                                    </m:r>
                                  </m:e>
                                  <m:sup>
                                    <m:f>
                                      <m:fPr>
                                        <m:ctrlPr>
                                          <a:rPr lang="en-GB" i="1">
                                            <a:latin typeface="Cambria Math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i="1">
                                            <a:latin typeface="Cambria Math"/>
                                          </a:rPr>
                                          <m:t>𝑡</m:t>
                                        </m:r>
                                      </m:num>
                                      <m:den>
                                        <m:r>
                                          <a:rPr lang="en-GB" i="1">
                                            <a:latin typeface="Cambria Math"/>
                                          </a:rPr>
                                          <m:t>𝐿</m:t>
                                        </m:r>
                                      </m:den>
                                    </m:f>
                                  </m:sup>
                                </m:sSup>
                                <m:r>
                                  <a:rPr lang="en-GB" i="1">
                                    <a:latin typeface="Cambria Math"/>
                                  </a:rPr>
                                  <m:t>−1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r>
                  <a:rPr lang="en-GB" dirty="0" smtClean="0"/>
                  <a:t> </a:t>
                </a:r>
                <a14:m>
                  <m:oMath xmlns:m="http://schemas.openxmlformats.org/officeDocument/2006/math">
                    <m:r>
                      <a:rPr lang="en-GB" b="0" i="0" smtClean="0">
                        <a:latin typeface="Cambria Math"/>
                      </a:rPr>
                      <m:t>       </m:t>
                    </m:r>
                    <m:r>
                      <a:rPr lang="en-GB" i="1">
                        <a:latin typeface="Cambria Math"/>
                      </a:rPr>
                      <m:t>𝑤</m:t>
                    </m:r>
                    <m:d>
                      <m:dPr>
                        <m:ctrlPr>
                          <a:rPr lang="en-GB" i="1">
                            <a:latin typeface="Cambria Math"/>
                          </a:rPr>
                        </m:ctrlPr>
                      </m:dPr>
                      <m:e>
                        <m:r>
                          <a:rPr lang="en-GB" i="1"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en-GB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GB" i="1">
                            <a:latin typeface="Cambria Math"/>
                          </a:rPr>
                        </m:ctrlPr>
                      </m:fPr>
                      <m:num>
                        <m:r>
                          <a:rPr lang="en-GB" i="1">
                            <a:latin typeface="Cambria Math"/>
                          </a:rPr>
                          <m:t>𝑑</m:t>
                        </m:r>
                      </m:num>
                      <m:den>
                        <m:r>
                          <a:rPr lang="en-GB" i="1">
                            <a:latin typeface="Cambria Math"/>
                          </a:rPr>
                          <m:t>𝑑𝑡</m:t>
                        </m:r>
                      </m:den>
                    </m:f>
                    <m:d>
                      <m:dPr>
                        <m:ctrlPr>
                          <a:rPr lang="en-GB" i="1">
                            <a:latin typeface="Cambria Math"/>
                          </a:rPr>
                        </m:ctrlPr>
                      </m:dPr>
                      <m:e>
                        <m:r>
                          <a:rPr lang="en-GB" i="1">
                            <a:latin typeface="Cambria Math"/>
                          </a:rPr>
                          <m:t>𝐾</m:t>
                        </m:r>
                        <m:d>
                          <m:dPr>
                            <m:ctrlPr>
                              <a:rPr lang="en-GB" i="1">
                                <a:latin typeface="Cambria Math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GB" i="1">
                                    <a:latin typeface="Cambria Math"/>
                                  </a:rPr>
                                </m:ctrlPr>
                              </m:sSupPr>
                              <m:e>
                                <m:r>
                                  <a:rPr lang="en-GB" i="1">
                                    <a:latin typeface="Cambria Math"/>
                                  </a:rPr>
                                  <m:t>𝑒</m:t>
                                </m:r>
                              </m:e>
                              <m:sup>
                                <m:f>
                                  <m:fPr>
                                    <m:ctrlPr>
                                      <a:rPr lang="en-GB" i="1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i="1">
                                        <a:latin typeface="Cambria Math"/>
                                      </a:rPr>
                                      <m:t>𝑡</m:t>
                                    </m:r>
                                  </m:num>
                                  <m:den>
                                    <m:r>
                                      <a:rPr lang="en-GB" i="1">
                                        <a:latin typeface="Cambria Math"/>
                                      </a:rPr>
                                      <m:t>𝐿</m:t>
                                    </m:r>
                                  </m:den>
                                </m:f>
                              </m:sup>
                            </m:sSup>
                            <m:r>
                              <a:rPr lang="en-GB" i="1">
                                <a:latin typeface="Cambria Math"/>
                              </a:rPr>
                              <m:t>−1</m:t>
                            </m:r>
                          </m:e>
                        </m:d>
                      </m:e>
                    </m:d>
                    <m:r>
                      <a:rPr lang="en-GB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GB" i="1">
                            <a:latin typeface="Cambria Math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GB" i="1">
                            <a:latin typeface="Cambria Math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en-GB" i="1">
                            <a:latin typeface="Cambria Math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/>
                          </a:rPr>
                          <m:t>𝑒</m:t>
                        </m:r>
                      </m:e>
                      <m:sup>
                        <m:f>
                          <m:fPr>
                            <m:ctrlPr>
                              <a:rPr lang="en-GB" i="1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GB" i="1">
                                <a:latin typeface="Cambria Math"/>
                              </a:rPr>
                              <m:t>𝑡</m:t>
                            </m:r>
                          </m:num>
                          <m:den>
                            <m:r>
                              <a:rPr lang="en-GB" i="1">
                                <a:latin typeface="Cambria Math"/>
                              </a:rPr>
                              <m:t>𝑇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GB">
                            <a:latin typeface="Cambria Math"/>
                          </a:rPr>
                          <m:t>ln</m:t>
                        </m:r>
                        <m:d>
                          <m:dPr>
                            <m:ctrlPr>
                              <a:rPr lang="en-GB" i="1">
                                <a:latin typeface="Cambria Math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GB" i="1">
                                    <a:latin typeface="Cambria Math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GB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i="1">
                                        <a:latin typeface="Cambria Math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GB" i="1"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GB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i="1">
                                        <a:latin typeface="Cambria Math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GB" i="1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sup>
                    </m:sSup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184" y="2884294"/>
                <a:ext cx="6482021" cy="60414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49" y="3933056"/>
            <a:ext cx="5913785" cy="27602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1" name="Straight Arrow Connector 10"/>
          <p:cNvCxnSpPr/>
          <p:nvPr/>
        </p:nvCxnSpPr>
        <p:spPr>
          <a:xfrm>
            <a:off x="3131840" y="4499016"/>
            <a:ext cx="2592288" cy="0"/>
          </a:xfrm>
          <a:prstGeom prst="straightConnector1">
            <a:avLst/>
          </a:prstGeom>
          <a:ln w="127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056876" y="4134764"/>
            <a:ext cx="1193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chemeClr val="bg1"/>
                </a:solidFill>
              </a:rPr>
              <a:t>Time</a:t>
            </a:r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56" r="32925"/>
          <a:stretch/>
        </p:blipFill>
        <p:spPr bwMode="auto">
          <a:xfrm>
            <a:off x="6372200" y="3933056"/>
            <a:ext cx="2593477" cy="2837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6" name="Right Arrow 25"/>
          <p:cNvSpPr/>
          <p:nvPr/>
        </p:nvSpPr>
        <p:spPr>
          <a:xfrm>
            <a:off x="6084168" y="5097177"/>
            <a:ext cx="216024" cy="216024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1024" name="Straight Arrow Connector 1023"/>
          <p:cNvCxnSpPr/>
          <p:nvPr/>
        </p:nvCxnSpPr>
        <p:spPr>
          <a:xfrm>
            <a:off x="4958700" y="4504096"/>
            <a:ext cx="0" cy="2093256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8" name="Straight Arrow Connector 1027"/>
          <p:cNvCxnSpPr/>
          <p:nvPr/>
        </p:nvCxnSpPr>
        <p:spPr>
          <a:xfrm>
            <a:off x="4427984" y="4504096"/>
            <a:ext cx="0" cy="2093256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0" name="Straight Arrow Connector 1029"/>
          <p:cNvCxnSpPr/>
          <p:nvPr/>
        </p:nvCxnSpPr>
        <p:spPr>
          <a:xfrm>
            <a:off x="4067944" y="4504096"/>
            <a:ext cx="0" cy="2093256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4" name="Straight Arrow Connector 1033"/>
          <p:cNvCxnSpPr/>
          <p:nvPr/>
        </p:nvCxnSpPr>
        <p:spPr>
          <a:xfrm>
            <a:off x="3851920" y="4504096"/>
            <a:ext cx="0" cy="2093256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/>
          <p:cNvGrpSpPr/>
          <p:nvPr/>
        </p:nvGrpSpPr>
        <p:grpSpPr>
          <a:xfrm>
            <a:off x="-28378" y="643040"/>
            <a:ext cx="7543301" cy="1953975"/>
            <a:chOff x="-18973" y="133827"/>
            <a:chExt cx="7543301" cy="195397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Rectangle 18"/>
                <p:cNvSpPr/>
                <p:nvPr/>
              </p:nvSpPr>
              <p:spPr>
                <a:xfrm>
                  <a:off x="-18973" y="1094865"/>
                  <a:ext cx="1143994" cy="648072"/>
                </a:xfrm>
                <a:prstGeom prst="rect">
                  <a:avLst/>
                </a:prstGeom>
                <a:ln w="28575"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dirty="0">
                      <a:latin typeface="Cambria Math" pitchFamily="18" charset="0"/>
                      <a:ea typeface="Cambria Math" pitchFamily="18" charset="0"/>
                    </a:rPr>
                    <a:t>x</a:t>
                  </a:r>
                  <a:r>
                    <a:rPr lang="en-GB" dirty="0" smtClean="0">
                      <a:latin typeface="Cambria Math" pitchFamily="18" charset="0"/>
                      <a:ea typeface="Cambria Math" pitchFamily="18" charset="0"/>
                    </a:rPr>
                    <a:t>(t)</a:t>
                  </a:r>
                  <a14:m>
                    <m:oMath xmlns:m="http://schemas.openxmlformats.org/officeDocument/2006/math">
                      <m:r>
                        <a:rPr lang="en-GB" i="1">
                          <a:latin typeface="Cambria Math" pitchFamily="18" charset="0"/>
                          <a:ea typeface="Cambria Math" pitchFamily="18" charset="0"/>
                        </a:rPr>
                        <m:t>∗</m:t>
                      </m:r>
                    </m:oMath>
                  </a14:m>
                  <a:r>
                    <a:rPr lang="el-GR" dirty="0" smtClean="0">
                      <a:latin typeface="Cambria Math" pitchFamily="18" charset="0"/>
                      <a:ea typeface="Cambria Math" pitchFamily="18" charset="0"/>
                    </a:rPr>
                    <a:t>δ</a:t>
                  </a:r>
                  <a:r>
                    <a:rPr lang="en-GB" dirty="0" smtClean="0">
                      <a:latin typeface="Cambria Math" pitchFamily="18" charset="0"/>
                      <a:ea typeface="Cambria Math" pitchFamily="18" charset="0"/>
                    </a:rPr>
                    <a:t>(t)</a:t>
                  </a:r>
                  <a:endParaRPr lang="en-GB" dirty="0">
                    <a:latin typeface="Cambria Math" pitchFamily="18" charset="0"/>
                    <a:ea typeface="Cambria Math" pitchFamily="18" charset="0"/>
                  </a:endParaRPr>
                </a:p>
              </p:txBody>
            </p:sp>
          </mc:Choice>
          <mc:Fallback>
            <p:sp>
              <p:nvSpPr>
                <p:cNvPr id="19" name="Rectangle 1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8973" y="1094865"/>
                  <a:ext cx="1143994" cy="64807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l="-1064" r="-1596"/>
                  </a:stretch>
                </a:blipFill>
                <a:ln w="28575"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Rectangle 19"/>
            <p:cNvSpPr/>
            <p:nvPr/>
          </p:nvSpPr>
          <p:spPr>
            <a:xfrm>
              <a:off x="1691680" y="1088740"/>
              <a:ext cx="864096" cy="648072"/>
            </a:xfrm>
            <a:prstGeom prst="rect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latin typeface="Cambria Math" pitchFamily="18" charset="0"/>
                  <a:ea typeface="Cambria Math" pitchFamily="18" charset="0"/>
                </a:rPr>
                <a:t>h</a:t>
              </a:r>
              <a:r>
                <a:rPr lang="en-GB" dirty="0" smtClean="0">
                  <a:latin typeface="Cambria Math" pitchFamily="18" charset="0"/>
                  <a:ea typeface="Cambria Math" pitchFamily="18" charset="0"/>
                </a:rPr>
                <a:t>(t)</a:t>
              </a:r>
              <a:endParaRPr lang="en-GB" dirty="0">
                <a:latin typeface="Cambria Math" pitchFamily="18" charset="0"/>
                <a:ea typeface="Cambria Math" pitchFamily="18" charset="0"/>
              </a:endParaRPr>
            </a:p>
          </p:txBody>
        </p:sp>
        <p:cxnSp>
          <p:nvCxnSpPr>
            <p:cNvPr id="21" name="Straight Arrow Connector 20"/>
            <p:cNvCxnSpPr>
              <a:stCxn id="19" idx="3"/>
              <a:endCxn id="20" idx="1"/>
            </p:cNvCxnSpPr>
            <p:nvPr/>
          </p:nvCxnSpPr>
          <p:spPr>
            <a:xfrm flipV="1">
              <a:off x="1125021" y="1412776"/>
              <a:ext cx="566659" cy="612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1675523" y="133827"/>
              <a:ext cx="136815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cross-over +</a:t>
              </a:r>
            </a:p>
            <a:p>
              <a:r>
                <a:rPr lang="en-GB" dirty="0" smtClean="0"/>
                <a:t>speaker +</a:t>
              </a:r>
            </a:p>
            <a:p>
              <a:r>
                <a:rPr lang="en-GB" dirty="0" smtClean="0"/>
                <a:t>room</a:t>
              </a:r>
              <a:endParaRPr lang="en-GB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Rectangle 22"/>
                <p:cNvSpPr/>
                <p:nvPr/>
              </p:nvSpPr>
              <p:spPr>
                <a:xfrm>
                  <a:off x="2889486" y="1075264"/>
                  <a:ext cx="1903007" cy="648072"/>
                </a:xfrm>
                <a:prstGeom prst="rect">
                  <a:avLst/>
                </a:prstGeom>
                <a:ln w="28575"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dirty="0" smtClean="0">
                      <a:latin typeface="Cambria Math" pitchFamily="18" charset="0"/>
                      <a:ea typeface="Cambria Math" pitchFamily="18" charset="0"/>
                    </a:rPr>
                    <a:t>y(t)=x(t)</a:t>
                  </a:r>
                  <a:r>
                    <a:rPr lang="en-GB" dirty="0">
                      <a:latin typeface="Cambria Math" pitchFamily="18" charset="0"/>
                      <a:ea typeface="Cambria Math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GB" i="1">
                          <a:latin typeface="Cambria Math" pitchFamily="18" charset="0"/>
                          <a:ea typeface="Cambria Math" pitchFamily="18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n-GB" b="0" i="0" smtClean="0">
                          <a:latin typeface="Cambria Math" pitchFamily="18" charset="0"/>
                          <a:ea typeface="Cambria Math" pitchFamily="18" charset="0"/>
                        </a:rPr>
                        <m:t>h</m:t>
                      </m:r>
                      <m:r>
                        <a:rPr lang="en-GB" b="0" i="0" smtClean="0">
                          <a:latin typeface="Cambria Math" pitchFamily="18" charset="0"/>
                          <a:ea typeface="Cambria Math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GB" b="0" i="0" smtClean="0">
                          <a:latin typeface="Cambria Math" pitchFamily="18" charset="0"/>
                          <a:ea typeface="Cambria Math" pitchFamily="18" charset="0"/>
                        </a:rPr>
                        <m:t>t</m:t>
                      </m:r>
                      <m:r>
                        <a:rPr lang="en-GB" b="0" i="0" smtClean="0">
                          <a:latin typeface="Cambria Math" pitchFamily="18" charset="0"/>
                          <a:ea typeface="Cambria Math" pitchFamily="18" charset="0"/>
                        </a:rPr>
                        <m:t>)</m:t>
                      </m:r>
                    </m:oMath>
                  </a14:m>
                  <a:endParaRPr lang="en-GB" dirty="0">
                    <a:latin typeface="Cambria Math" pitchFamily="18" charset="0"/>
                    <a:ea typeface="Cambria Math" pitchFamily="18" charset="0"/>
                  </a:endParaRPr>
                </a:p>
              </p:txBody>
            </p:sp>
          </mc:Choice>
          <mc:Fallback xmlns="">
            <p:sp>
              <p:nvSpPr>
                <p:cNvPr id="23" name="Rectangle 2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89486" y="1075264"/>
                  <a:ext cx="1903007" cy="64807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/>
                  </a:stretch>
                </a:blipFill>
                <a:ln w="28575"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Freeform 357"/>
            <p:cNvSpPr>
              <a:spLocks/>
            </p:cNvSpPr>
            <p:nvPr/>
          </p:nvSpPr>
          <p:spPr bwMode="auto">
            <a:xfrm rot="10800000">
              <a:off x="2729562" y="1411451"/>
              <a:ext cx="914400" cy="457200"/>
            </a:xfrm>
            <a:custGeom>
              <a:avLst/>
              <a:gdLst>
                <a:gd name="T0" fmla="*/ 0 w 576"/>
                <a:gd name="T1" fmla="*/ 288 h 288"/>
                <a:gd name="T2" fmla="*/ 288 w 576"/>
                <a:gd name="T3" fmla="*/ 0 h 288"/>
                <a:gd name="T4" fmla="*/ 576 w 576"/>
                <a:gd name="T5" fmla="*/ 288 h 288"/>
                <a:gd name="T6" fmla="*/ 0 w 576"/>
                <a:gd name="T7" fmla="*/ 288 h 28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76" h="288">
                  <a:moveTo>
                    <a:pt x="0" y="288"/>
                  </a:moveTo>
                  <a:lnTo>
                    <a:pt x="288" y="0"/>
                  </a:lnTo>
                  <a:lnTo>
                    <a:pt x="576" y="288"/>
                  </a:lnTo>
                  <a:lnTo>
                    <a:pt x="0" y="288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cxnSp>
          <p:nvCxnSpPr>
            <p:cNvPr id="27" name="Straight Arrow Connector 26"/>
            <p:cNvCxnSpPr>
              <a:stCxn id="20" idx="3"/>
            </p:cNvCxnSpPr>
            <p:nvPr/>
          </p:nvCxnSpPr>
          <p:spPr>
            <a:xfrm flipV="1">
              <a:off x="2555776" y="1411446"/>
              <a:ext cx="347572" cy="133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>
            <a:xfrm flipV="1">
              <a:off x="4760014" y="1420499"/>
              <a:ext cx="432048" cy="206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Rectangle 28"/>
            <p:cNvSpPr/>
            <p:nvPr/>
          </p:nvSpPr>
          <p:spPr>
            <a:xfrm>
              <a:off x="5202782" y="1094647"/>
              <a:ext cx="1080120" cy="680385"/>
            </a:xfrm>
            <a:prstGeom prst="rect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GB" dirty="0" smtClean="0">
                  <a:latin typeface="Cambria Math" pitchFamily="18" charset="0"/>
                  <a:ea typeface="Cambria Math" pitchFamily="18" charset="0"/>
                </a:rPr>
                <a:t>inv(t)</a:t>
              </a:r>
              <a:endParaRPr lang="en-GB" dirty="0">
                <a:latin typeface="Cambria Math" pitchFamily="18" charset="0"/>
                <a:ea typeface="Cambria Math" pitchFamily="18" charset="0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489482" y="1668331"/>
              <a:ext cx="1568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i="1" dirty="0" smtClean="0"/>
                <a:t>Convolution</a:t>
              </a:r>
              <a:endParaRPr lang="en-GB" i="1" dirty="0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4976038" y="1718470"/>
              <a:ext cx="16841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i="1" dirty="0" smtClean="0"/>
                <a:t>Deconvolution</a:t>
              </a:r>
              <a:endParaRPr lang="en-GB" i="1" dirty="0"/>
            </a:p>
          </p:txBody>
        </p:sp>
        <p:cxnSp>
          <p:nvCxnSpPr>
            <p:cNvPr id="32" name="Straight Arrow Connector 31"/>
            <p:cNvCxnSpPr>
              <a:stCxn id="29" idx="3"/>
            </p:cNvCxnSpPr>
            <p:nvPr/>
          </p:nvCxnSpPr>
          <p:spPr>
            <a:xfrm flipV="1">
              <a:off x="6282902" y="1434839"/>
              <a:ext cx="593354" cy="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/>
            <p:cNvSpPr txBox="1"/>
            <p:nvPr/>
          </p:nvSpPr>
          <p:spPr>
            <a:xfrm>
              <a:off x="6876256" y="1196752"/>
              <a:ext cx="64807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GB" dirty="0" smtClean="0">
                  <a:latin typeface="Cambria Math" pitchFamily="18" charset="0"/>
                  <a:ea typeface="Cambria Math" pitchFamily="18" charset="0"/>
                </a:rPr>
                <a:t>h(t)</a:t>
              </a:r>
              <a:endParaRPr lang="en-GB" dirty="0">
                <a:latin typeface="Cambria Math" pitchFamily="18" charset="0"/>
                <a:ea typeface="Cambria Math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6643375" y="2259857"/>
                <a:ext cx="2456615" cy="13622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/>
                          <a:ea typeface="Cambria Math"/>
                        </a:rPr>
                        <m:t>𝐼𝑁𝑉</m:t>
                      </m:r>
                      <m:d>
                        <m:dPr>
                          <m:ctrlPr>
                            <a:rPr lang="en-GB" i="1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/>
                              <a:ea typeface="Cambria Math"/>
                            </a:rPr>
                            <m:t>𝑤</m:t>
                          </m:r>
                        </m:e>
                      </m:d>
                      <m:r>
                        <a:rPr lang="en-GB" i="1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GB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1</m:t>
                          </m:r>
                        </m:num>
                        <m:den>
                          <m:r>
                            <a:rPr lang="en-GB" i="1">
                              <a:latin typeface="Cambria Math"/>
                              <a:ea typeface="Cambria Math"/>
                            </a:rPr>
                            <m:t>𝑋</m:t>
                          </m:r>
                          <m:r>
                            <a:rPr lang="en-GB" i="1">
                              <a:latin typeface="Cambria Math"/>
                              <a:ea typeface="Cambria Math"/>
                            </a:rPr>
                            <m:t>(</m:t>
                          </m:r>
                          <m:r>
                            <a:rPr lang="en-GB" i="1">
                              <a:latin typeface="Cambria Math"/>
                              <a:ea typeface="Cambria Math"/>
                            </a:rPr>
                            <m:t>𝑤</m:t>
                          </m:r>
                          <m:r>
                            <a:rPr lang="en-GB" i="1">
                              <a:latin typeface="Cambria Math"/>
                              <a:ea typeface="Cambria Math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GB" dirty="0" smtClean="0">
                  <a:ea typeface="Cambria Math"/>
                </a:endParaRPr>
              </a:p>
              <a:p>
                <a:pPr algn="r">
                  <a:lnSpc>
                    <a:spcPct val="15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GB" b="1" i="1">
                          <a:latin typeface="Cambria Math"/>
                          <a:ea typeface="Cambria Math"/>
                        </a:rPr>
                        <m:t>𝑯</m:t>
                      </m:r>
                      <m:d>
                        <m:dPr>
                          <m:ctrlPr>
                            <a:rPr lang="en-GB" b="1" i="1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GB" b="1" i="1">
                              <a:latin typeface="Cambria Math"/>
                              <a:ea typeface="Cambria Math"/>
                            </a:rPr>
                            <m:t>𝒘</m:t>
                          </m:r>
                        </m:e>
                      </m:d>
                      <m:r>
                        <a:rPr lang="en-GB" b="1" i="1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GB" b="1" i="1">
                          <a:latin typeface="Cambria Math"/>
                          <a:ea typeface="Cambria Math"/>
                        </a:rPr>
                        <m:t>𝒀</m:t>
                      </m:r>
                      <m:d>
                        <m:dPr>
                          <m:ctrlPr>
                            <a:rPr lang="en-GB" b="1" i="1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GB" b="1" i="1">
                              <a:latin typeface="Cambria Math"/>
                              <a:ea typeface="Cambria Math"/>
                            </a:rPr>
                            <m:t>𝒘</m:t>
                          </m:r>
                        </m:e>
                      </m:d>
                      <m:r>
                        <a:rPr lang="en-GB" b="1" i="1">
                          <a:latin typeface="Cambria Math"/>
                          <a:ea typeface="Cambria Math"/>
                        </a:rPr>
                        <m:t>𝑰𝑵𝑽</m:t>
                      </m:r>
                      <m:d>
                        <m:dPr>
                          <m:ctrlPr>
                            <a:rPr lang="en-GB" b="1" i="1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GB" b="1" i="1">
                              <a:latin typeface="Cambria Math"/>
                              <a:ea typeface="Cambria Math"/>
                            </a:rPr>
                            <m:t>𝒘</m:t>
                          </m:r>
                        </m:e>
                      </m:d>
                    </m:oMath>
                  </m:oMathPara>
                </a14:m>
                <a:endParaRPr lang="en-GB" b="1" dirty="0">
                  <a:ea typeface="Cambria Math"/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3375" y="2259857"/>
                <a:ext cx="2456615" cy="1362232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5583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3016001"/>
            <a:ext cx="5734050" cy="267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216" y="3035052"/>
            <a:ext cx="2571750" cy="2638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181205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9549" y="-135648"/>
            <a:ext cx="8229600" cy="926976"/>
          </a:xfrm>
        </p:spPr>
        <p:txBody>
          <a:bodyPr/>
          <a:lstStyle/>
          <a:p>
            <a:r>
              <a:rPr lang="en-GB" dirty="0" smtClean="0"/>
              <a:t>System realisation</a:t>
            </a:r>
            <a:endParaRPr lang="en-GB" dirty="0"/>
          </a:p>
        </p:txBody>
      </p:sp>
      <p:sp>
        <p:nvSpPr>
          <p:cNvPr id="8" name="TextBox 7"/>
          <p:cNvSpPr txBox="1"/>
          <p:nvPr/>
        </p:nvSpPr>
        <p:spPr>
          <a:xfrm>
            <a:off x="5089462" y="1004283"/>
            <a:ext cx="3096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Possible inverse signals, </a:t>
            </a:r>
            <a:r>
              <a:rPr lang="en-US" dirty="0" smtClean="0">
                <a:latin typeface="Cambria Math" pitchFamily="18" charset="0"/>
                <a:ea typeface="Cambria Math" pitchFamily="18" charset="0"/>
              </a:rPr>
              <a:t>inv(t)</a:t>
            </a:r>
            <a:endParaRPr lang="en-GB" dirty="0">
              <a:latin typeface="Cambria Math" pitchFamily="18" charset="0"/>
              <a:ea typeface="Cambria Math" pitchFamily="18" charset="0"/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-468560" y="759537"/>
            <a:ext cx="5383548" cy="4368681"/>
            <a:chOff x="-468560" y="1196752"/>
            <a:chExt cx="5383548" cy="4368681"/>
          </a:xfrm>
        </p:grpSpPr>
        <p:pic>
          <p:nvPicPr>
            <p:cNvPr id="3074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5966"/>
            <a:stretch/>
          </p:blipFill>
          <p:spPr bwMode="auto">
            <a:xfrm>
              <a:off x="-468560" y="1196752"/>
              <a:ext cx="2862176" cy="3307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" name="Freeform 5"/>
            <p:cNvSpPr/>
            <p:nvPr/>
          </p:nvSpPr>
          <p:spPr>
            <a:xfrm>
              <a:off x="2256135" y="1412776"/>
              <a:ext cx="216816" cy="2714919"/>
            </a:xfrm>
            <a:custGeom>
              <a:avLst/>
              <a:gdLst>
                <a:gd name="connsiteX0" fmla="*/ 216816 w 216816"/>
                <a:gd name="connsiteY0" fmla="*/ 0 h 2714919"/>
                <a:gd name="connsiteX1" fmla="*/ 94268 w 216816"/>
                <a:gd name="connsiteY1" fmla="*/ 735291 h 2714919"/>
                <a:gd name="connsiteX2" fmla="*/ 207390 w 216816"/>
                <a:gd name="connsiteY2" fmla="*/ 1480008 h 2714919"/>
                <a:gd name="connsiteX3" fmla="*/ 0 w 216816"/>
                <a:gd name="connsiteY3" fmla="*/ 2714919 h 2714919"/>
                <a:gd name="connsiteX0" fmla="*/ 216816 w 216816"/>
                <a:gd name="connsiteY0" fmla="*/ 0 h 2714919"/>
                <a:gd name="connsiteX1" fmla="*/ 94268 w 216816"/>
                <a:gd name="connsiteY1" fmla="*/ 735291 h 2714919"/>
                <a:gd name="connsiteX2" fmla="*/ 179109 w 216816"/>
                <a:gd name="connsiteY2" fmla="*/ 1772239 h 2714919"/>
                <a:gd name="connsiteX3" fmla="*/ 0 w 216816"/>
                <a:gd name="connsiteY3" fmla="*/ 2714919 h 2714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6816" h="2714919">
                  <a:moveTo>
                    <a:pt x="216816" y="0"/>
                  </a:moveTo>
                  <a:cubicBezTo>
                    <a:pt x="156327" y="244311"/>
                    <a:pt x="100552" y="439918"/>
                    <a:pt x="94268" y="735291"/>
                  </a:cubicBezTo>
                  <a:cubicBezTo>
                    <a:pt x="87984" y="1030664"/>
                    <a:pt x="194820" y="1442301"/>
                    <a:pt x="179109" y="1772239"/>
                  </a:cubicBezTo>
                  <a:cubicBezTo>
                    <a:pt x="163398" y="2102177"/>
                    <a:pt x="95839" y="2262432"/>
                    <a:pt x="0" y="2714919"/>
                  </a:cubicBezTo>
                </a:path>
              </a:pathLst>
            </a:custGeom>
            <a:ln w="952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3076" name="Picture 4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5623" r="8170"/>
            <a:stretch/>
          </p:blipFill>
          <p:spPr bwMode="auto">
            <a:xfrm>
              <a:off x="2646818" y="1196752"/>
              <a:ext cx="2204023" cy="3307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1" name="Freeform 10"/>
            <p:cNvSpPr/>
            <p:nvPr/>
          </p:nvSpPr>
          <p:spPr>
            <a:xfrm>
              <a:off x="2516943" y="1412776"/>
              <a:ext cx="216816" cy="2714919"/>
            </a:xfrm>
            <a:custGeom>
              <a:avLst/>
              <a:gdLst>
                <a:gd name="connsiteX0" fmla="*/ 216816 w 216816"/>
                <a:gd name="connsiteY0" fmla="*/ 0 h 2714919"/>
                <a:gd name="connsiteX1" fmla="*/ 94268 w 216816"/>
                <a:gd name="connsiteY1" fmla="*/ 735291 h 2714919"/>
                <a:gd name="connsiteX2" fmla="*/ 207390 w 216816"/>
                <a:gd name="connsiteY2" fmla="*/ 1480008 h 2714919"/>
                <a:gd name="connsiteX3" fmla="*/ 0 w 216816"/>
                <a:gd name="connsiteY3" fmla="*/ 2714919 h 2714919"/>
                <a:gd name="connsiteX0" fmla="*/ 216816 w 216816"/>
                <a:gd name="connsiteY0" fmla="*/ 0 h 2714919"/>
                <a:gd name="connsiteX1" fmla="*/ 94268 w 216816"/>
                <a:gd name="connsiteY1" fmla="*/ 735291 h 2714919"/>
                <a:gd name="connsiteX2" fmla="*/ 179109 w 216816"/>
                <a:gd name="connsiteY2" fmla="*/ 1772239 h 2714919"/>
                <a:gd name="connsiteX3" fmla="*/ 0 w 216816"/>
                <a:gd name="connsiteY3" fmla="*/ 2714919 h 2714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6816" h="2714919">
                  <a:moveTo>
                    <a:pt x="216816" y="0"/>
                  </a:moveTo>
                  <a:cubicBezTo>
                    <a:pt x="156327" y="244311"/>
                    <a:pt x="100552" y="439918"/>
                    <a:pt x="94268" y="735291"/>
                  </a:cubicBezTo>
                  <a:cubicBezTo>
                    <a:pt x="87984" y="1030664"/>
                    <a:pt x="194820" y="1442301"/>
                    <a:pt x="179109" y="1772239"/>
                  </a:cubicBezTo>
                  <a:cubicBezTo>
                    <a:pt x="163398" y="2102177"/>
                    <a:pt x="95839" y="2262432"/>
                    <a:pt x="0" y="2714919"/>
                  </a:cubicBezTo>
                </a:path>
              </a:pathLst>
            </a:custGeom>
            <a:ln w="952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/>
                <p:cNvSpPr txBox="1"/>
                <p:nvPr/>
              </p:nvSpPr>
              <p:spPr>
                <a:xfrm>
                  <a:off x="459549" y="4365104"/>
                  <a:ext cx="1656184" cy="12003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/>
                          </a:rPr>
                          <m:t>=11</m:t>
                        </m:r>
                        <m:r>
                          <a:rPr lang="en-US" b="0" i="1" smtClean="0">
                            <a:latin typeface="Cambria Math"/>
                          </a:rPr>
                          <m:t>𝐻𝑧</m:t>
                        </m:r>
                      </m:oMath>
                    </m:oMathPara>
                  </a14:m>
                  <a:endParaRPr lang="en-GB" dirty="0" smtClean="0"/>
                </a:p>
                <a:p>
                  <a:pPr algn="ctr"/>
                  <a:r>
                    <a:rPr lang="en-US" dirty="0" smtClean="0">
                      <a:latin typeface="Cambria Math" pitchFamily="18" charset="0"/>
                      <a:ea typeface="Cambria Math" pitchFamily="18" charset="0"/>
                    </a:rPr>
                    <a:t>0.5 second Hamming window</a:t>
                  </a:r>
                  <a:endParaRPr lang="en-GB" dirty="0">
                    <a:latin typeface="Cambria Math" pitchFamily="18" charset="0"/>
                    <a:ea typeface="Cambria Math" pitchFamily="18" charset="0"/>
                  </a:endParaRPr>
                </a:p>
              </p:txBody>
            </p:sp>
          </mc:Choice>
          <mc:Fallback xmlns="">
            <p:sp>
              <p:nvSpPr>
                <p:cNvPr id="7" name="TextBox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9549" y="4365104"/>
                  <a:ext cx="1656184" cy="1200329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b="-659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/>
                <p:cNvSpPr txBox="1"/>
                <p:nvPr/>
              </p:nvSpPr>
              <p:spPr>
                <a:xfrm>
                  <a:off x="3258804" y="4365103"/>
                  <a:ext cx="1656184" cy="12003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/>
                          </a:rPr>
                          <m:t>=22</m:t>
                        </m:r>
                        <m:r>
                          <a:rPr lang="en-US" b="0" i="1" smtClean="0">
                            <a:latin typeface="Cambria Math"/>
                          </a:rPr>
                          <m:t>𝐾𝐻𝑧</m:t>
                        </m:r>
                      </m:oMath>
                    </m:oMathPara>
                  </a14:m>
                  <a:endParaRPr lang="en-GB" dirty="0" smtClean="0"/>
                </a:p>
                <a:p>
                  <a:pPr algn="ctr"/>
                  <a:r>
                    <a:rPr lang="en-US" dirty="0" smtClean="0">
                      <a:latin typeface="Cambria Math" pitchFamily="18" charset="0"/>
                      <a:ea typeface="Cambria Math" pitchFamily="18" charset="0"/>
                    </a:rPr>
                    <a:t>0.1 second Hamming window</a:t>
                  </a:r>
                  <a:endParaRPr lang="en-GB" dirty="0">
                    <a:latin typeface="Cambria Math" pitchFamily="18" charset="0"/>
                    <a:ea typeface="Cambria Math" pitchFamily="18" charset="0"/>
                  </a:endParaRPr>
                </a:p>
              </p:txBody>
            </p:sp>
          </mc:Choice>
          <mc:Fallback xmlns="">
            <p:sp>
              <p:nvSpPr>
                <p:cNvPr id="13" name="TextBox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58804" y="4365103"/>
                  <a:ext cx="1656184" cy="1200329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b="-659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TextBox 15"/>
            <p:cNvSpPr txBox="1"/>
            <p:nvPr/>
          </p:nvSpPr>
          <p:spPr>
            <a:xfrm>
              <a:off x="2081689" y="4481887"/>
              <a:ext cx="130413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Length: </a:t>
              </a:r>
            </a:p>
            <a:p>
              <a:r>
                <a:rPr lang="en-US" dirty="0" smtClean="0"/>
                <a:t>15 seconds</a:t>
              </a:r>
              <a:endParaRPr lang="en-GB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65809365"/>
                  </p:ext>
                </p:extLst>
              </p:nvPr>
            </p:nvGraphicFramePr>
            <p:xfrm>
              <a:off x="5089462" y="1610626"/>
              <a:ext cx="3947034" cy="4775326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074826"/>
                    <a:gridCol w="1872208"/>
                  </a:tblGrid>
                  <a:tr h="1026286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Time reversed with -6dB/Oct correction</a:t>
                          </a:r>
                          <a:endParaRPr lang="en-GB" dirty="0" smtClean="0"/>
                        </a:p>
                        <a:p>
                          <a:endParaRPr lang="en-GB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𝑋</m:t>
                                    </m:r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(</m:t>
                                    </m:r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𝑤</m:t>
                                    </m:r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)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1778832"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itchFamily="34" charset="0"/>
                            <a:buChar char="•"/>
                          </a:pPr>
                          <a:r>
                            <a:rPr lang="en-US" dirty="0" smtClean="0"/>
                            <a:t>Produces artifacts at start and stop frequencies</a:t>
                          </a:r>
                        </a:p>
                        <a:p>
                          <a:pPr marL="285750" indent="-285750">
                            <a:buFont typeface="Arial" pitchFamily="34" charset="0"/>
                            <a:buChar char="•"/>
                          </a:pPr>
                          <a:r>
                            <a:rPr lang="en-US" dirty="0" smtClean="0"/>
                            <a:t>Does not preserve phase</a:t>
                          </a:r>
                          <a:endParaRPr lang="en-GB" dirty="0" smtClean="0"/>
                        </a:p>
                        <a:p>
                          <a:endParaRPr lang="en-GB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itchFamily="34" charset="0"/>
                            <a:buChar char="•"/>
                          </a:pPr>
                          <a:r>
                            <a:rPr lang="en-US" dirty="0" smtClean="0"/>
                            <a:t>Very precise</a:t>
                          </a:r>
                        </a:p>
                        <a:p>
                          <a:pPr marL="285750" indent="-285750">
                            <a:buFont typeface="Arial" pitchFamily="34" charset="0"/>
                            <a:buChar char="•"/>
                          </a:pPr>
                          <a:r>
                            <a:rPr lang="en-US" dirty="0" smtClean="0"/>
                            <a:t>Preserves phase</a:t>
                          </a:r>
                          <a:endParaRPr lang="en-GB" dirty="0" smtClean="0"/>
                        </a:p>
                        <a:p>
                          <a:endParaRPr lang="en-GB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1146929">
                    <a:tc>
                      <a:txBody>
                        <a:bodyPr/>
                        <a:lstStyle/>
                        <a:p>
                          <a:endParaRPr lang="en-GB" dirty="0" smtClean="0"/>
                        </a:p>
                        <a:p>
                          <a:endParaRPr lang="en-GB" dirty="0" smtClean="0"/>
                        </a:p>
                        <a:p>
                          <a:endParaRPr lang="en-GB" dirty="0" smtClean="0"/>
                        </a:p>
                        <a:p>
                          <a:endParaRPr lang="en-GB" dirty="0" smtClean="0"/>
                        </a:p>
                        <a:p>
                          <a:endParaRPr lang="en-GB" dirty="0" smtClean="0"/>
                        </a:p>
                        <a:p>
                          <a:endParaRPr lang="en-GB" dirty="0" smtClean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65809365"/>
                  </p:ext>
                </p:extLst>
              </p:nvPr>
            </p:nvGraphicFramePr>
            <p:xfrm>
              <a:off x="5089462" y="1610626"/>
              <a:ext cx="3947034" cy="4775326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074826"/>
                    <a:gridCol w="1872208"/>
                  </a:tblGrid>
                  <a:tr h="1026286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Time reversed with -6dB/Oct correction</a:t>
                          </a:r>
                          <a:endParaRPr lang="en-GB" dirty="0" smtClean="0"/>
                        </a:p>
                        <a:p>
                          <a:endParaRPr lang="en-GB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7"/>
                          <a:stretch>
                            <a:fillRect l="-111075" t="-2976" r="-326" b="-366667"/>
                          </a:stretch>
                        </a:blipFill>
                      </a:tcPr>
                    </a:tc>
                  </a:tr>
                  <a:tr h="2011680"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itchFamily="34" charset="0"/>
                            <a:buChar char="•"/>
                          </a:pPr>
                          <a:r>
                            <a:rPr lang="en-US" dirty="0" smtClean="0"/>
                            <a:t>Produces artifacts at start and stop frequencies</a:t>
                          </a:r>
                        </a:p>
                        <a:p>
                          <a:pPr marL="285750" indent="-285750">
                            <a:buFont typeface="Arial" pitchFamily="34" charset="0"/>
                            <a:buChar char="•"/>
                          </a:pPr>
                          <a:r>
                            <a:rPr lang="en-US" dirty="0" smtClean="0"/>
                            <a:t>Does not preserve phase</a:t>
                          </a:r>
                          <a:endParaRPr lang="en-GB" dirty="0" smtClean="0"/>
                        </a:p>
                        <a:p>
                          <a:endParaRPr lang="en-GB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itchFamily="34" charset="0"/>
                            <a:buChar char="•"/>
                          </a:pPr>
                          <a:r>
                            <a:rPr lang="en-US" dirty="0" smtClean="0"/>
                            <a:t>Very precise</a:t>
                          </a:r>
                        </a:p>
                        <a:p>
                          <a:pPr marL="285750" indent="-285750">
                            <a:buFont typeface="Arial" pitchFamily="34" charset="0"/>
                            <a:buChar char="•"/>
                          </a:pPr>
                          <a:r>
                            <a:rPr lang="en-US" dirty="0" smtClean="0"/>
                            <a:t>Preserves phase</a:t>
                          </a:r>
                          <a:endParaRPr lang="en-GB" dirty="0" smtClean="0"/>
                        </a:p>
                        <a:p>
                          <a:endParaRPr lang="en-GB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1737360">
                    <a:tc>
                      <a:txBody>
                        <a:bodyPr/>
                        <a:lstStyle/>
                        <a:p>
                          <a:endParaRPr lang="en-GB" dirty="0" smtClean="0"/>
                        </a:p>
                        <a:p>
                          <a:endParaRPr lang="en-GB" dirty="0" smtClean="0"/>
                        </a:p>
                        <a:p>
                          <a:endParaRPr lang="en-GB" dirty="0" smtClean="0"/>
                        </a:p>
                        <a:p>
                          <a:endParaRPr lang="en-GB" dirty="0" smtClean="0"/>
                        </a:p>
                        <a:p>
                          <a:endParaRPr lang="en-GB" dirty="0" smtClean="0"/>
                        </a:p>
                        <a:p>
                          <a:endParaRPr lang="en-GB" dirty="0" smtClean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Fallback>
      </mc:AlternateContent>
      <p:pic>
        <p:nvPicPr>
          <p:cNvPr id="20" name="Picture 19"/>
          <p:cNvPicPr/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69" t="37551" r="68092" b="38835"/>
          <a:stretch/>
        </p:blipFill>
        <p:spPr bwMode="auto">
          <a:xfrm>
            <a:off x="5051891" y="5128218"/>
            <a:ext cx="2025415" cy="1090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Picture 20"/>
          <p:cNvPicPr/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58" t="36774" r="67495" b="38578"/>
          <a:stretch/>
        </p:blipFill>
        <p:spPr bwMode="auto">
          <a:xfrm>
            <a:off x="7092280" y="5092142"/>
            <a:ext cx="1823803" cy="110893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"/>
          <p:cNvSpPr/>
          <p:nvPr/>
        </p:nvSpPr>
        <p:spPr>
          <a:xfrm>
            <a:off x="251520" y="5301208"/>
            <a:ext cx="1036121" cy="216024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Line out</a:t>
            </a:r>
            <a:endParaRPr lang="en-GB" dirty="0"/>
          </a:p>
        </p:txBody>
      </p:sp>
      <p:cxnSp>
        <p:nvCxnSpPr>
          <p:cNvPr id="9" name="Straight Arrow Connector 8"/>
          <p:cNvCxnSpPr>
            <a:stCxn id="4" idx="3"/>
          </p:cNvCxnSpPr>
          <p:nvPr/>
        </p:nvCxnSpPr>
        <p:spPr>
          <a:xfrm>
            <a:off x="1287641" y="5409220"/>
            <a:ext cx="692071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Isosceles Triangle 25"/>
          <p:cNvSpPr/>
          <p:nvPr/>
        </p:nvSpPr>
        <p:spPr>
          <a:xfrm rot="5400000">
            <a:off x="1976414" y="5118681"/>
            <a:ext cx="587673" cy="581078"/>
          </a:xfrm>
          <a:prstGeom prst="triangl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Rectangle 26"/>
          <p:cNvSpPr/>
          <p:nvPr/>
        </p:nvSpPr>
        <p:spPr>
          <a:xfrm>
            <a:off x="2843808" y="5301208"/>
            <a:ext cx="1243088" cy="899872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Circuit under test</a:t>
            </a:r>
          </a:p>
          <a:p>
            <a:pPr algn="ctr"/>
            <a:r>
              <a:rPr lang="en-GB" dirty="0" smtClean="0">
                <a:latin typeface="Cambria Math" pitchFamily="18" charset="0"/>
                <a:ea typeface="Cambria Math" pitchFamily="18" charset="0"/>
              </a:rPr>
              <a:t>H(w)</a:t>
            </a:r>
            <a:endParaRPr lang="en-GB" dirty="0">
              <a:latin typeface="Cambria Math" pitchFamily="18" charset="0"/>
              <a:ea typeface="Cambria Math" pitchFamily="18" charset="0"/>
            </a:endParaRPr>
          </a:p>
        </p:txBody>
      </p:sp>
      <p:cxnSp>
        <p:nvCxnSpPr>
          <p:cNvPr id="29" name="Straight Arrow Connector 28"/>
          <p:cNvCxnSpPr>
            <a:stCxn id="26" idx="0"/>
          </p:cNvCxnSpPr>
          <p:nvPr/>
        </p:nvCxnSpPr>
        <p:spPr>
          <a:xfrm flipV="1">
            <a:off x="2560790" y="5409220"/>
            <a:ext cx="283018" cy="1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Isosceles Triangle 31"/>
          <p:cNvSpPr/>
          <p:nvPr/>
        </p:nvSpPr>
        <p:spPr>
          <a:xfrm rot="16200000">
            <a:off x="1932568" y="5849169"/>
            <a:ext cx="587673" cy="581078"/>
          </a:xfrm>
          <a:prstGeom prst="triangl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1" name="Straight Arrow Connector 30"/>
          <p:cNvCxnSpPr>
            <a:endCxn id="32" idx="3"/>
          </p:cNvCxnSpPr>
          <p:nvPr/>
        </p:nvCxnSpPr>
        <p:spPr>
          <a:xfrm flipH="1">
            <a:off x="2516944" y="6139708"/>
            <a:ext cx="326864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251520" y="6031696"/>
            <a:ext cx="1036121" cy="216024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Mic in</a:t>
            </a:r>
            <a:endParaRPr lang="en-GB" dirty="0"/>
          </a:p>
        </p:txBody>
      </p:sp>
      <p:cxnSp>
        <p:nvCxnSpPr>
          <p:cNvPr id="34" name="Straight Arrow Connector 33"/>
          <p:cNvCxnSpPr>
            <a:stCxn id="32" idx="0"/>
            <a:endCxn id="36" idx="3"/>
          </p:cNvCxnSpPr>
          <p:nvPr/>
        </p:nvCxnSpPr>
        <p:spPr>
          <a:xfrm flipH="1">
            <a:off x="1287641" y="6139708"/>
            <a:ext cx="648225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487369" y="6447436"/>
            <a:ext cx="1971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Op-amp buffers</a:t>
            </a:r>
            <a:endParaRPr lang="en-GB" dirty="0"/>
          </a:p>
        </p:txBody>
      </p:sp>
      <p:sp>
        <p:nvSpPr>
          <p:cNvPr id="40" name="TextBox 39"/>
          <p:cNvSpPr txBox="1"/>
          <p:nvPr/>
        </p:nvSpPr>
        <p:spPr>
          <a:xfrm>
            <a:off x="1384793" y="5090510"/>
            <a:ext cx="6780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mbria Math" pitchFamily="18" charset="0"/>
                <a:ea typeface="Cambria Math" pitchFamily="18" charset="0"/>
              </a:rPr>
              <a:t>x</a:t>
            </a:r>
            <a:r>
              <a:rPr lang="en-GB" dirty="0" smtClean="0">
                <a:latin typeface="Cambria Math" pitchFamily="18" charset="0"/>
                <a:ea typeface="Cambria Math" pitchFamily="18" charset="0"/>
              </a:rPr>
              <a:t>(t)</a:t>
            </a:r>
            <a:endParaRPr lang="en-GB" dirty="0">
              <a:latin typeface="Cambria Math" pitchFamily="18" charset="0"/>
              <a:ea typeface="Cambria Math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359351" y="5775186"/>
            <a:ext cx="6780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>
                <a:latin typeface="Cambria Math" pitchFamily="18" charset="0"/>
                <a:ea typeface="Cambria Math" pitchFamily="18" charset="0"/>
              </a:rPr>
              <a:t>y(t)</a:t>
            </a:r>
            <a:endParaRPr lang="en-GB" dirty="0">
              <a:latin typeface="Cambria Math" pitchFamily="18" charset="0"/>
              <a:ea typeface="Cambria Math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2688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68" t="1888" r="8230" b="3259"/>
          <a:stretch/>
        </p:blipFill>
        <p:spPr bwMode="auto">
          <a:xfrm>
            <a:off x="-20683" y="1292860"/>
            <a:ext cx="5591924" cy="3168352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Picture 5"/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50" t="1544" r="8394" b="4803"/>
          <a:stretch/>
        </p:blipFill>
        <p:spPr bwMode="auto">
          <a:xfrm>
            <a:off x="3491879" y="3606941"/>
            <a:ext cx="5624303" cy="31878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5671920" y="3028310"/>
            <a:ext cx="3240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Accurate amplitude response</a:t>
            </a:r>
            <a:endParaRPr lang="en-GB" dirty="0"/>
          </a:p>
        </p:txBody>
      </p:sp>
      <p:sp>
        <p:nvSpPr>
          <p:cNvPr id="8" name="TextBox 7"/>
          <p:cNvSpPr txBox="1"/>
          <p:nvPr/>
        </p:nvSpPr>
        <p:spPr>
          <a:xfrm>
            <a:off x="179512" y="4557669"/>
            <a:ext cx="30243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Accurate phase response, provided phase shift is 0 at f</a:t>
            </a:r>
            <a:r>
              <a:rPr lang="en-GB" baseline="-25000" dirty="0" smtClean="0"/>
              <a:t>0</a:t>
            </a:r>
            <a:endParaRPr lang="en-GB" baseline="-25000" dirty="0"/>
          </a:p>
        </p:txBody>
      </p:sp>
      <p:pic>
        <p:nvPicPr>
          <p:cNvPr id="9" name="Picture 8"/>
          <p:cNvPicPr/>
          <p:nvPr/>
        </p:nvPicPr>
        <p:blipFill rotWithShape="1">
          <a:blip r:embed="rId4"/>
          <a:srcRect l="64194" t="13158" r="16762" b="7387"/>
          <a:stretch/>
        </p:blipFill>
        <p:spPr bwMode="auto">
          <a:xfrm>
            <a:off x="6396982" y="1292860"/>
            <a:ext cx="2515298" cy="158417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52" t="20932" r="19718" b="24759"/>
          <a:stretch/>
        </p:blipFill>
        <p:spPr bwMode="auto">
          <a:xfrm>
            <a:off x="151625" y="5371593"/>
            <a:ext cx="2476159" cy="11742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179512" y="646529"/>
            <a:ext cx="87327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Using plain PC sound card at 96KHz sampling </a:t>
            </a:r>
            <a:r>
              <a:rPr lang="en-US" dirty="0" smtClean="0"/>
              <a:t>rate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Microphone input buffered with an op-amp</a:t>
            </a:r>
            <a:endParaRPr lang="en-GB" dirty="0"/>
          </a:p>
        </p:txBody>
      </p:sp>
      <p:grpSp>
        <p:nvGrpSpPr>
          <p:cNvPr id="17" name="Group 16"/>
          <p:cNvGrpSpPr/>
          <p:nvPr/>
        </p:nvGrpSpPr>
        <p:grpSpPr>
          <a:xfrm>
            <a:off x="379572" y="1970231"/>
            <a:ext cx="1320225" cy="1386761"/>
            <a:chOff x="379572" y="1970231"/>
            <a:chExt cx="1320225" cy="1386761"/>
          </a:xfrm>
        </p:grpSpPr>
        <p:sp>
          <p:nvSpPr>
            <p:cNvPr id="18" name="Rectangle 17"/>
            <p:cNvSpPr/>
            <p:nvPr/>
          </p:nvSpPr>
          <p:spPr>
            <a:xfrm>
              <a:off x="379572" y="1970231"/>
              <a:ext cx="1320225" cy="1386761"/>
            </a:xfrm>
            <a:prstGeom prst="rect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tIns="36000" rIns="36000" bIns="36000" rtlCol="0" anchor="t"/>
            <a:lstStyle/>
            <a:p>
              <a:pPr>
                <a:lnSpc>
                  <a:spcPct val="150000"/>
                </a:lnSpc>
              </a:pPr>
              <a:r>
                <a:rPr lang="en-GB" sz="1600" dirty="0" smtClean="0"/>
                <a:t>×       </a:t>
              </a:r>
              <a:r>
                <a:rPr lang="en-GB" sz="1400" dirty="0" smtClean="0"/>
                <a:t>Calculated</a:t>
              </a:r>
            </a:p>
            <a:p>
              <a:pPr>
                <a:lnSpc>
                  <a:spcPct val="150000"/>
                </a:lnSpc>
              </a:pPr>
              <a:r>
                <a:rPr lang="en-GB" sz="1400" dirty="0"/>
                <a:t> </a:t>
              </a:r>
              <a:r>
                <a:rPr lang="en-GB" sz="1400" dirty="0" smtClean="0"/>
                <a:t>          LP, </a:t>
              </a:r>
              <a:r>
                <a:rPr lang="el-GR" sz="1400" dirty="0" smtClean="0"/>
                <a:t>τ</a:t>
              </a:r>
              <a:r>
                <a:rPr lang="en-GB" sz="1400" dirty="0" smtClean="0"/>
                <a:t>=1E-3 </a:t>
              </a:r>
            </a:p>
            <a:p>
              <a:pPr>
                <a:lnSpc>
                  <a:spcPct val="150000"/>
                </a:lnSpc>
              </a:pPr>
              <a:r>
                <a:rPr lang="en-GB" sz="1400" dirty="0"/>
                <a:t> </a:t>
              </a:r>
              <a:r>
                <a:rPr lang="en-GB" sz="1400" dirty="0" smtClean="0"/>
                <a:t>          LP, </a:t>
              </a:r>
              <a:r>
                <a:rPr lang="el-GR" sz="1400" dirty="0" smtClean="0"/>
                <a:t>τ</a:t>
              </a:r>
              <a:r>
                <a:rPr lang="en-GB" sz="1400" dirty="0" smtClean="0"/>
                <a:t>=1E-4</a:t>
              </a:r>
            </a:p>
            <a:p>
              <a:pPr>
                <a:lnSpc>
                  <a:spcPct val="150000"/>
                </a:lnSpc>
              </a:pPr>
              <a:r>
                <a:rPr lang="en-GB" sz="1400" dirty="0" smtClean="0"/>
                <a:t>           HP shelf  </a:t>
              </a:r>
            </a:p>
            <a:p>
              <a:pPr>
                <a:lnSpc>
                  <a:spcPct val="150000"/>
                </a:lnSpc>
              </a:pPr>
              <a:endParaRPr lang="en-GB" sz="1400" dirty="0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467544" y="2877036"/>
              <a:ext cx="360040" cy="0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467544" y="2564904"/>
              <a:ext cx="360040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463216" y="3183131"/>
              <a:ext cx="36004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22" name="TextBox 21"/>
          <p:cNvSpPr txBox="1"/>
          <p:nvPr/>
        </p:nvSpPr>
        <p:spPr>
          <a:xfrm>
            <a:off x="0" y="7888"/>
            <a:ext cx="9143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 smtClean="0"/>
              <a:t>Experimental validation of characterisation technique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3489823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5565" y="0"/>
            <a:ext cx="8229600" cy="764704"/>
          </a:xfrm>
        </p:spPr>
        <p:txBody>
          <a:bodyPr/>
          <a:lstStyle/>
          <a:p>
            <a:r>
              <a:rPr lang="en-GB" dirty="0" smtClean="0"/>
              <a:t>Design of </a:t>
            </a:r>
            <a:r>
              <a:rPr lang="en-GB" sz="4000" dirty="0" smtClean="0"/>
              <a:t>the</a:t>
            </a:r>
            <a:r>
              <a:rPr lang="en-GB" dirty="0" smtClean="0"/>
              <a:t> digital cross-over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3841" y="908720"/>
            <a:ext cx="8229600" cy="964704"/>
          </a:xfrm>
        </p:spPr>
        <p:txBody>
          <a:bodyPr>
            <a:normAutofit fontScale="92500" lnSpcReduction="10000"/>
          </a:bodyPr>
          <a:lstStyle/>
          <a:p>
            <a:r>
              <a:rPr lang="en-GB" dirty="0" smtClean="0"/>
              <a:t>Circuit – s plane – bilinear – impulse response - convolution</a:t>
            </a:r>
            <a:endParaRPr lang="en-GB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17" t="3803" r="23310" b="5394"/>
          <a:stretch/>
        </p:blipFill>
        <p:spPr bwMode="auto">
          <a:xfrm>
            <a:off x="179511" y="2269839"/>
            <a:ext cx="3129385" cy="25202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-1024505" y="5438191"/>
                <a:ext cx="7416823" cy="50840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GB" sz="1200" i="1">
                              <a:latin typeface="Cambria Math"/>
                            </a:rPr>
                            <m:t>𝑠</m:t>
                          </m:r>
                          <m:d>
                            <m:dPr>
                              <m:ctrlPr>
                                <a:rPr lang="en-GB" sz="1200" i="1">
                                  <a:latin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12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GB" sz="1200" i="1">
                                      <a:latin typeface="Cambria Math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GB" sz="1200" i="1">
                                      <a:latin typeface="Cambria Math"/>
                                    </a:rPr>
                                    <m:t>𝑤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GB" sz="12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GB" sz="1200" i="1">
                                      <a:latin typeface="Cambria Math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GB" sz="1200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GB" sz="12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GB" sz="1200" i="1">
                                      <a:latin typeface="Cambria Math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GB" sz="1200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GB" sz="1200" i="1"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12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GB" sz="1200" i="1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1200" i="1">
                                  <a:latin typeface="Cambria Math"/>
                                </a:rPr>
                                <m:t>𝑤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GB" sz="1200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GB" sz="1200" i="1">
                                  <a:latin typeface="Cambria Math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GB" sz="1200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en-GB" sz="1200" i="1">
                                  <a:latin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12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GB" sz="1200" i="1">
                                      <a:latin typeface="Cambria Math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GB" sz="1200" i="1">
                                      <a:latin typeface="Cambria Math"/>
                                    </a:rPr>
                                    <m:t>𝑤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GB" sz="12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GB" sz="1200" i="1">
                                      <a:latin typeface="Cambria Math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GB" sz="1200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GB" sz="12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GB" sz="1200" i="1">
                                      <a:latin typeface="Cambria Math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GB" sz="1200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GB" sz="1200" i="1">
                                  <a:latin typeface="Cambria Math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GB" sz="12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GB" sz="1200" i="1">
                                      <a:latin typeface="Cambria Math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GB" sz="1200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GB" sz="12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GB" sz="1200" i="1">
                                      <a:latin typeface="Cambria Math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GB" sz="1200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GB" sz="12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GB" sz="1200" i="1">
                                      <a:latin typeface="Cambria Math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GB" sz="1200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GB" sz="1200" i="1">
                              <a:latin typeface="Cambria Math"/>
                            </a:rPr>
                            <m:t>+</m:t>
                          </m:r>
                          <m:r>
                            <a:rPr lang="en-GB" sz="1200" i="1">
                              <a:latin typeface="Cambria Math"/>
                            </a:rPr>
                            <m:t>𝑠</m:t>
                          </m:r>
                          <m:d>
                            <m:dPr>
                              <m:ctrlPr>
                                <a:rPr lang="en-GB" sz="1200" i="1">
                                  <a:latin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12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GB" sz="1200" i="1">
                                      <a:latin typeface="Cambria Math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GB" sz="1200" i="1">
                                      <a:latin typeface="Cambria Math"/>
                                    </a:rPr>
                                    <m:t>𝑤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GB" sz="12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GB" sz="1200" i="1">
                                      <a:latin typeface="Cambria Math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GB" sz="1200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GB" sz="12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GB" sz="1200" i="1">
                                      <a:latin typeface="Cambria Math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GB" sz="1200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GB" sz="1200" i="1">
                                  <a:latin typeface="Cambria Math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GB" sz="12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GB" sz="1200" i="1">
                                      <a:latin typeface="Cambria Math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GB" sz="1200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GB" sz="1200" i="1">
                                  <a:latin typeface="Cambria Math"/>
                                </a:rPr>
                                <m:t>+0.3</m:t>
                              </m:r>
                              <m:sSub>
                                <m:sSubPr>
                                  <m:ctrlPr>
                                    <a:rPr lang="en-GB" sz="12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GB" sz="1200" i="1">
                                      <a:latin typeface="Cambria Math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GB" sz="1200" i="1">
                                      <a:latin typeface="Cambria Math"/>
                                    </a:rPr>
                                    <m:t>𝑤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GB" sz="12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GB" sz="1200" i="1">
                                      <a:latin typeface="Cambria Math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GB" sz="1200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GB" sz="12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GB" sz="1200" i="1">
                                      <a:latin typeface="Cambria Math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GB" sz="1200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GB" sz="1200" i="1">
                                  <a:latin typeface="Cambria Math"/>
                                </a:rPr>
                                <m:t>+0.3</m:t>
                              </m:r>
                              <m:sSub>
                                <m:sSubPr>
                                  <m:ctrlPr>
                                    <a:rPr lang="en-GB" sz="12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GB" sz="1200" i="1">
                                      <a:latin typeface="Cambria Math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GB" sz="1200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GB" sz="1200" i="1"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12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GB" sz="1200" i="1">
                                  <a:latin typeface="Cambria Math"/>
                                </a:rPr>
                                <m:t>(</m:t>
                              </m:r>
                              <m:r>
                                <a:rPr lang="en-GB" sz="1200" i="1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1200" i="1">
                                  <a:latin typeface="Cambria Math"/>
                                </a:rPr>
                                <m:t>𝑤</m:t>
                              </m:r>
                            </m:sub>
                          </m:sSub>
                          <m:r>
                            <a:rPr lang="en-GB" sz="1200" i="1">
                              <a:latin typeface="Cambria Math"/>
                            </a:rPr>
                            <m:t>+0.3)</m:t>
                          </m:r>
                        </m:den>
                      </m:f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24505" y="5438191"/>
                <a:ext cx="7416823" cy="508409"/>
              </a:xfrm>
              <a:prstGeom prst="rect">
                <a:avLst/>
              </a:prstGeom>
              <a:blipFill rotWithShape="1">
                <a:blip r:embed="rId4"/>
                <a:stretch>
                  <a:fillRect b="-12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ight Arrow 5"/>
          <p:cNvSpPr/>
          <p:nvPr/>
        </p:nvSpPr>
        <p:spPr>
          <a:xfrm rot="5400000">
            <a:off x="1862981" y="4854184"/>
            <a:ext cx="488170" cy="360040"/>
          </a:xfrm>
          <a:prstGeom prst="rightArrow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3059832" y="4363231"/>
                <a:ext cx="3400418" cy="52456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 smtClean="0">
                          <a:latin typeface="Cambria Math"/>
                        </a:rPr>
                        <m:t>𝐻</m:t>
                      </m:r>
                      <m:d>
                        <m:dPr>
                          <m:ctrlPr>
                            <a:rPr lang="en-GB" sz="14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GB" sz="1400" i="1">
                              <a:latin typeface="Cambria Math"/>
                            </a:rPr>
                            <m:t>𝑧</m:t>
                          </m:r>
                        </m:e>
                      </m:d>
                      <m:r>
                        <a:rPr lang="en-GB" sz="14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sz="14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GB" sz="1400" i="1">
                              <a:latin typeface="Cambria Math"/>
                            </a:rPr>
                            <m:t>0.0076+</m:t>
                          </m:r>
                          <m:r>
                            <a:rPr lang="en-GB" sz="1400" i="1" smtClean="0">
                              <a:latin typeface="Cambria Math"/>
                            </a:rPr>
                            <m:t>0</m:t>
                          </m:r>
                          <m:r>
                            <a:rPr lang="en-GB" sz="1400" i="1">
                              <a:latin typeface="Cambria Math"/>
                            </a:rPr>
                            <m:t>.059</m:t>
                          </m:r>
                          <m:sSup>
                            <m:sSupPr>
                              <m:ctrlPr>
                                <a:rPr lang="en-GB" sz="1400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GB" sz="1400" i="1">
                                  <a:latin typeface="Cambria Math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GB" sz="1400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GB" sz="1400" b="0" i="1" smtClean="0">
                                  <a:latin typeface="Cambria Math"/>
                                </a:rPr>
                                <m:t>1</m:t>
                              </m:r>
                            </m:sup>
                          </m:sSup>
                          <m:r>
                            <a:rPr lang="en-GB" sz="1400" i="1" smtClean="0">
                              <a:latin typeface="Cambria Math"/>
                            </a:rPr>
                            <m:t>−</m:t>
                          </m:r>
                          <m:r>
                            <a:rPr lang="en-GB" sz="1400" i="1">
                              <a:latin typeface="Cambria Math"/>
                            </a:rPr>
                            <m:t>0.0017</m:t>
                          </m:r>
                          <m:sSup>
                            <m:sSupPr>
                              <m:ctrlPr>
                                <a:rPr lang="en-GB" sz="1400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GB" sz="1400" i="1">
                                  <a:latin typeface="Cambria Math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GB" sz="1400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GB" sz="1400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GB" sz="1400" i="1">
                              <a:latin typeface="Cambria Math"/>
                            </a:rPr>
                            <m:t>1−1.7935</m:t>
                          </m:r>
                          <m:sSup>
                            <m:sSupPr>
                              <m:ctrlPr>
                                <a:rPr lang="en-GB" sz="1400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GB" sz="1400" i="1">
                                  <a:latin typeface="Cambria Math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GB" sz="1400" i="1">
                                  <a:latin typeface="Cambria Math"/>
                                </a:rPr>
                                <m:t>−1</m:t>
                              </m:r>
                            </m:sup>
                          </m:sSup>
                          <m:r>
                            <a:rPr lang="en-GB" sz="1400" i="1">
                              <a:latin typeface="Cambria Math"/>
                            </a:rPr>
                            <m:t>−0.8060</m:t>
                          </m:r>
                          <m:sSup>
                            <m:sSupPr>
                              <m:ctrlPr>
                                <a:rPr lang="en-GB" sz="1400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GB" sz="1400" i="1">
                                  <a:latin typeface="Cambria Math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GB" sz="1400" i="1">
                                  <a:latin typeface="Cambria Math"/>
                                </a:rPr>
                                <m:t>−2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4363231"/>
                <a:ext cx="3400418" cy="524567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ight Arrow 8"/>
          <p:cNvSpPr/>
          <p:nvPr/>
        </p:nvSpPr>
        <p:spPr>
          <a:xfrm rot="16200000">
            <a:off x="4590143" y="5098269"/>
            <a:ext cx="488170" cy="360040"/>
          </a:xfrm>
          <a:prstGeom prst="rightArrow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872" y="1649285"/>
            <a:ext cx="3228338" cy="24207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Right Arrow 10"/>
          <p:cNvSpPr/>
          <p:nvPr/>
        </p:nvSpPr>
        <p:spPr>
          <a:xfrm rot="16200000">
            <a:off x="4687632" y="4081911"/>
            <a:ext cx="293192" cy="269448"/>
          </a:xfrm>
          <a:prstGeom prst="rightArrow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618" y="1837791"/>
            <a:ext cx="2234731" cy="1440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Right Arrow 12"/>
          <p:cNvSpPr/>
          <p:nvPr/>
        </p:nvSpPr>
        <p:spPr>
          <a:xfrm>
            <a:off x="6392318" y="2876917"/>
            <a:ext cx="293192" cy="269448"/>
          </a:xfrm>
          <a:prstGeom prst="rightArrow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dirty="0"/>
          </a:p>
        </p:txBody>
      </p:sp>
      <p:grpSp>
        <p:nvGrpSpPr>
          <p:cNvPr id="8" name="Group 7"/>
          <p:cNvGrpSpPr/>
          <p:nvPr/>
        </p:nvGrpSpPr>
        <p:grpSpPr>
          <a:xfrm>
            <a:off x="7819465" y="3715375"/>
            <a:ext cx="1179978" cy="1764592"/>
            <a:chOff x="7164805" y="4170308"/>
            <a:chExt cx="1179978" cy="1764592"/>
          </a:xfrm>
        </p:grpSpPr>
        <p:grpSp>
          <p:nvGrpSpPr>
            <p:cNvPr id="14" name="Group 864"/>
            <p:cNvGrpSpPr>
              <a:grpSpLocks/>
            </p:cNvGrpSpPr>
            <p:nvPr/>
          </p:nvGrpSpPr>
          <p:grpSpPr bwMode="auto">
            <a:xfrm>
              <a:off x="7164805" y="5194492"/>
              <a:ext cx="813976" cy="557584"/>
              <a:chOff x="1843" y="1698"/>
              <a:chExt cx="576" cy="462"/>
            </a:xfrm>
          </p:grpSpPr>
          <p:grpSp>
            <p:nvGrpSpPr>
              <p:cNvPr id="15" name="Group 60"/>
              <p:cNvGrpSpPr>
                <a:grpSpLocks/>
              </p:cNvGrpSpPr>
              <p:nvPr/>
            </p:nvGrpSpPr>
            <p:grpSpPr bwMode="auto">
              <a:xfrm>
                <a:off x="1843" y="1698"/>
                <a:ext cx="576" cy="461"/>
                <a:chOff x="3456" y="3427"/>
                <a:chExt cx="576" cy="461"/>
              </a:xfrm>
            </p:grpSpPr>
            <p:sp>
              <p:nvSpPr>
                <p:cNvPr id="17" name="Line 55"/>
                <p:cNvSpPr>
                  <a:spLocks noChangeShapeType="1"/>
                </p:cNvSpPr>
                <p:nvPr/>
              </p:nvSpPr>
              <p:spPr bwMode="auto">
                <a:xfrm>
                  <a:off x="3456" y="3652"/>
                  <a:ext cx="576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GB" dirty="0"/>
                </a:p>
              </p:txBody>
            </p:sp>
            <p:sp>
              <p:nvSpPr>
                <p:cNvPr id="18" name="AutoShape 56"/>
                <p:cNvSpPr>
                  <a:spLocks noChangeArrowheads="1"/>
                </p:cNvSpPr>
                <p:nvPr/>
              </p:nvSpPr>
              <p:spPr bwMode="auto">
                <a:xfrm rot="5400000">
                  <a:off x="3525" y="3497"/>
                  <a:ext cx="461" cy="322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vert="eaVert" wrap="none" anchor="ctr"/>
                <a:lstStyle/>
                <a:p>
                  <a:r>
                    <a:rPr lang="en-US" dirty="0" smtClean="0"/>
                    <a:t>R</a:t>
                  </a:r>
                  <a:endParaRPr lang="en-US" dirty="0"/>
                </a:p>
              </p:txBody>
            </p:sp>
          </p:grpSp>
          <p:sp>
            <p:nvSpPr>
              <p:cNvPr id="16" name="Freeform 863"/>
              <p:cNvSpPr>
                <a:spLocks/>
              </p:cNvSpPr>
              <p:nvPr/>
            </p:nvSpPr>
            <p:spPr bwMode="auto">
              <a:xfrm>
                <a:off x="1843" y="1699"/>
                <a:ext cx="576" cy="461"/>
              </a:xfrm>
              <a:custGeom>
                <a:avLst/>
                <a:gdLst>
                  <a:gd name="T0" fmla="*/ 0 w 576"/>
                  <a:gd name="T1" fmla="*/ 231 h 461"/>
                  <a:gd name="T2" fmla="*/ 115 w 576"/>
                  <a:gd name="T3" fmla="*/ 461 h 461"/>
                  <a:gd name="T4" fmla="*/ 576 w 576"/>
                  <a:gd name="T5" fmla="*/ 231 h 461"/>
                  <a:gd name="T6" fmla="*/ 115 w 576"/>
                  <a:gd name="T7" fmla="*/ 0 h 461"/>
                  <a:gd name="T8" fmla="*/ 0 w 576"/>
                  <a:gd name="T9" fmla="*/ 231 h 46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76" h="461">
                    <a:moveTo>
                      <a:pt x="0" y="231"/>
                    </a:moveTo>
                    <a:lnTo>
                      <a:pt x="115" y="461"/>
                    </a:lnTo>
                    <a:lnTo>
                      <a:pt x="576" y="231"/>
                    </a:lnTo>
                    <a:lnTo>
                      <a:pt x="115" y="0"/>
                    </a:lnTo>
                    <a:lnTo>
                      <a:pt x="0" y="231"/>
                    </a:lnTo>
                    <a:close/>
                  </a:path>
                </a:pathLst>
              </a:cu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 dirty="0"/>
              </a:p>
            </p:txBody>
          </p:sp>
        </p:grpSp>
        <p:grpSp>
          <p:nvGrpSpPr>
            <p:cNvPr id="19" name="Group 864"/>
            <p:cNvGrpSpPr>
              <a:grpSpLocks/>
            </p:cNvGrpSpPr>
            <p:nvPr/>
          </p:nvGrpSpPr>
          <p:grpSpPr bwMode="auto">
            <a:xfrm>
              <a:off x="7164805" y="4170308"/>
              <a:ext cx="813976" cy="557584"/>
              <a:chOff x="1843" y="1698"/>
              <a:chExt cx="576" cy="462"/>
            </a:xfrm>
          </p:grpSpPr>
          <p:grpSp>
            <p:nvGrpSpPr>
              <p:cNvPr id="20" name="Group 60"/>
              <p:cNvGrpSpPr>
                <a:grpSpLocks/>
              </p:cNvGrpSpPr>
              <p:nvPr/>
            </p:nvGrpSpPr>
            <p:grpSpPr bwMode="auto">
              <a:xfrm>
                <a:off x="1843" y="1698"/>
                <a:ext cx="576" cy="461"/>
                <a:chOff x="3456" y="3427"/>
                <a:chExt cx="576" cy="461"/>
              </a:xfrm>
            </p:grpSpPr>
            <p:sp>
              <p:nvSpPr>
                <p:cNvPr id="22" name="Line 55"/>
                <p:cNvSpPr>
                  <a:spLocks noChangeShapeType="1"/>
                </p:cNvSpPr>
                <p:nvPr/>
              </p:nvSpPr>
              <p:spPr bwMode="auto">
                <a:xfrm>
                  <a:off x="3456" y="3658"/>
                  <a:ext cx="576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GB" dirty="0"/>
                </a:p>
              </p:txBody>
            </p:sp>
            <p:sp>
              <p:nvSpPr>
                <p:cNvPr id="23" name="AutoShape 56"/>
                <p:cNvSpPr>
                  <a:spLocks noChangeArrowheads="1"/>
                </p:cNvSpPr>
                <p:nvPr/>
              </p:nvSpPr>
              <p:spPr bwMode="auto">
                <a:xfrm rot="5400000">
                  <a:off x="3525" y="3497"/>
                  <a:ext cx="461" cy="322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vert="eaVert" wrap="none" anchor="ctr"/>
                <a:lstStyle/>
                <a:p>
                  <a:r>
                    <a:rPr lang="en-US" dirty="0" smtClean="0"/>
                    <a:t>L</a:t>
                  </a:r>
                  <a:endParaRPr lang="en-US" dirty="0"/>
                </a:p>
              </p:txBody>
            </p:sp>
          </p:grpSp>
          <p:sp>
            <p:nvSpPr>
              <p:cNvPr id="21" name="Freeform 863"/>
              <p:cNvSpPr>
                <a:spLocks/>
              </p:cNvSpPr>
              <p:nvPr/>
            </p:nvSpPr>
            <p:spPr bwMode="auto">
              <a:xfrm>
                <a:off x="1843" y="1699"/>
                <a:ext cx="576" cy="461"/>
              </a:xfrm>
              <a:custGeom>
                <a:avLst/>
                <a:gdLst>
                  <a:gd name="T0" fmla="*/ 0 w 576"/>
                  <a:gd name="T1" fmla="*/ 231 h 461"/>
                  <a:gd name="T2" fmla="*/ 115 w 576"/>
                  <a:gd name="T3" fmla="*/ 461 h 461"/>
                  <a:gd name="T4" fmla="*/ 576 w 576"/>
                  <a:gd name="T5" fmla="*/ 231 h 461"/>
                  <a:gd name="T6" fmla="*/ 115 w 576"/>
                  <a:gd name="T7" fmla="*/ 0 h 461"/>
                  <a:gd name="T8" fmla="*/ 0 w 576"/>
                  <a:gd name="T9" fmla="*/ 231 h 46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76" h="461">
                    <a:moveTo>
                      <a:pt x="0" y="231"/>
                    </a:moveTo>
                    <a:lnTo>
                      <a:pt x="115" y="461"/>
                    </a:lnTo>
                    <a:lnTo>
                      <a:pt x="576" y="231"/>
                    </a:lnTo>
                    <a:lnTo>
                      <a:pt x="115" y="0"/>
                    </a:lnTo>
                    <a:lnTo>
                      <a:pt x="0" y="231"/>
                    </a:lnTo>
                    <a:close/>
                  </a:path>
                </a:pathLst>
              </a:cu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 dirty="0"/>
              </a:p>
            </p:txBody>
          </p:sp>
        </p:grpSp>
        <p:grpSp>
          <p:nvGrpSpPr>
            <p:cNvPr id="24" name="Group 307"/>
            <p:cNvGrpSpPr>
              <a:grpSpLocks/>
            </p:cNvGrpSpPr>
            <p:nvPr/>
          </p:nvGrpSpPr>
          <p:grpSpPr bwMode="auto">
            <a:xfrm>
              <a:off x="7920920" y="5020500"/>
              <a:ext cx="423863" cy="914400"/>
              <a:chOff x="2514" y="547"/>
              <a:chExt cx="267" cy="576"/>
            </a:xfrm>
          </p:grpSpPr>
          <p:sp>
            <p:nvSpPr>
              <p:cNvPr id="25" name="Freeform 132"/>
              <p:cNvSpPr>
                <a:spLocks/>
              </p:cNvSpPr>
              <p:nvPr/>
            </p:nvSpPr>
            <p:spPr bwMode="auto">
              <a:xfrm>
                <a:off x="2540" y="547"/>
                <a:ext cx="232" cy="576"/>
              </a:xfrm>
              <a:custGeom>
                <a:avLst/>
                <a:gdLst>
                  <a:gd name="T0" fmla="*/ 232 w 232"/>
                  <a:gd name="T1" fmla="*/ 576 h 576"/>
                  <a:gd name="T2" fmla="*/ 232 w 232"/>
                  <a:gd name="T3" fmla="*/ 0 h 576"/>
                  <a:gd name="T4" fmla="*/ 116 w 232"/>
                  <a:gd name="T5" fmla="*/ 173 h 576"/>
                  <a:gd name="T6" fmla="*/ 1 w 232"/>
                  <a:gd name="T7" fmla="*/ 173 h 576"/>
                  <a:gd name="T8" fmla="*/ 1 w 232"/>
                  <a:gd name="T9" fmla="*/ 230 h 576"/>
                  <a:gd name="T10" fmla="*/ 0 w 232"/>
                  <a:gd name="T11" fmla="*/ 347 h 576"/>
                  <a:gd name="T12" fmla="*/ 1 w 232"/>
                  <a:gd name="T13" fmla="*/ 403 h 576"/>
                  <a:gd name="T14" fmla="*/ 116 w 232"/>
                  <a:gd name="T15" fmla="*/ 403 h 576"/>
                  <a:gd name="T16" fmla="*/ 232 w 232"/>
                  <a:gd name="T17" fmla="*/ 576 h 57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32" h="576">
                    <a:moveTo>
                      <a:pt x="232" y="576"/>
                    </a:moveTo>
                    <a:lnTo>
                      <a:pt x="232" y="0"/>
                    </a:lnTo>
                    <a:lnTo>
                      <a:pt x="116" y="173"/>
                    </a:lnTo>
                    <a:lnTo>
                      <a:pt x="1" y="173"/>
                    </a:lnTo>
                    <a:lnTo>
                      <a:pt x="1" y="230"/>
                    </a:lnTo>
                    <a:lnTo>
                      <a:pt x="0" y="347"/>
                    </a:lnTo>
                    <a:lnTo>
                      <a:pt x="1" y="403"/>
                    </a:lnTo>
                    <a:lnTo>
                      <a:pt x="116" y="403"/>
                    </a:lnTo>
                    <a:lnTo>
                      <a:pt x="232" y="576"/>
                    </a:lnTo>
                    <a:close/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26" name="Text Box 133"/>
              <p:cNvSpPr txBox="1">
                <a:spLocks noChangeArrowheads="1"/>
              </p:cNvSpPr>
              <p:nvPr/>
            </p:nvSpPr>
            <p:spPr bwMode="auto">
              <a:xfrm>
                <a:off x="2514" y="762"/>
                <a:ext cx="267" cy="13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l" eaLnBrk="1" hangingPunct="1"/>
                <a:r>
                  <a:rPr lang="en-US" sz="800" dirty="0" smtClean="0"/>
                  <a:t>WOF</a:t>
                </a:r>
                <a:endParaRPr lang="en-US" sz="800" dirty="0"/>
              </a:p>
            </p:txBody>
          </p:sp>
        </p:grpSp>
        <p:grpSp>
          <p:nvGrpSpPr>
            <p:cNvPr id="27" name="Group 307"/>
            <p:cNvGrpSpPr>
              <a:grpSpLocks/>
            </p:cNvGrpSpPr>
            <p:nvPr/>
          </p:nvGrpSpPr>
          <p:grpSpPr bwMode="auto">
            <a:xfrm>
              <a:off x="7938541" y="4171096"/>
              <a:ext cx="342900" cy="557213"/>
              <a:chOff x="2514" y="547"/>
              <a:chExt cx="258" cy="576"/>
            </a:xfrm>
          </p:grpSpPr>
          <p:sp>
            <p:nvSpPr>
              <p:cNvPr id="28" name="Freeform 132"/>
              <p:cNvSpPr>
                <a:spLocks/>
              </p:cNvSpPr>
              <p:nvPr/>
            </p:nvSpPr>
            <p:spPr bwMode="auto">
              <a:xfrm>
                <a:off x="2540" y="547"/>
                <a:ext cx="232" cy="576"/>
              </a:xfrm>
              <a:custGeom>
                <a:avLst/>
                <a:gdLst>
                  <a:gd name="T0" fmla="*/ 232 w 232"/>
                  <a:gd name="T1" fmla="*/ 576 h 576"/>
                  <a:gd name="T2" fmla="*/ 232 w 232"/>
                  <a:gd name="T3" fmla="*/ 0 h 576"/>
                  <a:gd name="T4" fmla="*/ 116 w 232"/>
                  <a:gd name="T5" fmla="*/ 173 h 576"/>
                  <a:gd name="T6" fmla="*/ 1 w 232"/>
                  <a:gd name="T7" fmla="*/ 173 h 576"/>
                  <a:gd name="T8" fmla="*/ 1 w 232"/>
                  <a:gd name="T9" fmla="*/ 230 h 576"/>
                  <a:gd name="T10" fmla="*/ 0 w 232"/>
                  <a:gd name="T11" fmla="*/ 347 h 576"/>
                  <a:gd name="T12" fmla="*/ 1 w 232"/>
                  <a:gd name="T13" fmla="*/ 403 h 576"/>
                  <a:gd name="T14" fmla="*/ 116 w 232"/>
                  <a:gd name="T15" fmla="*/ 403 h 576"/>
                  <a:gd name="T16" fmla="*/ 232 w 232"/>
                  <a:gd name="T17" fmla="*/ 576 h 57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32" h="576">
                    <a:moveTo>
                      <a:pt x="232" y="576"/>
                    </a:moveTo>
                    <a:lnTo>
                      <a:pt x="232" y="0"/>
                    </a:lnTo>
                    <a:lnTo>
                      <a:pt x="116" y="173"/>
                    </a:lnTo>
                    <a:lnTo>
                      <a:pt x="1" y="173"/>
                    </a:lnTo>
                    <a:lnTo>
                      <a:pt x="1" y="230"/>
                    </a:lnTo>
                    <a:lnTo>
                      <a:pt x="0" y="347"/>
                    </a:lnTo>
                    <a:lnTo>
                      <a:pt x="1" y="403"/>
                    </a:lnTo>
                    <a:lnTo>
                      <a:pt x="116" y="403"/>
                    </a:lnTo>
                    <a:lnTo>
                      <a:pt x="232" y="576"/>
                    </a:lnTo>
                    <a:close/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29" name="Text Box 133"/>
              <p:cNvSpPr txBox="1">
                <a:spLocks noChangeArrowheads="1"/>
              </p:cNvSpPr>
              <p:nvPr/>
            </p:nvSpPr>
            <p:spPr bwMode="auto">
              <a:xfrm>
                <a:off x="2514" y="762"/>
                <a:ext cx="216" cy="13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l" eaLnBrk="1" hangingPunct="1"/>
                <a:r>
                  <a:rPr lang="en-US" sz="800" dirty="0" smtClean="0"/>
                  <a:t>TW</a:t>
                </a:r>
                <a:endParaRPr lang="en-US" sz="800" dirty="0"/>
              </a:p>
            </p:txBody>
          </p:sp>
        </p:grpSp>
      </p:grpSp>
      <p:sp>
        <p:nvSpPr>
          <p:cNvPr id="12" name="Freeform 11"/>
          <p:cNvSpPr/>
          <p:nvPr/>
        </p:nvSpPr>
        <p:spPr>
          <a:xfrm>
            <a:off x="7673419" y="3282700"/>
            <a:ext cx="150828" cy="712823"/>
          </a:xfrm>
          <a:custGeom>
            <a:avLst/>
            <a:gdLst>
              <a:gd name="connsiteX0" fmla="*/ 150828 w 150828"/>
              <a:gd name="connsiteY0" fmla="*/ 707010 h 707010"/>
              <a:gd name="connsiteX1" fmla="*/ 0 w 150828"/>
              <a:gd name="connsiteY1" fmla="*/ 707010 h 707010"/>
              <a:gd name="connsiteX2" fmla="*/ 0 w 150828"/>
              <a:gd name="connsiteY2" fmla="*/ 0 h 707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0828" h="707010">
                <a:moveTo>
                  <a:pt x="150828" y="707010"/>
                </a:moveTo>
                <a:lnTo>
                  <a:pt x="0" y="707010"/>
                </a:lnTo>
                <a:lnTo>
                  <a:pt x="0" y="0"/>
                </a:lnTo>
              </a:path>
            </a:pathLst>
          </a:cu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0" name="Freeform 29"/>
          <p:cNvSpPr/>
          <p:nvPr/>
        </p:nvSpPr>
        <p:spPr>
          <a:xfrm>
            <a:off x="7541443" y="3282700"/>
            <a:ext cx="273378" cy="1734532"/>
          </a:xfrm>
          <a:custGeom>
            <a:avLst/>
            <a:gdLst>
              <a:gd name="connsiteX0" fmla="*/ 273378 w 273378"/>
              <a:gd name="connsiteY0" fmla="*/ 1734532 h 1734532"/>
              <a:gd name="connsiteX1" fmla="*/ 0 w 273378"/>
              <a:gd name="connsiteY1" fmla="*/ 1734532 h 1734532"/>
              <a:gd name="connsiteX2" fmla="*/ 0 w 273378"/>
              <a:gd name="connsiteY2" fmla="*/ 0 h 1734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3378" h="1734532">
                <a:moveTo>
                  <a:pt x="273378" y="1734532"/>
                </a:moveTo>
                <a:lnTo>
                  <a:pt x="0" y="1734532"/>
                </a:lnTo>
                <a:lnTo>
                  <a:pt x="0" y="0"/>
                </a:lnTo>
              </a:path>
            </a:pathLst>
          </a:cu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1" name="TextBox 30"/>
          <p:cNvSpPr txBox="1"/>
          <p:nvPr/>
        </p:nvSpPr>
        <p:spPr>
          <a:xfrm>
            <a:off x="90195" y="4740766"/>
            <a:ext cx="18356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Manually or using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invfreqs</a:t>
            </a:r>
            <a:endParaRPr lang="en-GB" dirty="0">
              <a:latin typeface="Courier New" pitchFamily="49" charset="0"/>
              <a:cs typeface="Courier New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4" name="TextBox 1023"/>
              <p:cNvSpPr txBox="1"/>
              <p:nvPr/>
            </p:nvSpPr>
            <p:spPr>
              <a:xfrm>
                <a:off x="6392318" y="2557871"/>
                <a:ext cx="2931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/>
                          <a:ea typeface="Cambria Math"/>
                        </a:rPr>
                        <m:t>∗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24" name="TextBox 10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2318" y="2557871"/>
                <a:ext cx="293192" cy="369332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5186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13" r="7739" b="4288"/>
          <a:stretch/>
        </p:blipFill>
        <p:spPr bwMode="auto">
          <a:xfrm>
            <a:off x="647564" y="620688"/>
            <a:ext cx="7992888" cy="4968552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112" y="-99392"/>
            <a:ext cx="8229600" cy="836712"/>
          </a:xfrm>
        </p:spPr>
        <p:txBody>
          <a:bodyPr/>
          <a:lstStyle/>
          <a:p>
            <a:r>
              <a:rPr lang="en-GB" dirty="0" smtClean="0"/>
              <a:t>Active vs. passive cross-over</a:t>
            </a:r>
            <a:endParaRPr lang="en-GB" dirty="0"/>
          </a:p>
        </p:txBody>
      </p:sp>
      <p:sp>
        <p:nvSpPr>
          <p:cNvPr id="3" name="TextBox 2"/>
          <p:cNvSpPr txBox="1"/>
          <p:nvPr/>
        </p:nvSpPr>
        <p:spPr>
          <a:xfrm>
            <a:off x="467544" y="5733256"/>
            <a:ext cx="83529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GB" dirty="0" smtClean="0"/>
              <a:t>Active cross-over allows to treat speaker drivers as resistances – simplifies filter design</a:t>
            </a:r>
            <a:endParaRPr lang="en-GB" dirty="0"/>
          </a:p>
        </p:txBody>
      </p:sp>
      <p:grpSp>
        <p:nvGrpSpPr>
          <p:cNvPr id="132" name="Group 131"/>
          <p:cNvGrpSpPr/>
          <p:nvPr/>
        </p:nvGrpSpPr>
        <p:grpSpPr>
          <a:xfrm>
            <a:off x="5868144" y="3777459"/>
            <a:ext cx="1584176" cy="1246146"/>
            <a:chOff x="5868144" y="3777459"/>
            <a:chExt cx="1584176" cy="1246146"/>
          </a:xfrm>
        </p:grpSpPr>
        <p:sp>
          <p:nvSpPr>
            <p:cNvPr id="5" name="Rectangle 4"/>
            <p:cNvSpPr/>
            <p:nvPr/>
          </p:nvSpPr>
          <p:spPr>
            <a:xfrm>
              <a:off x="5868144" y="3777459"/>
              <a:ext cx="1584176" cy="1246146"/>
            </a:xfrm>
            <a:prstGeom prst="rect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>
                <a:lnSpc>
                  <a:spcPct val="150000"/>
                </a:lnSpc>
              </a:pPr>
              <a:r>
                <a:rPr lang="en-GB" dirty="0" smtClean="0"/>
                <a:t>×       </a:t>
              </a:r>
              <a:r>
                <a:rPr lang="en-GB" sz="1600" dirty="0" smtClean="0"/>
                <a:t>Calculated</a:t>
              </a:r>
            </a:p>
            <a:p>
              <a:pPr>
                <a:lnSpc>
                  <a:spcPct val="150000"/>
                </a:lnSpc>
              </a:pPr>
              <a:r>
                <a:rPr lang="en-GB" sz="1600" dirty="0"/>
                <a:t> </a:t>
              </a:r>
              <a:r>
                <a:rPr lang="en-GB" sz="1600" dirty="0" smtClean="0"/>
                <a:t>          Active</a:t>
              </a:r>
            </a:p>
            <a:p>
              <a:pPr>
                <a:lnSpc>
                  <a:spcPct val="150000"/>
                </a:lnSpc>
              </a:pPr>
              <a:r>
                <a:rPr lang="en-GB" sz="1600" dirty="0" smtClean="0"/>
                <a:t>           Passive </a:t>
              </a:r>
              <a:endParaRPr lang="en-GB" sz="1600" dirty="0"/>
            </a:p>
          </p:txBody>
        </p:sp>
        <p:cxnSp>
          <p:nvCxnSpPr>
            <p:cNvPr id="8" name="Straight Connector 7"/>
            <p:cNvCxnSpPr/>
            <p:nvPr/>
          </p:nvCxnSpPr>
          <p:spPr>
            <a:xfrm>
              <a:off x="6012160" y="4437365"/>
              <a:ext cx="360040" cy="0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6012160" y="4823465"/>
              <a:ext cx="360040" cy="0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34" name="Group 133"/>
          <p:cNvGrpSpPr/>
          <p:nvPr/>
        </p:nvGrpSpPr>
        <p:grpSpPr>
          <a:xfrm>
            <a:off x="1417631" y="1678071"/>
            <a:ext cx="2584383" cy="1492548"/>
            <a:chOff x="-108520" y="1268760"/>
            <a:chExt cx="2584383" cy="1492548"/>
          </a:xfrm>
        </p:grpSpPr>
        <p:sp>
          <p:nvSpPr>
            <p:cNvPr id="133" name="Rectangle 132"/>
            <p:cNvSpPr/>
            <p:nvPr/>
          </p:nvSpPr>
          <p:spPr>
            <a:xfrm>
              <a:off x="-108520" y="1268760"/>
              <a:ext cx="2584383" cy="149254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40" name="Group 39"/>
            <p:cNvGrpSpPr/>
            <p:nvPr/>
          </p:nvGrpSpPr>
          <p:grpSpPr>
            <a:xfrm>
              <a:off x="23123" y="1353696"/>
              <a:ext cx="2402243" cy="1407612"/>
              <a:chOff x="8404095" y="2026879"/>
              <a:chExt cx="2402243" cy="1407612"/>
            </a:xfrm>
          </p:grpSpPr>
          <p:grpSp>
            <p:nvGrpSpPr>
              <p:cNvPr id="10" name="Group 9"/>
              <p:cNvGrpSpPr/>
              <p:nvPr/>
            </p:nvGrpSpPr>
            <p:grpSpPr>
              <a:xfrm>
                <a:off x="8404095" y="2026879"/>
                <a:ext cx="2402243" cy="1407612"/>
                <a:chOff x="1691680" y="5452992"/>
                <a:chExt cx="2402243" cy="1407612"/>
              </a:xfrm>
            </p:grpSpPr>
            <p:grpSp>
              <p:nvGrpSpPr>
                <p:cNvPr id="12" name="Group 11"/>
                <p:cNvGrpSpPr/>
                <p:nvPr/>
              </p:nvGrpSpPr>
              <p:grpSpPr>
                <a:xfrm>
                  <a:off x="2672021" y="5452992"/>
                  <a:ext cx="1421902" cy="1407612"/>
                  <a:chOff x="756935" y="5405764"/>
                  <a:chExt cx="1421902" cy="1407612"/>
                </a:xfrm>
              </p:grpSpPr>
              <p:grpSp>
                <p:nvGrpSpPr>
                  <p:cNvPr id="18" name="Group 17"/>
                  <p:cNvGrpSpPr/>
                  <p:nvPr/>
                </p:nvGrpSpPr>
                <p:grpSpPr>
                  <a:xfrm>
                    <a:off x="1475656" y="5405764"/>
                    <a:ext cx="703181" cy="1407612"/>
                    <a:chOff x="1475656" y="5405764"/>
                    <a:chExt cx="703181" cy="1407612"/>
                  </a:xfrm>
                </p:grpSpPr>
                <p:grpSp>
                  <p:nvGrpSpPr>
                    <p:cNvPr id="34" name="Group 307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691685" y="6016609"/>
                      <a:ext cx="487152" cy="796767"/>
                      <a:chOff x="2514" y="547"/>
                      <a:chExt cx="286" cy="576"/>
                    </a:xfrm>
                  </p:grpSpPr>
                  <p:sp>
                    <p:nvSpPr>
                      <p:cNvPr id="37" name="Freeform 132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540" y="547"/>
                        <a:ext cx="232" cy="576"/>
                      </a:xfrm>
                      <a:custGeom>
                        <a:avLst/>
                        <a:gdLst>
                          <a:gd name="T0" fmla="*/ 232 w 232"/>
                          <a:gd name="T1" fmla="*/ 576 h 576"/>
                          <a:gd name="T2" fmla="*/ 232 w 232"/>
                          <a:gd name="T3" fmla="*/ 0 h 576"/>
                          <a:gd name="T4" fmla="*/ 116 w 232"/>
                          <a:gd name="T5" fmla="*/ 173 h 576"/>
                          <a:gd name="T6" fmla="*/ 1 w 232"/>
                          <a:gd name="T7" fmla="*/ 173 h 576"/>
                          <a:gd name="T8" fmla="*/ 1 w 232"/>
                          <a:gd name="T9" fmla="*/ 230 h 576"/>
                          <a:gd name="T10" fmla="*/ 0 w 232"/>
                          <a:gd name="T11" fmla="*/ 347 h 576"/>
                          <a:gd name="T12" fmla="*/ 1 w 232"/>
                          <a:gd name="T13" fmla="*/ 403 h 576"/>
                          <a:gd name="T14" fmla="*/ 116 w 232"/>
                          <a:gd name="T15" fmla="*/ 403 h 576"/>
                          <a:gd name="T16" fmla="*/ 232 w 232"/>
                          <a:gd name="T17" fmla="*/ 576 h 57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  <a:gd name="T24" fmla="*/ 0 60000 65536"/>
                          <a:gd name="T25" fmla="*/ 0 60000 65536"/>
                          <a:gd name="T26" fmla="*/ 0 60000 65536"/>
                        </a:gdLst>
                        <a:ahLst/>
                        <a:cxnLst>
                          <a:cxn ang="T18">
                            <a:pos x="T0" y="T1"/>
                          </a:cxn>
                          <a:cxn ang="T19">
                            <a:pos x="T2" y="T3"/>
                          </a:cxn>
                          <a:cxn ang="T20">
                            <a:pos x="T4" y="T5"/>
                          </a:cxn>
                          <a:cxn ang="T21">
                            <a:pos x="T6" y="T7"/>
                          </a:cxn>
                          <a:cxn ang="T22">
                            <a:pos x="T8" y="T9"/>
                          </a:cxn>
                          <a:cxn ang="T23">
                            <a:pos x="T10" y="T11"/>
                          </a:cxn>
                          <a:cxn ang="T24">
                            <a:pos x="T12" y="T13"/>
                          </a:cxn>
                          <a:cxn ang="T25">
                            <a:pos x="T14" y="T15"/>
                          </a:cxn>
                          <a:cxn ang="T26">
                            <a:pos x="T16" y="T17"/>
                          </a:cxn>
                        </a:cxnLst>
                        <a:rect l="0" t="0" r="r" b="b"/>
                        <a:pathLst>
                          <a:path w="232" h="576">
                            <a:moveTo>
                              <a:pt x="232" y="576"/>
                            </a:moveTo>
                            <a:lnTo>
                              <a:pt x="232" y="0"/>
                            </a:lnTo>
                            <a:lnTo>
                              <a:pt x="116" y="173"/>
                            </a:lnTo>
                            <a:lnTo>
                              <a:pt x="1" y="173"/>
                            </a:lnTo>
                            <a:lnTo>
                              <a:pt x="1" y="230"/>
                            </a:lnTo>
                            <a:lnTo>
                              <a:pt x="0" y="347"/>
                            </a:lnTo>
                            <a:lnTo>
                              <a:pt x="1" y="403"/>
                            </a:lnTo>
                            <a:lnTo>
                              <a:pt x="116" y="403"/>
                            </a:lnTo>
                            <a:lnTo>
                              <a:pt x="232" y="576"/>
                            </a:lnTo>
                            <a:close/>
                          </a:path>
                        </a:pathLst>
                      </a:custGeom>
                      <a:noFill/>
                      <a:ln w="19050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38" name="Text Box 133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2514" y="762"/>
                        <a:ext cx="286" cy="1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>
                        <a:spAutoFit/>
                      </a:bodyPr>
                      <a:lstStyle>
                        <a:lvl1pPr eaLnBrk="0" hangingPunct="0"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1pPr>
                        <a:lvl2pPr marL="742950" indent="-285750" eaLnBrk="0" hangingPunct="0"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2pPr>
                        <a:lvl3pPr marL="1143000" indent="-228600" eaLnBrk="0" hangingPunct="0"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3pPr>
                        <a:lvl4pPr marL="1600200" indent="-228600" eaLnBrk="0" hangingPunct="0"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4pPr>
                        <a:lvl5pPr marL="2057400" indent="-228600" eaLnBrk="0" hangingPunct="0"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5pPr>
                        <a:lvl6pPr marL="2514600" indent="-228600" algn="ctr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6pPr>
                        <a:lvl7pPr marL="2971800" indent="-228600" algn="ctr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7pPr>
                        <a:lvl8pPr marL="3429000" indent="-228600" algn="ctr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8pPr>
                        <a:lvl9pPr marL="3886200" indent="-228600" algn="ctr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9pPr>
                      </a:lstStyle>
                      <a:p>
                        <a:pPr algn="l" eaLnBrk="1" hangingPunct="1"/>
                        <a:r>
                          <a:rPr lang="en-US" sz="900" dirty="0" smtClean="0"/>
                          <a:t>WOF</a:t>
                        </a:r>
                        <a:endParaRPr lang="en-US" sz="900" dirty="0"/>
                      </a:p>
                    </p:txBody>
                  </p:sp>
                </p:grpSp>
                <p:grpSp>
                  <p:nvGrpSpPr>
                    <p:cNvPr id="27" name="Group 307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795075" y="5405764"/>
                      <a:ext cx="364513" cy="564377"/>
                      <a:chOff x="2527" y="715"/>
                      <a:chExt cx="214" cy="408"/>
                    </a:xfrm>
                  </p:grpSpPr>
                  <p:sp>
                    <p:nvSpPr>
                      <p:cNvPr id="31" name="Freeform 132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540" y="715"/>
                        <a:ext cx="188" cy="408"/>
                      </a:xfrm>
                      <a:custGeom>
                        <a:avLst/>
                        <a:gdLst>
                          <a:gd name="T0" fmla="*/ 232 w 232"/>
                          <a:gd name="T1" fmla="*/ 576 h 576"/>
                          <a:gd name="T2" fmla="*/ 232 w 232"/>
                          <a:gd name="T3" fmla="*/ 0 h 576"/>
                          <a:gd name="T4" fmla="*/ 116 w 232"/>
                          <a:gd name="T5" fmla="*/ 173 h 576"/>
                          <a:gd name="T6" fmla="*/ 1 w 232"/>
                          <a:gd name="T7" fmla="*/ 173 h 576"/>
                          <a:gd name="T8" fmla="*/ 1 w 232"/>
                          <a:gd name="T9" fmla="*/ 230 h 576"/>
                          <a:gd name="T10" fmla="*/ 0 w 232"/>
                          <a:gd name="T11" fmla="*/ 347 h 576"/>
                          <a:gd name="T12" fmla="*/ 1 w 232"/>
                          <a:gd name="T13" fmla="*/ 403 h 576"/>
                          <a:gd name="T14" fmla="*/ 116 w 232"/>
                          <a:gd name="T15" fmla="*/ 403 h 576"/>
                          <a:gd name="T16" fmla="*/ 232 w 232"/>
                          <a:gd name="T17" fmla="*/ 576 h 57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  <a:gd name="T24" fmla="*/ 0 60000 65536"/>
                          <a:gd name="T25" fmla="*/ 0 60000 65536"/>
                          <a:gd name="T26" fmla="*/ 0 60000 65536"/>
                        </a:gdLst>
                        <a:ahLst/>
                        <a:cxnLst>
                          <a:cxn ang="T18">
                            <a:pos x="T0" y="T1"/>
                          </a:cxn>
                          <a:cxn ang="T19">
                            <a:pos x="T2" y="T3"/>
                          </a:cxn>
                          <a:cxn ang="T20">
                            <a:pos x="T4" y="T5"/>
                          </a:cxn>
                          <a:cxn ang="T21">
                            <a:pos x="T6" y="T7"/>
                          </a:cxn>
                          <a:cxn ang="T22">
                            <a:pos x="T8" y="T9"/>
                          </a:cxn>
                          <a:cxn ang="T23">
                            <a:pos x="T10" y="T11"/>
                          </a:cxn>
                          <a:cxn ang="T24">
                            <a:pos x="T12" y="T13"/>
                          </a:cxn>
                          <a:cxn ang="T25">
                            <a:pos x="T14" y="T15"/>
                          </a:cxn>
                          <a:cxn ang="T26">
                            <a:pos x="T16" y="T17"/>
                          </a:cxn>
                        </a:cxnLst>
                        <a:rect l="0" t="0" r="r" b="b"/>
                        <a:pathLst>
                          <a:path w="232" h="576">
                            <a:moveTo>
                              <a:pt x="232" y="576"/>
                            </a:moveTo>
                            <a:lnTo>
                              <a:pt x="232" y="0"/>
                            </a:lnTo>
                            <a:lnTo>
                              <a:pt x="116" y="173"/>
                            </a:lnTo>
                            <a:lnTo>
                              <a:pt x="1" y="173"/>
                            </a:lnTo>
                            <a:lnTo>
                              <a:pt x="1" y="230"/>
                            </a:lnTo>
                            <a:lnTo>
                              <a:pt x="0" y="347"/>
                            </a:lnTo>
                            <a:lnTo>
                              <a:pt x="1" y="403"/>
                            </a:lnTo>
                            <a:lnTo>
                              <a:pt x="116" y="403"/>
                            </a:lnTo>
                            <a:lnTo>
                              <a:pt x="232" y="576"/>
                            </a:lnTo>
                            <a:close/>
                          </a:path>
                        </a:pathLst>
                      </a:custGeom>
                      <a:noFill/>
                      <a:ln w="19050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32" name="Text Box 133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2527" y="821"/>
                        <a:ext cx="214" cy="1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>
                        <a:spAutoFit/>
                      </a:bodyPr>
                      <a:lstStyle>
                        <a:lvl1pPr eaLnBrk="0" hangingPunct="0"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1pPr>
                        <a:lvl2pPr marL="742950" indent="-285750" eaLnBrk="0" hangingPunct="0"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2pPr>
                        <a:lvl3pPr marL="1143000" indent="-228600" eaLnBrk="0" hangingPunct="0"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3pPr>
                        <a:lvl4pPr marL="1600200" indent="-228600" eaLnBrk="0" hangingPunct="0"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4pPr>
                        <a:lvl5pPr marL="2057400" indent="-228600" eaLnBrk="0" hangingPunct="0"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5pPr>
                        <a:lvl6pPr marL="2514600" indent="-228600" algn="ctr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6pPr>
                        <a:lvl7pPr marL="2971800" indent="-228600" algn="ctr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7pPr>
                        <a:lvl8pPr marL="3429000" indent="-228600" algn="ctr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8pPr>
                        <a:lvl9pPr marL="3886200" indent="-228600" algn="ctr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9pPr>
                      </a:lstStyle>
                      <a:p>
                        <a:pPr algn="l" eaLnBrk="1" hangingPunct="1"/>
                        <a:r>
                          <a:rPr lang="en-US" sz="900" dirty="0" smtClean="0"/>
                          <a:t>TW</a:t>
                        </a:r>
                        <a:endParaRPr lang="en-US" sz="900" dirty="0"/>
                      </a:p>
                    </p:txBody>
                  </p:sp>
                </p:grpSp>
                <p:sp>
                  <p:nvSpPr>
                    <p:cNvPr id="24" name="Rectangle 23"/>
                    <p:cNvSpPr/>
                    <p:nvPr/>
                  </p:nvSpPr>
                  <p:spPr>
                    <a:xfrm>
                      <a:off x="1475656" y="5405764"/>
                      <a:ext cx="655488" cy="1407612"/>
                    </a:xfrm>
                    <a:prstGeom prst="rect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</p:grpSp>
              <p:sp>
                <p:nvSpPr>
                  <p:cNvPr id="19" name="Isosceles Triangle 18"/>
                  <p:cNvSpPr/>
                  <p:nvPr/>
                </p:nvSpPr>
                <p:spPr>
                  <a:xfrm rot="5400000">
                    <a:off x="739552" y="5453770"/>
                    <a:ext cx="463013" cy="428247"/>
                  </a:xfrm>
                  <a:prstGeom prst="triangl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vert="vert270" rtlCol="0" anchor="ctr"/>
                  <a:lstStyle/>
                  <a:p>
                    <a:pPr algn="ctr"/>
                    <a:r>
                      <a:rPr lang="en-GB" dirty="0" smtClean="0"/>
                      <a:t>L</a:t>
                    </a:r>
                    <a:endParaRPr lang="en-GB" dirty="0"/>
                  </a:p>
                </p:txBody>
              </p:sp>
              <p:cxnSp>
                <p:nvCxnSpPr>
                  <p:cNvPr id="20" name="Straight Connector 19"/>
                  <p:cNvCxnSpPr>
                    <a:stCxn id="19" idx="0"/>
                    <a:endCxn id="32" idx="1"/>
                  </p:cNvCxnSpPr>
                  <p:nvPr/>
                </p:nvCxnSpPr>
                <p:spPr>
                  <a:xfrm>
                    <a:off x="1185182" y="5667894"/>
                    <a:ext cx="609893" cy="1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" name="Straight Connector 20"/>
                  <p:cNvCxnSpPr>
                    <a:endCxn id="38" idx="1"/>
                  </p:cNvCxnSpPr>
                  <p:nvPr/>
                </p:nvCxnSpPr>
                <p:spPr>
                  <a:xfrm>
                    <a:off x="1186852" y="6412910"/>
                    <a:ext cx="504833" cy="1391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3" name="Rectangle 12"/>
                <p:cNvSpPr/>
                <p:nvPr/>
              </p:nvSpPr>
              <p:spPr>
                <a:xfrm>
                  <a:off x="1691680" y="5483615"/>
                  <a:ext cx="792088" cy="1208029"/>
                </a:xfrm>
                <a:prstGeom prst="rect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dirty="0" smtClean="0"/>
                    <a:t>Digital cross-over</a:t>
                  </a:r>
                  <a:endParaRPr lang="en-GB" dirty="0"/>
                </a:p>
              </p:txBody>
            </p:sp>
            <p:cxnSp>
              <p:nvCxnSpPr>
                <p:cNvPr id="14" name="Straight Connector 13"/>
                <p:cNvCxnSpPr>
                  <a:stCxn id="19" idx="3"/>
                </p:cNvCxnSpPr>
                <p:nvPr/>
              </p:nvCxnSpPr>
              <p:spPr>
                <a:xfrm flipH="1" flipV="1">
                  <a:off x="2483768" y="5715121"/>
                  <a:ext cx="188253" cy="1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/>
                <p:cNvCxnSpPr/>
                <p:nvPr/>
              </p:nvCxnSpPr>
              <p:spPr>
                <a:xfrm flipH="1" flipV="1">
                  <a:off x="2483768" y="6460137"/>
                  <a:ext cx="189923" cy="1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" name="Isosceles Triangle 10"/>
              <p:cNvSpPr/>
              <p:nvPr/>
            </p:nvSpPr>
            <p:spPr>
              <a:xfrm rot="5400000">
                <a:off x="9368723" y="2819900"/>
                <a:ext cx="463013" cy="428247"/>
              </a:xfrm>
              <a:prstGeom prst="triangl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GB" dirty="0"/>
                  <a:t>R</a:t>
                </a:r>
              </a:p>
            </p:txBody>
          </p:sp>
        </p:grpSp>
      </p:grpSp>
      <p:grpSp>
        <p:nvGrpSpPr>
          <p:cNvPr id="131" name="Group 130"/>
          <p:cNvGrpSpPr/>
          <p:nvPr/>
        </p:nvGrpSpPr>
        <p:grpSpPr>
          <a:xfrm>
            <a:off x="1312243" y="3285384"/>
            <a:ext cx="2880320" cy="1603796"/>
            <a:chOff x="-324544" y="2761308"/>
            <a:chExt cx="2880320" cy="1603796"/>
          </a:xfrm>
        </p:grpSpPr>
        <p:sp>
          <p:nvSpPr>
            <p:cNvPr id="130" name="Rectangle 129"/>
            <p:cNvSpPr/>
            <p:nvPr/>
          </p:nvSpPr>
          <p:spPr>
            <a:xfrm>
              <a:off x="-324544" y="2761308"/>
              <a:ext cx="2880320" cy="160379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129" name="Group 128"/>
            <p:cNvGrpSpPr/>
            <p:nvPr/>
          </p:nvGrpSpPr>
          <p:grpSpPr>
            <a:xfrm>
              <a:off x="47671" y="2869210"/>
              <a:ext cx="2377695" cy="1407612"/>
              <a:chOff x="9035064" y="2095541"/>
              <a:chExt cx="2377695" cy="1407612"/>
            </a:xfrm>
          </p:grpSpPr>
          <p:grpSp>
            <p:nvGrpSpPr>
              <p:cNvPr id="110" name="Group 109"/>
              <p:cNvGrpSpPr/>
              <p:nvPr/>
            </p:nvGrpSpPr>
            <p:grpSpPr>
              <a:xfrm>
                <a:off x="10001374" y="2095541"/>
                <a:ext cx="1411385" cy="1407612"/>
                <a:chOff x="927631" y="5405764"/>
                <a:chExt cx="1251206" cy="1407612"/>
              </a:xfrm>
            </p:grpSpPr>
            <p:grpSp>
              <p:nvGrpSpPr>
                <p:cNvPr id="112" name="Group 307"/>
                <p:cNvGrpSpPr>
                  <a:grpSpLocks/>
                </p:cNvGrpSpPr>
                <p:nvPr/>
              </p:nvGrpSpPr>
              <p:grpSpPr bwMode="auto">
                <a:xfrm>
                  <a:off x="1691685" y="6016609"/>
                  <a:ext cx="487152" cy="796767"/>
                  <a:chOff x="2514" y="547"/>
                  <a:chExt cx="286" cy="576"/>
                </a:xfrm>
              </p:grpSpPr>
              <p:sp>
                <p:nvSpPr>
                  <p:cNvPr id="121" name="Freeform 132"/>
                  <p:cNvSpPr>
                    <a:spLocks/>
                  </p:cNvSpPr>
                  <p:nvPr/>
                </p:nvSpPr>
                <p:spPr bwMode="auto">
                  <a:xfrm>
                    <a:off x="2540" y="547"/>
                    <a:ext cx="232" cy="576"/>
                  </a:xfrm>
                  <a:custGeom>
                    <a:avLst/>
                    <a:gdLst>
                      <a:gd name="T0" fmla="*/ 232 w 232"/>
                      <a:gd name="T1" fmla="*/ 576 h 576"/>
                      <a:gd name="T2" fmla="*/ 232 w 232"/>
                      <a:gd name="T3" fmla="*/ 0 h 576"/>
                      <a:gd name="T4" fmla="*/ 116 w 232"/>
                      <a:gd name="T5" fmla="*/ 173 h 576"/>
                      <a:gd name="T6" fmla="*/ 1 w 232"/>
                      <a:gd name="T7" fmla="*/ 173 h 576"/>
                      <a:gd name="T8" fmla="*/ 1 w 232"/>
                      <a:gd name="T9" fmla="*/ 230 h 576"/>
                      <a:gd name="T10" fmla="*/ 0 w 232"/>
                      <a:gd name="T11" fmla="*/ 347 h 576"/>
                      <a:gd name="T12" fmla="*/ 1 w 232"/>
                      <a:gd name="T13" fmla="*/ 403 h 576"/>
                      <a:gd name="T14" fmla="*/ 116 w 232"/>
                      <a:gd name="T15" fmla="*/ 403 h 576"/>
                      <a:gd name="T16" fmla="*/ 232 w 232"/>
                      <a:gd name="T17" fmla="*/ 576 h 57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232" h="576">
                        <a:moveTo>
                          <a:pt x="232" y="576"/>
                        </a:moveTo>
                        <a:lnTo>
                          <a:pt x="232" y="0"/>
                        </a:lnTo>
                        <a:lnTo>
                          <a:pt x="116" y="173"/>
                        </a:lnTo>
                        <a:lnTo>
                          <a:pt x="1" y="173"/>
                        </a:lnTo>
                        <a:lnTo>
                          <a:pt x="1" y="230"/>
                        </a:lnTo>
                        <a:lnTo>
                          <a:pt x="0" y="347"/>
                        </a:lnTo>
                        <a:lnTo>
                          <a:pt x="1" y="403"/>
                        </a:lnTo>
                        <a:lnTo>
                          <a:pt x="116" y="403"/>
                        </a:lnTo>
                        <a:lnTo>
                          <a:pt x="232" y="576"/>
                        </a:lnTo>
                        <a:close/>
                      </a:path>
                    </a:pathLst>
                  </a:custGeom>
                  <a:noFill/>
                  <a:ln w="19050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22" name="Text Box 13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514" y="762"/>
                    <a:ext cx="286" cy="145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90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algn="l" eaLnBrk="1" hangingPunct="1"/>
                    <a:r>
                      <a:rPr lang="en-US" sz="900" dirty="0" smtClean="0"/>
                      <a:t>WOF</a:t>
                    </a:r>
                    <a:endParaRPr lang="en-US" sz="900" dirty="0"/>
                  </a:p>
                </p:txBody>
              </p:sp>
            </p:grpSp>
            <p:grpSp>
              <p:nvGrpSpPr>
                <p:cNvPr id="116" name="Group 307"/>
                <p:cNvGrpSpPr>
                  <a:grpSpLocks/>
                </p:cNvGrpSpPr>
                <p:nvPr/>
              </p:nvGrpSpPr>
              <p:grpSpPr bwMode="auto">
                <a:xfrm>
                  <a:off x="1795075" y="5405764"/>
                  <a:ext cx="364513" cy="564377"/>
                  <a:chOff x="2527" y="715"/>
                  <a:chExt cx="214" cy="408"/>
                </a:xfrm>
              </p:grpSpPr>
              <p:sp>
                <p:nvSpPr>
                  <p:cNvPr id="119" name="Freeform 132"/>
                  <p:cNvSpPr>
                    <a:spLocks/>
                  </p:cNvSpPr>
                  <p:nvPr/>
                </p:nvSpPr>
                <p:spPr bwMode="auto">
                  <a:xfrm>
                    <a:off x="2540" y="715"/>
                    <a:ext cx="188" cy="408"/>
                  </a:xfrm>
                  <a:custGeom>
                    <a:avLst/>
                    <a:gdLst>
                      <a:gd name="T0" fmla="*/ 232 w 232"/>
                      <a:gd name="T1" fmla="*/ 576 h 576"/>
                      <a:gd name="T2" fmla="*/ 232 w 232"/>
                      <a:gd name="T3" fmla="*/ 0 h 576"/>
                      <a:gd name="T4" fmla="*/ 116 w 232"/>
                      <a:gd name="T5" fmla="*/ 173 h 576"/>
                      <a:gd name="T6" fmla="*/ 1 w 232"/>
                      <a:gd name="T7" fmla="*/ 173 h 576"/>
                      <a:gd name="T8" fmla="*/ 1 w 232"/>
                      <a:gd name="T9" fmla="*/ 230 h 576"/>
                      <a:gd name="T10" fmla="*/ 0 w 232"/>
                      <a:gd name="T11" fmla="*/ 347 h 576"/>
                      <a:gd name="T12" fmla="*/ 1 w 232"/>
                      <a:gd name="T13" fmla="*/ 403 h 576"/>
                      <a:gd name="T14" fmla="*/ 116 w 232"/>
                      <a:gd name="T15" fmla="*/ 403 h 576"/>
                      <a:gd name="T16" fmla="*/ 232 w 232"/>
                      <a:gd name="T17" fmla="*/ 576 h 57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232" h="576">
                        <a:moveTo>
                          <a:pt x="232" y="576"/>
                        </a:moveTo>
                        <a:lnTo>
                          <a:pt x="232" y="0"/>
                        </a:lnTo>
                        <a:lnTo>
                          <a:pt x="116" y="173"/>
                        </a:lnTo>
                        <a:lnTo>
                          <a:pt x="1" y="173"/>
                        </a:lnTo>
                        <a:lnTo>
                          <a:pt x="1" y="230"/>
                        </a:lnTo>
                        <a:lnTo>
                          <a:pt x="0" y="347"/>
                        </a:lnTo>
                        <a:lnTo>
                          <a:pt x="1" y="403"/>
                        </a:lnTo>
                        <a:lnTo>
                          <a:pt x="116" y="403"/>
                        </a:lnTo>
                        <a:lnTo>
                          <a:pt x="232" y="576"/>
                        </a:lnTo>
                        <a:close/>
                      </a:path>
                    </a:pathLst>
                  </a:custGeom>
                  <a:noFill/>
                  <a:ln w="19050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20" name="Text Box 13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527" y="821"/>
                    <a:ext cx="214" cy="16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90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algn="l" eaLnBrk="1" hangingPunct="1"/>
                    <a:r>
                      <a:rPr lang="en-US" sz="900" dirty="0" smtClean="0"/>
                      <a:t>TW</a:t>
                    </a:r>
                    <a:endParaRPr lang="en-US" sz="900" dirty="0"/>
                  </a:p>
                </p:txBody>
              </p:sp>
            </p:grpSp>
            <p:sp>
              <p:nvSpPr>
                <p:cNvPr id="114" name="Rectangle 113"/>
                <p:cNvSpPr/>
                <p:nvPr/>
              </p:nvSpPr>
              <p:spPr>
                <a:xfrm>
                  <a:off x="927631" y="5405764"/>
                  <a:ext cx="1203513" cy="1407612"/>
                </a:xfrm>
                <a:prstGeom prst="rect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sp>
            <p:nvSpPr>
              <p:cNvPr id="111" name="Isosceles Triangle 110"/>
              <p:cNvSpPr/>
              <p:nvPr/>
            </p:nvSpPr>
            <p:spPr>
              <a:xfrm rot="5400000">
                <a:off x="9205934" y="2581402"/>
                <a:ext cx="463013" cy="428247"/>
              </a:xfrm>
              <a:prstGeom prst="triangl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270" rtlCol="0" anchor="ctr"/>
              <a:lstStyle/>
              <a:p>
                <a:pPr algn="ctr"/>
                <a:endParaRPr lang="en-GB" dirty="0"/>
              </a:p>
            </p:txBody>
          </p:sp>
          <p:cxnSp>
            <p:nvCxnSpPr>
              <p:cNvPr id="43" name="Straight Connector 42"/>
              <p:cNvCxnSpPr>
                <a:stCxn id="111" idx="3"/>
              </p:cNvCxnSpPr>
              <p:nvPr/>
            </p:nvCxnSpPr>
            <p:spPr>
              <a:xfrm flipH="1" flipV="1">
                <a:off x="9035064" y="2795525"/>
                <a:ext cx="188253" cy="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Arrow Connector 43"/>
              <p:cNvCxnSpPr>
                <a:stCxn id="111" idx="0"/>
                <a:endCxn id="114" idx="1"/>
              </p:cNvCxnSpPr>
              <p:nvPr/>
            </p:nvCxnSpPr>
            <p:spPr>
              <a:xfrm>
                <a:off x="9651564" y="2795526"/>
                <a:ext cx="349810" cy="3821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6" name="Group 346"/>
              <p:cNvGrpSpPr>
                <a:grpSpLocks/>
              </p:cNvGrpSpPr>
              <p:nvPr/>
            </p:nvGrpSpPr>
            <p:grpSpPr bwMode="auto">
              <a:xfrm rot="5400000">
                <a:off x="10546297" y="2157488"/>
                <a:ext cx="227806" cy="379237"/>
                <a:chOff x="5012" y="1930"/>
                <a:chExt cx="346" cy="576"/>
              </a:xfrm>
            </p:grpSpPr>
            <p:grpSp>
              <p:nvGrpSpPr>
                <p:cNvPr id="104" name="Group 135"/>
                <p:cNvGrpSpPr>
                  <a:grpSpLocks/>
                </p:cNvGrpSpPr>
                <p:nvPr/>
              </p:nvGrpSpPr>
              <p:grpSpPr bwMode="auto">
                <a:xfrm>
                  <a:off x="5012" y="1930"/>
                  <a:ext cx="346" cy="576"/>
                  <a:chOff x="2707" y="2736"/>
                  <a:chExt cx="346" cy="576"/>
                </a:xfrm>
              </p:grpSpPr>
              <p:sp>
                <p:nvSpPr>
                  <p:cNvPr id="106" name="Line 136"/>
                  <p:cNvSpPr>
                    <a:spLocks noChangeShapeType="1"/>
                  </p:cNvSpPr>
                  <p:nvPr/>
                </p:nvSpPr>
                <p:spPr bwMode="auto">
                  <a:xfrm>
                    <a:off x="2707" y="2966"/>
                    <a:ext cx="346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algn="r"/>
                    <a:endParaRPr lang="en-GB"/>
                  </a:p>
                </p:txBody>
              </p:sp>
              <p:sp>
                <p:nvSpPr>
                  <p:cNvPr id="107" name="Line 137"/>
                  <p:cNvSpPr>
                    <a:spLocks noChangeShapeType="1"/>
                  </p:cNvSpPr>
                  <p:nvPr/>
                </p:nvSpPr>
                <p:spPr bwMode="auto">
                  <a:xfrm>
                    <a:off x="2880" y="2736"/>
                    <a:ext cx="0" cy="23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algn="r"/>
                    <a:endParaRPr lang="en-GB"/>
                  </a:p>
                </p:txBody>
              </p:sp>
              <p:sp>
                <p:nvSpPr>
                  <p:cNvPr id="108" name="Line 138"/>
                  <p:cNvSpPr>
                    <a:spLocks noChangeShapeType="1"/>
                  </p:cNvSpPr>
                  <p:nvPr/>
                </p:nvSpPr>
                <p:spPr bwMode="auto">
                  <a:xfrm>
                    <a:off x="2880" y="3024"/>
                    <a:ext cx="0" cy="288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algn="r"/>
                    <a:endParaRPr lang="en-GB"/>
                  </a:p>
                </p:txBody>
              </p:sp>
              <p:sp>
                <p:nvSpPr>
                  <p:cNvPr id="109" name="Line 139"/>
                  <p:cNvSpPr>
                    <a:spLocks noChangeShapeType="1"/>
                  </p:cNvSpPr>
                  <p:nvPr/>
                </p:nvSpPr>
                <p:spPr bwMode="auto">
                  <a:xfrm>
                    <a:off x="2707" y="3024"/>
                    <a:ext cx="346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algn="r"/>
                    <a:endParaRPr lang="en-GB"/>
                  </a:p>
                </p:txBody>
              </p:sp>
            </p:grpSp>
            <p:sp>
              <p:nvSpPr>
                <p:cNvPr id="105" name="Freeform 345"/>
                <p:cNvSpPr>
                  <a:spLocks/>
                </p:cNvSpPr>
                <p:nvPr/>
              </p:nvSpPr>
              <p:spPr bwMode="auto">
                <a:xfrm>
                  <a:off x="5069" y="1930"/>
                  <a:ext cx="230" cy="576"/>
                </a:xfrm>
                <a:custGeom>
                  <a:avLst/>
                  <a:gdLst>
                    <a:gd name="T0" fmla="*/ 115 w 230"/>
                    <a:gd name="T1" fmla="*/ 0 h 576"/>
                    <a:gd name="T2" fmla="*/ 0 w 230"/>
                    <a:gd name="T3" fmla="*/ 230 h 576"/>
                    <a:gd name="T4" fmla="*/ 115 w 230"/>
                    <a:gd name="T5" fmla="*/ 576 h 576"/>
                    <a:gd name="T6" fmla="*/ 230 w 230"/>
                    <a:gd name="T7" fmla="*/ 230 h 576"/>
                    <a:gd name="T8" fmla="*/ 115 w 230"/>
                    <a:gd name="T9" fmla="*/ 0 h 57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30" h="576">
                      <a:moveTo>
                        <a:pt x="115" y="0"/>
                      </a:moveTo>
                      <a:lnTo>
                        <a:pt x="0" y="230"/>
                      </a:lnTo>
                      <a:lnTo>
                        <a:pt x="115" y="576"/>
                      </a:lnTo>
                      <a:lnTo>
                        <a:pt x="230" y="230"/>
                      </a:lnTo>
                      <a:lnTo>
                        <a:pt x="115" y="0"/>
                      </a:lnTo>
                      <a:close/>
                    </a:path>
                  </a:pathLst>
                </a:cu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r"/>
                  <a:endParaRPr lang="en-GB"/>
                </a:p>
              </p:txBody>
            </p:sp>
          </p:grpSp>
          <p:grpSp>
            <p:nvGrpSpPr>
              <p:cNvPr id="47" name="Group 338"/>
              <p:cNvGrpSpPr>
                <a:grpSpLocks/>
              </p:cNvGrpSpPr>
              <p:nvPr/>
            </p:nvGrpSpPr>
            <p:grpSpPr bwMode="auto">
              <a:xfrm>
                <a:off x="10398573" y="2361599"/>
                <a:ext cx="144016" cy="352328"/>
                <a:chOff x="3398" y="1757"/>
                <a:chExt cx="128" cy="518"/>
              </a:xfrm>
            </p:grpSpPr>
            <p:grpSp>
              <p:nvGrpSpPr>
                <p:cNvPr id="81" name="Group 54"/>
                <p:cNvGrpSpPr>
                  <a:grpSpLocks/>
                </p:cNvGrpSpPr>
                <p:nvPr/>
              </p:nvGrpSpPr>
              <p:grpSpPr bwMode="auto">
                <a:xfrm>
                  <a:off x="3398" y="1757"/>
                  <a:ext cx="128" cy="518"/>
                  <a:chOff x="451" y="2160"/>
                  <a:chExt cx="298" cy="1209"/>
                </a:xfrm>
              </p:grpSpPr>
              <p:grpSp>
                <p:nvGrpSpPr>
                  <p:cNvPr id="83" name="Group 55"/>
                  <p:cNvGrpSpPr>
                    <a:grpSpLocks/>
                  </p:cNvGrpSpPr>
                  <p:nvPr/>
                </p:nvGrpSpPr>
                <p:grpSpPr bwMode="auto">
                  <a:xfrm>
                    <a:off x="451" y="2621"/>
                    <a:ext cx="230" cy="115"/>
                    <a:chOff x="576" y="2218"/>
                    <a:chExt cx="230" cy="230"/>
                  </a:xfrm>
                </p:grpSpPr>
                <p:sp>
                  <p:nvSpPr>
                    <p:cNvPr id="102" name="Freeform 56"/>
                    <p:cNvSpPr>
                      <a:spLocks/>
                    </p:cNvSpPr>
                    <p:nvPr/>
                  </p:nvSpPr>
                  <p:spPr bwMode="auto">
                    <a:xfrm>
                      <a:off x="576" y="2218"/>
                      <a:ext cx="230" cy="115"/>
                    </a:xfrm>
                    <a:custGeom>
                      <a:avLst/>
                      <a:gdLst>
                        <a:gd name="T0" fmla="*/ 0 w 230"/>
                        <a:gd name="T1" fmla="*/ 115 h 115"/>
                        <a:gd name="T2" fmla="*/ 115 w 230"/>
                        <a:gd name="T3" fmla="*/ 0 h 115"/>
                        <a:gd name="T4" fmla="*/ 230 w 230"/>
                        <a:gd name="T5" fmla="*/ 115 h 115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30" h="115">
                          <a:moveTo>
                            <a:pt x="0" y="115"/>
                          </a:moveTo>
                          <a:cubicBezTo>
                            <a:pt x="38" y="57"/>
                            <a:pt x="77" y="0"/>
                            <a:pt x="115" y="0"/>
                          </a:cubicBezTo>
                          <a:cubicBezTo>
                            <a:pt x="153" y="0"/>
                            <a:pt x="191" y="57"/>
                            <a:pt x="230" y="115"/>
                          </a:cubicBezTo>
                        </a:path>
                      </a:pathLst>
                    </a:custGeom>
                    <a:noFill/>
                    <a:ln w="19050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03" name="Freeform 57"/>
                    <p:cNvSpPr>
                      <a:spLocks/>
                    </p:cNvSpPr>
                    <p:nvPr/>
                  </p:nvSpPr>
                  <p:spPr bwMode="auto">
                    <a:xfrm flipV="1">
                      <a:off x="576" y="2333"/>
                      <a:ext cx="230" cy="115"/>
                    </a:xfrm>
                    <a:custGeom>
                      <a:avLst/>
                      <a:gdLst>
                        <a:gd name="T0" fmla="*/ 0 w 230"/>
                        <a:gd name="T1" fmla="*/ 115 h 115"/>
                        <a:gd name="T2" fmla="*/ 115 w 230"/>
                        <a:gd name="T3" fmla="*/ 0 h 115"/>
                        <a:gd name="T4" fmla="*/ 230 w 230"/>
                        <a:gd name="T5" fmla="*/ 115 h 115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30" h="115">
                          <a:moveTo>
                            <a:pt x="0" y="115"/>
                          </a:moveTo>
                          <a:cubicBezTo>
                            <a:pt x="38" y="57"/>
                            <a:pt x="77" y="0"/>
                            <a:pt x="115" y="0"/>
                          </a:cubicBezTo>
                          <a:cubicBezTo>
                            <a:pt x="153" y="0"/>
                            <a:pt x="191" y="57"/>
                            <a:pt x="230" y="115"/>
                          </a:cubicBezTo>
                        </a:path>
                      </a:pathLst>
                    </a:custGeom>
                    <a:noFill/>
                    <a:ln w="19050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</p:grpSp>
              <p:grpSp>
                <p:nvGrpSpPr>
                  <p:cNvPr id="84" name="Group 58"/>
                  <p:cNvGrpSpPr>
                    <a:grpSpLocks/>
                  </p:cNvGrpSpPr>
                  <p:nvPr/>
                </p:nvGrpSpPr>
                <p:grpSpPr bwMode="auto">
                  <a:xfrm>
                    <a:off x="451" y="2448"/>
                    <a:ext cx="230" cy="115"/>
                    <a:chOff x="576" y="2218"/>
                    <a:chExt cx="230" cy="230"/>
                  </a:xfrm>
                </p:grpSpPr>
                <p:sp>
                  <p:nvSpPr>
                    <p:cNvPr id="100" name="Freeform 59"/>
                    <p:cNvSpPr>
                      <a:spLocks/>
                    </p:cNvSpPr>
                    <p:nvPr/>
                  </p:nvSpPr>
                  <p:spPr bwMode="auto">
                    <a:xfrm>
                      <a:off x="576" y="2218"/>
                      <a:ext cx="230" cy="115"/>
                    </a:xfrm>
                    <a:custGeom>
                      <a:avLst/>
                      <a:gdLst>
                        <a:gd name="T0" fmla="*/ 0 w 230"/>
                        <a:gd name="T1" fmla="*/ 115 h 115"/>
                        <a:gd name="T2" fmla="*/ 115 w 230"/>
                        <a:gd name="T3" fmla="*/ 0 h 115"/>
                        <a:gd name="T4" fmla="*/ 230 w 230"/>
                        <a:gd name="T5" fmla="*/ 115 h 115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30" h="115">
                          <a:moveTo>
                            <a:pt x="0" y="115"/>
                          </a:moveTo>
                          <a:cubicBezTo>
                            <a:pt x="38" y="57"/>
                            <a:pt x="77" y="0"/>
                            <a:pt x="115" y="0"/>
                          </a:cubicBezTo>
                          <a:cubicBezTo>
                            <a:pt x="153" y="0"/>
                            <a:pt x="191" y="57"/>
                            <a:pt x="230" y="115"/>
                          </a:cubicBezTo>
                        </a:path>
                      </a:pathLst>
                    </a:custGeom>
                    <a:noFill/>
                    <a:ln w="19050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01" name="Freeform 60"/>
                    <p:cNvSpPr>
                      <a:spLocks/>
                    </p:cNvSpPr>
                    <p:nvPr/>
                  </p:nvSpPr>
                  <p:spPr bwMode="auto">
                    <a:xfrm flipV="1">
                      <a:off x="576" y="2333"/>
                      <a:ext cx="230" cy="115"/>
                    </a:xfrm>
                    <a:custGeom>
                      <a:avLst/>
                      <a:gdLst>
                        <a:gd name="T0" fmla="*/ 0 w 230"/>
                        <a:gd name="T1" fmla="*/ 115 h 115"/>
                        <a:gd name="T2" fmla="*/ 115 w 230"/>
                        <a:gd name="T3" fmla="*/ 0 h 115"/>
                        <a:gd name="T4" fmla="*/ 230 w 230"/>
                        <a:gd name="T5" fmla="*/ 115 h 115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30" h="115">
                          <a:moveTo>
                            <a:pt x="0" y="115"/>
                          </a:moveTo>
                          <a:cubicBezTo>
                            <a:pt x="38" y="57"/>
                            <a:pt x="77" y="0"/>
                            <a:pt x="115" y="0"/>
                          </a:cubicBezTo>
                          <a:cubicBezTo>
                            <a:pt x="153" y="0"/>
                            <a:pt x="191" y="57"/>
                            <a:pt x="230" y="115"/>
                          </a:cubicBezTo>
                        </a:path>
                      </a:pathLst>
                    </a:custGeom>
                    <a:noFill/>
                    <a:ln w="19050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</p:grpSp>
              <p:sp>
                <p:nvSpPr>
                  <p:cNvPr id="85" name="Freeform 61"/>
                  <p:cNvSpPr>
                    <a:spLocks/>
                  </p:cNvSpPr>
                  <p:nvPr/>
                </p:nvSpPr>
                <p:spPr bwMode="auto">
                  <a:xfrm>
                    <a:off x="681" y="2506"/>
                    <a:ext cx="68" cy="172"/>
                  </a:xfrm>
                  <a:custGeom>
                    <a:avLst/>
                    <a:gdLst>
                      <a:gd name="T0" fmla="*/ 0 w 68"/>
                      <a:gd name="T1" fmla="*/ 172 h 172"/>
                      <a:gd name="T2" fmla="*/ 58 w 68"/>
                      <a:gd name="T3" fmla="*/ 115 h 172"/>
                      <a:gd name="T4" fmla="*/ 58 w 68"/>
                      <a:gd name="T5" fmla="*/ 57 h 172"/>
                      <a:gd name="T6" fmla="*/ 0 w 68"/>
                      <a:gd name="T7" fmla="*/ 0 h 17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68" h="172">
                        <a:moveTo>
                          <a:pt x="0" y="172"/>
                        </a:moveTo>
                        <a:cubicBezTo>
                          <a:pt x="24" y="153"/>
                          <a:pt x="48" y="134"/>
                          <a:pt x="58" y="115"/>
                        </a:cubicBezTo>
                        <a:cubicBezTo>
                          <a:pt x="68" y="96"/>
                          <a:pt x="68" y="76"/>
                          <a:pt x="58" y="57"/>
                        </a:cubicBezTo>
                        <a:cubicBezTo>
                          <a:pt x="48" y="38"/>
                          <a:pt x="24" y="19"/>
                          <a:pt x="0" y="0"/>
                        </a:cubicBezTo>
                      </a:path>
                    </a:pathLst>
                  </a:custGeom>
                  <a:noFill/>
                  <a:ln w="19050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  <p:sp>
                <p:nvSpPr>
                  <p:cNvPr id="86" name="Freeform 62"/>
                  <p:cNvSpPr>
                    <a:spLocks/>
                  </p:cNvSpPr>
                  <p:nvPr/>
                </p:nvSpPr>
                <p:spPr bwMode="auto">
                  <a:xfrm>
                    <a:off x="681" y="2678"/>
                    <a:ext cx="68" cy="172"/>
                  </a:xfrm>
                  <a:custGeom>
                    <a:avLst/>
                    <a:gdLst>
                      <a:gd name="T0" fmla="*/ 0 w 68"/>
                      <a:gd name="T1" fmla="*/ 172 h 172"/>
                      <a:gd name="T2" fmla="*/ 58 w 68"/>
                      <a:gd name="T3" fmla="*/ 115 h 172"/>
                      <a:gd name="T4" fmla="*/ 58 w 68"/>
                      <a:gd name="T5" fmla="*/ 57 h 172"/>
                      <a:gd name="T6" fmla="*/ 0 w 68"/>
                      <a:gd name="T7" fmla="*/ 0 h 17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68" h="172">
                        <a:moveTo>
                          <a:pt x="0" y="172"/>
                        </a:moveTo>
                        <a:cubicBezTo>
                          <a:pt x="24" y="153"/>
                          <a:pt x="48" y="134"/>
                          <a:pt x="58" y="115"/>
                        </a:cubicBezTo>
                        <a:cubicBezTo>
                          <a:pt x="68" y="96"/>
                          <a:pt x="68" y="76"/>
                          <a:pt x="58" y="57"/>
                        </a:cubicBezTo>
                        <a:cubicBezTo>
                          <a:pt x="48" y="38"/>
                          <a:pt x="24" y="19"/>
                          <a:pt x="0" y="0"/>
                        </a:cubicBezTo>
                      </a:path>
                    </a:pathLst>
                  </a:custGeom>
                  <a:noFill/>
                  <a:ln w="19050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  <p:grpSp>
                <p:nvGrpSpPr>
                  <p:cNvPr id="87" name="Group 63"/>
                  <p:cNvGrpSpPr>
                    <a:grpSpLocks/>
                  </p:cNvGrpSpPr>
                  <p:nvPr/>
                </p:nvGrpSpPr>
                <p:grpSpPr bwMode="auto">
                  <a:xfrm>
                    <a:off x="451" y="2794"/>
                    <a:ext cx="230" cy="115"/>
                    <a:chOff x="576" y="2218"/>
                    <a:chExt cx="230" cy="230"/>
                  </a:xfrm>
                </p:grpSpPr>
                <p:sp>
                  <p:nvSpPr>
                    <p:cNvPr id="98" name="Freeform 64"/>
                    <p:cNvSpPr>
                      <a:spLocks/>
                    </p:cNvSpPr>
                    <p:nvPr/>
                  </p:nvSpPr>
                  <p:spPr bwMode="auto">
                    <a:xfrm>
                      <a:off x="576" y="2218"/>
                      <a:ext cx="230" cy="115"/>
                    </a:xfrm>
                    <a:custGeom>
                      <a:avLst/>
                      <a:gdLst>
                        <a:gd name="T0" fmla="*/ 0 w 230"/>
                        <a:gd name="T1" fmla="*/ 115 h 115"/>
                        <a:gd name="T2" fmla="*/ 115 w 230"/>
                        <a:gd name="T3" fmla="*/ 0 h 115"/>
                        <a:gd name="T4" fmla="*/ 230 w 230"/>
                        <a:gd name="T5" fmla="*/ 115 h 115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30" h="115">
                          <a:moveTo>
                            <a:pt x="0" y="115"/>
                          </a:moveTo>
                          <a:cubicBezTo>
                            <a:pt x="38" y="57"/>
                            <a:pt x="77" y="0"/>
                            <a:pt x="115" y="0"/>
                          </a:cubicBezTo>
                          <a:cubicBezTo>
                            <a:pt x="153" y="0"/>
                            <a:pt x="191" y="57"/>
                            <a:pt x="230" y="115"/>
                          </a:cubicBezTo>
                        </a:path>
                      </a:pathLst>
                    </a:custGeom>
                    <a:noFill/>
                    <a:ln w="19050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99" name="Freeform 65"/>
                    <p:cNvSpPr>
                      <a:spLocks/>
                    </p:cNvSpPr>
                    <p:nvPr/>
                  </p:nvSpPr>
                  <p:spPr bwMode="auto">
                    <a:xfrm flipV="1">
                      <a:off x="576" y="2333"/>
                      <a:ext cx="230" cy="115"/>
                    </a:xfrm>
                    <a:custGeom>
                      <a:avLst/>
                      <a:gdLst>
                        <a:gd name="T0" fmla="*/ 0 w 230"/>
                        <a:gd name="T1" fmla="*/ 115 h 115"/>
                        <a:gd name="T2" fmla="*/ 115 w 230"/>
                        <a:gd name="T3" fmla="*/ 0 h 115"/>
                        <a:gd name="T4" fmla="*/ 230 w 230"/>
                        <a:gd name="T5" fmla="*/ 115 h 115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30" h="115">
                          <a:moveTo>
                            <a:pt x="0" y="115"/>
                          </a:moveTo>
                          <a:cubicBezTo>
                            <a:pt x="38" y="57"/>
                            <a:pt x="77" y="0"/>
                            <a:pt x="115" y="0"/>
                          </a:cubicBezTo>
                          <a:cubicBezTo>
                            <a:pt x="153" y="0"/>
                            <a:pt x="191" y="57"/>
                            <a:pt x="230" y="115"/>
                          </a:cubicBezTo>
                        </a:path>
                      </a:pathLst>
                    </a:custGeom>
                    <a:noFill/>
                    <a:ln w="19050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</p:grpSp>
              <p:grpSp>
                <p:nvGrpSpPr>
                  <p:cNvPr id="88" name="Group 66"/>
                  <p:cNvGrpSpPr>
                    <a:grpSpLocks/>
                  </p:cNvGrpSpPr>
                  <p:nvPr/>
                </p:nvGrpSpPr>
                <p:grpSpPr bwMode="auto">
                  <a:xfrm>
                    <a:off x="451" y="2967"/>
                    <a:ext cx="230" cy="115"/>
                    <a:chOff x="576" y="2218"/>
                    <a:chExt cx="230" cy="230"/>
                  </a:xfrm>
                </p:grpSpPr>
                <p:sp>
                  <p:nvSpPr>
                    <p:cNvPr id="96" name="Freeform 67"/>
                    <p:cNvSpPr>
                      <a:spLocks/>
                    </p:cNvSpPr>
                    <p:nvPr/>
                  </p:nvSpPr>
                  <p:spPr bwMode="auto">
                    <a:xfrm>
                      <a:off x="576" y="2218"/>
                      <a:ext cx="230" cy="115"/>
                    </a:xfrm>
                    <a:custGeom>
                      <a:avLst/>
                      <a:gdLst>
                        <a:gd name="T0" fmla="*/ 0 w 230"/>
                        <a:gd name="T1" fmla="*/ 115 h 115"/>
                        <a:gd name="T2" fmla="*/ 115 w 230"/>
                        <a:gd name="T3" fmla="*/ 0 h 115"/>
                        <a:gd name="T4" fmla="*/ 230 w 230"/>
                        <a:gd name="T5" fmla="*/ 115 h 115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30" h="115">
                          <a:moveTo>
                            <a:pt x="0" y="115"/>
                          </a:moveTo>
                          <a:cubicBezTo>
                            <a:pt x="38" y="57"/>
                            <a:pt x="77" y="0"/>
                            <a:pt x="115" y="0"/>
                          </a:cubicBezTo>
                          <a:cubicBezTo>
                            <a:pt x="153" y="0"/>
                            <a:pt x="191" y="57"/>
                            <a:pt x="230" y="115"/>
                          </a:cubicBezTo>
                        </a:path>
                      </a:pathLst>
                    </a:custGeom>
                    <a:noFill/>
                    <a:ln w="19050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97" name="Freeform 68"/>
                    <p:cNvSpPr>
                      <a:spLocks/>
                    </p:cNvSpPr>
                    <p:nvPr/>
                  </p:nvSpPr>
                  <p:spPr bwMode="auto">
                    <a:xfrm flipV="1">
                      <a:off x="576" y="2333"/>
                      <a:ext cx="230" cy="115"/>
                    </a:xfrm>
                    <a:custGeom>
                      <a:avLst/>
                      <a:gdLst>
                        <a:gd name="T0" fmla="*/ 0 w 230"/>
                        <a:gd name="T1" fmla="*/ 115 h 115"/>
                        <a:gd name="T2" fmla="*/ 115 w 230"/>
                        <a:gd name="T3" fmla="*/ 0 h 115"/>
                        <a:gd name="T4" fmla="*/ 230 w 230"/>
                        <a:gd name="T5" fmla="*/ 115 h 115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30" h="115">
                          <a:moveTo>
                            <a:pt x="0" y="115"/>
                          </a:moveTo>
                          <a:cubicBezTo>
                            <a:pt x="38" y="57"/>
                            <a:pt x="77" y="0"/>
                            <a:pt x="115" y="0"/>
                          </a:cubicBezTo>
                          <a:cubicBezTo>
                            <a:pt x="153" y="0"/>
                            <a:pt x="191" y="57"/>
                            <a:pt x="230" y="115"/>
                          </a:cubicBezTo>
                        </a:path>
                      </a:pathLst>
                    </a:custGeom>
                    <a:noFill/>
                    <a:ln w="19050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</p:grpSp>
              <p:sp>
                <p:nvSpPr>
                  <p:cNvPr id="89" name="Freeform 69"/>
                  <p:cNvSpPr>
                    <a:spLocks/>
                  </p:cNvSpPr>
                  <p:nvPr/>
                </p:nvSpPr>
                <p:spPr bwMode="auto">
                  <a:xfrm>
                    <a:off x="681" y="2851"/>
                    <a:ext cx="68" cy="172"/>
                  </a:xfrm>
                  <a:custGeom>
                    <a:avLst/>
                    <a:gdLst>
                      <a:gd name="T0" fmla="*/ 0 w 68"/>
                      <a:gd name="T1" fmla="*/ 172 h 172"/>
                      <a:gd name="T2" fmla="*/ 58 w 68"/>
                      <a:gd name="T3" fmla="*/ 115 h 172"/>
                      <a:gd name="T4" fmla="*/ 58 w 68"/>
                      <a:gd name="T5" fmla="*/ 57 h 172"/>
                      <a:gd name="T6" fmla="*/ 0 w 68"/>
                      <a:gd name="T7" fmla="*/ 0 h 17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68" h="172">
                        <a:moveTo>
                          <a:pt x="0" y="172"/>
                        </a:moveTo>
                        <a:cubicBezTo>
                          <a:pt x="24" y="153"/>
                          <a:pt x="48" y="134"/>
                          <a:pt x="58" y="115"/>
                        </a:cubicBezTo>
                        <a:cubicBezTo>
                          <a:pt x="68" y="96"/>
                          <a:pt x="68" y="76"/>
                          <a:pt x="58" y="57"/>
                        </a:cubicBezTo>
                        <a:cubicBezTo>
                          <a:pt x="48" y="38"/>
                          <a:pt x="24" y="19"/>
                          <a:pt x="0" y="0"/>
                        </a:cubicBezTo>
                      </a:path>
                    </a:pathLst>
                  </a:custGeom>
                  <a:noFill/>
                  <a:ln w="19050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  <p:grpSp>
                <p:nvGrpSpPr>
                  <p:cNvPr id="90" name="Group 70"/>
                  <p:cNvGrpSpPr>
                    <a:grpSpLocks/>
                  </p:cNvGrpSpPr>
                  <p:nvPr/>
                </p:nvGrpSpPr>
                <p:grpSpPr bwMode="auto">
                  <a:xfrm>
                    <a:off x="576" y="2160"/>
                    <a:ext cx="135" cy="345"/>
                    <a:chOff x="576" y="2160"/>
                    <a:chExt cx="135" cy="345"/>
                  </a:xfrm>
                </p:grpSpPr>
                <p:sp>
                  <p:nvSpPr>
                    <p:cNvPr id="94" name="Freeform 71"/>
                    <p:cNvSpPr>
                      <a:spLocks/>
                    </p:cNvSpPr>
                    <p:nvPr/>
                  </p:nvSpPr>
                  <p:spPr bwMode="auto">
                    <a:xfrm>
                      <a:off x="579" y="2333"/>
                      <a:ext cx="132" cy="172"/>
                    </a:xfrm>
                    <a:custGeom>
                      <a:avLst/>
                      <a:gdLst>
                        <a:gd name="T0" fmla="*/ 0 w 132"/>
                        <a:gd name="T1" fmla="*/ 0 h 172"/>
                        <a:gd name="T2" fmla="*/ 115 w 132"/>
                        <a:gd name="T3" fmla="*/ 57 h 172"/>
                        <a:gd name="T4" fmla="*/ 99 w 132"/>
                        <a:gd name="T5" fmla="*/ 172 h 172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132" h="172">
                          <a:moveTo>
                            <a:pt x="0" y="0"/>
                          </a:moveTo>
                          <a:cubicBezTo>
                            <a:pt x="49" y="14"/>
                            <a:pt x="98" y="28"/>
                            <a:pt x="115" y="57"/>
                          </a:cubicBezTo>
                          <a:cubicBezTo>
                            <a:pt x="132" y="86"/>
                            <a:pt x="115" y="129"/>
                            <a:pt x="99" y="172"/>
                          </a:cubicBezTo>
                        </a:path>
                      </a:pathLst>
                    </a:custGeom>
                    <a:noFill/>
                    <a:ln w="19050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95" name="Line 72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576" y="2160"/>
                      <a:ext cx="0" cy="173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</p:grpSp>
              <p:grpSp>
                <p:nvGrpSpPr>
                  <p:cNvPr id="91" name="Group 73"/>
                  <p:cNvGrpSpPr>
                    <a:grpSpLocks/>
                  </p:cNvGrpSpPr>
                  <p:nvPr/>
                </p:nvGrpSpPr>
                <p:grpSpPr bwMode="auto">
                  <a:xfrm flipV="1">
                    <a:off x="576" y="3024"/>
                    <a:ext cx="135" cy="345"/>
                    <a:chOff x="576" y="2160"/>
                    <a:chExt cx="135" cy="345"/>
                  </a:xfrm>
                </p:grpSpPr>
                <p:sp>
                  <p:nvSpPr>
                    <p:cNvPr id="92" name="Freeform 74"/>
                    <p:cNvSpPr>
                      <a:spLocks/>
                    </p:cNvSpPr>
                    <p:nvPr/>
                  </p:nvSpPr>
                  <p:spPr bwMode="auto">
                    <a:xfrm>
                      <a:off x="579" y="2333"/>
                      <a:ext cx="132" cy="172"/>
                    </a:xfrm>
                    <a:custGeom>
                      <a:avLst/>
                      <a:gdLst>
                        <a:gd name="T0" fmla="*/ 0 w 132"/>
                        <a:gd name="T1" fmla="*/ 0 h 172"/>
                        <a:gd name="T2" fmla="*/ 115 w 132"/>
                        <a:gd name="T3" fmla="*/ 57 h 172"/>
                        <a:gd name="T4" fmla="*/ 99 w 132"/>
                        <a:gd name="T5" fmla="*/ 172 h 172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132" h="172">
                          <a:moveTo>
                            <a:pt x="0" y="0"/>
                          </a:moveTo>
                          <a:cubicBezTo>
                            <a:pt x="49" y="14"/>
                            <a:pt x="98" y="28"/>
                            <a:pt x="115" y="57"/>
                          </a:cubicBezTo>
                          <a:cubicBezTo>
                            <a:pt x="132" y="86"/>
                            <a:pt x="115" y="129"/>
                            <a:pt x="99" y="172"/>
                          </a:cubicBezTo>
                        </a:path>
                      </a:pathLst>
                    </a:custGeom>
                    <a:noFill/>
                    <a:ln w="19050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93" name="Line 75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576" y="2160"/>
                      <a:ext cx="0" cy="173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</p:grpSp>
            </p:grpSp>
            <p:sp>
              <p:nvSpPr>
                <p:cNvPr id="82" name="Freeform 337"/>
                <p:cNvSpPr>
                  <a:spLocks/>
                </p:cNvSpPr>
                <p:nvPr/>
              </p:nvSpPr>
              <p:spPr bwMode="auto">
                <a:xfrm>
                  <a:off x="3398" y="1757"/>
                  <a:ext cx="116" cy="518"/>
                </a:xfrm>
                <a:custGeom>
                  <a:avLst/>
                  <a:gdLst>
                    <a:gd name="T0" fmla="*/ 58 w 116"/>
                    <a:gd name="T1" fmla="*/ 0 h 518"/>
                    <a:gd name="T2" fmla="*/ 0 w 116"/>
                    <a:gd name="T3" fmla="*/ 230 h 518"/>
                    <a:gd name="T4" fmla="*/ 58 w 116"/>
                    <a:gd name="T5" fmla="*/ 518 h 518"/>
                    <a:gd name="T6" fmla="*/ 116 w 116"/>
                    <a:gd name="T7" fmla="*/ 230 h 518"/>
                    <a:gd name="T8" fmla="*/ 58 w 116"/>
                    <a:gd name="T9" fmla="*/ 0 h 51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16" h="518">
                      <a:moveTo>
                        <a:pt x="58" y="0"/>
                      </a:moveTo>
                      <a:lnTo>
                        <a:pt x="0" y="230"/>
                      </a:lnTo>
                      <a:lnTo>
                        <a:pt x="58" y="518"/>
                      </a:lnTo>
                      <a:lnTo>
                        <a:pt x="116" y="230"/>
                      </a:lnTo>
                      <a:lnTo>
                        <a:pt x="58" y="0"/>
                      </a:lnTo>
                      <a:close/>
                    </a:path>
                  </a:pathLst>
                </a:cu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sp>
            <p:nvSpPr>
              <p:cNvPr id="48" name="Freeform 47"/>
              <p:cNvSpPr/>
              <p:nvPr/>
            </p:nvSpPr>
            <p:spPr>
              <a:xfrm>
                <a:off x="9951413" y="2338807"/>
                <a:ext cx="518475" cy="440880"/>
              </a:xfrm>
              <a:custGeom>
                <a:avLst/>
                <a:gdLst>
                  <a:gd name="connsiteX0" fmla="*/ 0 w 518475"/>
                  <a:gd name="connsiteY0" fmla="*/ 414779 h 414779"/>
                  <a:gd name="connsiteX1" fmla="*/ 141403 w 518475"/>
                  <a:gd name="connsiteY1" fmla="*/ 414779 h 414779"/>
                  <a:gd name="connsiteX2" fmla="*/ 141403 w 518475"/>
                  <a:gd name="connsiteY2" fmla="*/ 0 h 414779"/>
                  <a:gd name="connsiteX3" fmla="*/ 518475 w 518475"/>
                  <a:gd name="connsiteY3" fmla="*/ 0 h 4147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18475" h="414779">
                    <a:moveTo>
                      <a:pt x="0" y="414779"/>
                    </a:moveTo>
                    <a:lnTo>
                      <a:pt x="141403" y="414779"/>
                    </a:lnTo>
                    <a:lnTo>
                      <a:pt x="141403" y="0"/>
                    </a:lnTo>
                    <a:lnTo>
                      <a:pt x="518475" y="0"/>
                    </a:lnTo>
                  </a:path>
                </a:pathLst>
              </a:cu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grpSp>
            <p:nvGrpSpPr>
              <p:cNvPr id="49" name="Group 338"/>
              <p:cNvGrpSpPr>
                <a:grpSpLocks/>
              </p:cNvGrpSpPr>
              <p:nvPr/>
            </p:nvGrpSpPr>
            <p:grpSpPr bwMode="auto">
              <a:xfrm rot="5400000">
                <a:off x="10504464" y="2927913"/>
                <a:ext cx="144016" cy="352328"/>
                <a:chOff x="3398" y="1757"/>
                <a:chExt cx="128" cy="518"/>
              </a:xfrm>
            </p:grpSpPr>
            <p:grpSp>
              <p:nvGrpSpPr>
                <p:cNvPr id="58" name="Group 54"/>
                <p:cNvGrpSpPr>
                  <a:grpSpLocks/>
                </p:cNvGrpSpPr>
                <p:nvPr/>
              </p:nvGrpSpPr>
              <p:grpSpPr bwMode="auto">
                <a:xfrm>
                  <a:off x="3398" y="1757"/>
                  <a:ext cx="128" cy="518"/>
                  <a:chOff x="451" y="2160"/>
                  <a:chExt cx="298" cy="1209"/>
                </a:xfrm>
              </p:grpSpPr>
              <p:grpSp>
                <p:nvGrpSpPr>
                  <p:cNvPr id="60" name="Group 55"/>
                  <p:cNvGrpSpPr>
                    <a:grpSpLocks/>
                  </p:cNvGrpSpPr>
                  <p:nvPr/>
                </p:nvGrpSpPr>
                <p:grpSpPr bwMode="auto">
                  <a:xfrm>
                    <a:off x="451" y="2621"/>
                    <a:ext cx="230" cy="115"/>
                    <a:chOff x="576" y="2218"/>
                    <a:chExt cx="230" cy="230"/>
                  </a:xfrm>
                </p:grpSpPr>
                <p:sp>
                  <p:nvSpPr>
                    <p:cNvPr id="79" name="Freeform 56"/>
                    <p:cNvSpPr>
                      <a:spLocks/>
                    </p:cNvSpPr>
                    <p:nvPr/>
                  </p:nvSpPr>
                  <p:spPr bwMode="auto">
                    <a:xfrm>
                      <a:off x="576" y="2218"/>
                      <a:ext cx="230" cy="115"/>
                    </a:xfrm>
                    <a:custGeom>
                      <a:avLst/>
                      <a:gdLst>
                        <a:gd name="T0" fmla="*/ 0 w 230"/>
                        <a:gd name="T1" fmla="*/ 115 h 115"/>
                        <a:gd name="T2" fmla="*/ 115 w 230"/>
                        <a:gd name="T3" fmla="*/ 0 h 115"/>
                        <a:gd name="T4" fmla="*/ 230 w 230"/>
                        <a:gd name="T5" fmla="*/ 115 h 115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30" h="115">
                          <a:moveTo>
                            <a:pt x="0" y="115"/>
                          </a:moveTo>
                          <a:cubicBezTo>
                            <a:pt x="38" y="57"/>
                            <a:pt x="77" y="0"/>
                            <a:pt x="115" y="0"/>
                          </a:cubicBezTo>
                          <a:cubicBezTo>
                            <a:pt x="153" y="0"/>
                            <a:pt x="191" y="57"/>
                            <a:pt x="230" y="115"/>
                          </a:cubicBezTo>
                        </a:path>
                      </a:pathLst>
                    </a:custGeom>
                    <a:noFill/>
                    <a:ln w="19050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80" name="Freeform 57"/>
                    <p:cNvSpPr>
                      <a:spLocks/>
                    </p:cNvSpPr>
                    <p:nvPr/>
                  </p:nvSpPr>
                  <p:spPr bwMode="auto">
                    <a:xfrm flipV="1">
                      <a:off x="576" y="2333"/>
                      <a:ext cx="230" cy="115"/>
                    </a:xfrm>
                    <a:custGeom>
                      <a:avLst/>
                      <a:gdLst>
                        <a:gd name="T0" fmla="*/ 0 w 230"/>
                        <a:gd name="T1" fmla="*/ 115 h 115"/>
                        <a:gd name="T2" fmla="*/ 115 w 230"/>
                        <a:gd name="T3" fmla="*/ 0 h 115"/>
                        <a:gd name="T4" fmla="*/ 230 w 230"/>
                        <a:gd name="T5" fmla="*/ 115 h 115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30" h="115">
                          <a:moveTo>
                            <a:pt x="0" y="115"/>
                          </a:moveTo>
                          <a:cubicBezTo>
                            <a:pt x="38" y="57"/>
                            <a:pt x="77" y="0"/>
                            <a:pt x="115" y="0"/>
                          </a:cubicBezTo>
                          <a:cubicBezTo>
                            <a:pt x="153" y="0"/>
                            <a:pt x="191" y="57"/>
                            <a:pt x="230" y="115"/>
                          </a:cubicBezTo>
                        </a:path>
                      </a:pathLst>
                    </a:custGeom>
                    <a:noFill/>
                    <a:ln w="19050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</p:grpSp>
              <p:grpSp>
                <p:nvGrpSpPr>
                  <p:cNvPr id="61" name="Group 58"/>
                  <p:cNvGrpSpPr>
                    <a:grpSpLocks/>
                  </p:cNvGrpSpPr>
                  <p:nvPr/>
                </p:nvGrpSpPr>
                <p:grpSpPr bwMode="auto">
                  <a:xfrm>
                    <a:off x="451" y="2448"/>
                    <a:ext cx="230" cy="115"/>
                    <a:chOff x="576" y="2218"/>
                    <a:chExt cx="230" cy="230"/>
                  </a:xfrm>
                </p:grpSpPr>
                <p:sp>
                  <p:nvSpPr>
                    <p:cNvPr id="77" name="Freeform 59"/>
                    <p:cNvSpPr>
                      <a:spLocks/>
                    </p:cNvSpPr>
                    <p:nvPr/>
                  </p:nvSpPr>
                  <p:spPr bwMode="auto">
                    <a:xfrm>
                      <a:off x="576" y="2218"/>
                      <a:ext cx="230" cy="115"/>
                    </a:xfrm>
                    <a:custGeom>
                      <a:avLst/>
                      <a:gdLst>
                        <a:gd name="T0" fmla="*/ 0 w 230"/>
                        <a:gd name="T1" fmla="*/ 115 h 115"/>
                        <a:gd name="T2" fmla="*/ 115 w 230"/>
                        <a:gd name="T3" fmla="*/ 0 h 115"/>
                        <a:gd name="T4" fmla="*/ 230 w 230"/>
                        <a:gd name="T5" fmla="*/ 115 h 115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30" h="115">
                          <a:moveTo>
                            <a:pt x="0" y="115"/>
                          </a:moveTo>
                          <a:cubicBezTo>
                            <a:pt x="38" y="57"/>
                            <a:pt x="77" y="0"/>
                            <a:pt x="115" y="0"/>
                          </a:cubicBezTo>
                          <a:cubicBezTo>
                            <a:pt x="153" y="0"/>
                            <a:pt x="191" y="57"/>
                            <a:pt x="230" y="115"/>
                          </a:cubicBezTo>
                        </a:path>
                      </a:pathLst>
                    </a:custGeom>
                    <a:noFill/>
                    <a:ln w="19050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78" name="Freeform 60"/>
                    <p:cNvSpPr>
                      <a:spLocks/>
                    </p:cNvSpPr>
                    <p:nvPr/>
                  </p:nvSpPr>
                  <p:spPr bwMode="auto">
                    <a:xfrm flipV="1">
                      <a:off x="576" y="2333"/>
                      <a:ext cx="230" cy="115"/>
                    </a:xfrm>
                    <a:custGeom>
                      <a:avLst/>
                      <a:gdLst>
                        <a:gd name="T0" fmla="*/ 0 w 230"/>
                        <a:gd name="T1" fmla="*/ 115 h 115"/>
                        <a:gd name="T2" fmla="*/ 115 w 230"/>
                        <a:gd name="T3" fmla="*/ 0 h 115"/>
                        <a:gd name="T4" fmla="*/ 230 w 230"/>
                        <a:gd name="T5" fmla="*/ 115 h 115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30" h="115">
                          <a:moveTo>
                            <a:pt x="0" y="115"/>
                          </a:moveTo>
                          <a:cubicBezTo>
                            <a:pt x="38" y="57"/>
                            <a:pt x="77" y="0"/>
                            <a:pt x="115" y="0"/>
                          </a:cubicBezTo>
                          <a:cubicBezTo>
                            <a:pt x="153" y="0"/>
                            <a:pt x="191" y="57"/>
                            <a:pt x="230" y="115"/>
                          </a:cubicBezTo>
                        </a:path>
                      </a:pathLst>
                    </a:custGeom>
                    <a:noFill/>
                    <a:ln w="19050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</p:grpSp>
              <p:sp>
                <p:nvSpPr>
                  <p:cNvPr id="62" name="Freeform 61"/>
                  <p:cNvSpPr>
                    <a:spLocks/>
                  </p:cNvSpPr>
                  <p:nvPr/>
                </p:nvSpPr>
                <p:spPr bwMode="auto">
                  <a:xfrm>
                    <a:off x="681" y="2506"/>
                    <a:ext cx="68" cy="172"/>
                  </a:xfrm>
                  <a:custGeom>
                    <a:avLst/>
                    <a:gdLst>
                      <a:gd name="T0" fmla="*/ 0 w 68"/>
                      <a:gd name="T1" fmla="*/ 172 h 172"/>
                      <a:gd name="T2" fmla="*/ 58 w 68"/>
                      <a:gd name="T3" fmla="*/ 115 h 172"/>
                      <a:gd name="T4" fmla="*/ 58 w 68"/>
                      <a:gd name="T5" fmla="*/ 57 h 172"/>
                      <a:gd name="T6" fmla="*/ 0 w 68"/>
                      <a:gd name="T7" fmla="*/ 0 h 17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68" h="172">
                        <a:moveTo>
                          <a:pt x="0" y="172"/>
                        </a:moveTo>
                        <a:cubicBezTo>
                          <a:pt x="24" y="153"/>
                          <a:pt x="48" y="134"/>
                          <a:pt x="58" y="115"/>
                        </a:cubicBezTo>
                        <a:cubicBezTo>
                          <a:pt x="68" y="96"/>
                          <a:pt x="68" y="76"/>
                          <a:pt x="58" y="57"/>
                        </a:cubicBezTo>
                        <a:cubicBezTo>
                          <a:pt x="48" y="38"/>
                          <a:pt x="24" y="19"/>
                          <a:pt x="0" y="0"/>
                        </a:cubicBezTo>
                      </a:path>
                    </a:pathLst>
                  </a:custGeom>
                  <a:noFill/>
                  <a:ln w="19050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  <p:sp>
                <p:nvSpPr>
                  <p:cNvPr id="63" name="Freeform 62"/>
                  <p:cNvSpPr>
                    <a:spLocks/>
                  </p:cNvSpPr>
                  <p:nvPr/>
                </p:nvSpPr>
                <p:spPr bwMode="auto">
                  <a:xfrm>
                    <a:off x="681" y="2678"/>
                    <a:ext cx="68" cy="172"/>
                  </a:xfrm>
                  <a:custGeom>
                    <a:avLst/>
                    <a:gdLst>
                      <a:gd name="T0" fmla="*/ 0 w 68"/>
                      <a:gd name="T1" fmla="*/ 172 h 172"/>
                      <a:gd name="T2" fmla="*/ 58 w 68"/>
                      <a:gd name="T3" fmla="*/ 115 h 172"/>
                      <a:gd name="T4" fmla="*/ 58 w 68"/>
                      <a:gd name="T5" fmla="*/ 57 h 172"/>
                      <a:gd name="T6" fmla="*/ 0 w 68"/>
                      <a:gd name="T7" fmla="*/ 0 h 17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68" h="172">
                        <a:moveTo>
                          <a:pt x="0" y="172"/>
                        </a:moveTo>
                        <a:cubicBezTo>
                          <a:pt x="24" y="153"/>
                          <a:pt x="48" y="134"/>
                          <a:pt x="58" y="115"/>
                        </a:cubicBezTo>
                        <a:cubicBezTo>
                          <a:pt x="68" y="96"/>
                          <a:pt x="68" y="76"/>
                          <a:pt x="58" y="57"/>
                        </a:cubicBezTo>
                        <a:cubicBezTo>
                          <a:pt x="48" y="38"/>
                          <a:pt x="24" y="19"/>
                          <a:pt x="0" y="0"/>
                        </a:cubicBezTo>
                      </a:path>
                    </a:pathLst>
                  </a:custGeom>
                  <a:noFill/>
                  <a:ln w="19050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  <p:grpSp>
                <p:nvGrpSpPr>
                  <p:cNvPr id="64" name="Group 63"/>
                  <p:cNvGrpSpPr>
                    <a:grpSpLocks/>
                  </p:cNvGrpSpPr>
                  <p:nvPr/>
                </p:nvGrpSpPr>
                <p:grpSpPr bwMode="auto">
                  <a:xfrm>
                    <a:off x="451" y="2794"/>
                    <a:ext cx="230" cy="115"/>
                    <a:chOff x="576" y="2218"/>
                    <a:chExt cx="230" cy="230"/>
                  </a:xfrm>
                </p:grpSpPr>
                <p:sp>
                  <p:nvSpPr>
                    <p:cNvPr id="75" name="Freeform 64"/>
                    <p:cNvSpPr>
                      <a:spLocks/>
                    </p:cNvSpPr>
                    <p:nvPr/>
                  </p:nvSpPr>
                  <p:spPr bwMode="auto">
                    <a:xfrm>
                      <a:off x="576" y="2218"/>
                      <a:ext cx="230" cy="115"/>
                    </a:xfrm>
                    <a:custGeom>
                      <a:avLst/>
                      <a:gdLst>
                        <a:gd name="T0" fmla="*/ 0 w 230"/>
                        <a:gd name="T1" fmla="*/ 115 h 115"/>
                        <a:gd name="T2" fmla="*/ 115 w 230"/>
                        <a:gd name="T3" fmla="*/ 0 h 115"/>
                        <a:gd name="T4" fmla="*/ 230 w 230"/>
                        <a:gd name="T5" fmla="*/ 115 h 115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30" h="115">
                          <a:moveTo>
                            <a:pt x="0" y="115"/>
                          </a:moveTo>
                          <a:cubicBezTo>
                            <a:pt x="38" y="57"/>
                            <a:pt x="77" y="0"/>
                            <a:pt x="115" y="0"/>
                          </a:cubicBezTo>
                          <a:cubicBezTo>
                            <a:pt x="153" y="0"/>
                            <a:pt x="191" y="57"/>
                            <a:pt x="230" y="115"/>
                          </a:cubicBezTo>
                        </a:path>
                      </a:pathLst>
                    </a:custGeom>
                    <a:noFill/>
                    <a:ln w="19050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76" name="Freeform 65"/>
                    <p:cNvSpPr>
                      <a:spLocks/>
                    </p:cNvSpPr>
                    <p:nvPr/>
                  </p:nvSpPr>
                  <p:spPr bwMode="auto">
                    <a:xfrm flipV="1">
                      <a:off x="576" y="2333"/>
                      <a:ext cx="230" cy="115"/>
                    </a:xfrm>
                    <a:custGeom>
                      <a:avLst/>
                      <a:gdLst>
                        <a:gd name="T0" fmla="*/ 0 w 230"/>
                        <a:gd name="T1" fmla="*/ 115 h 115"/>
                        <a:gd name="T2" fmla="*/ 115 w 230"/>
                        <a:gd name="T3" fmla="*/ 0 h 115"/>
                        <a:gd name="T4" fmla="*/ 230 w 230"/>
                        <a:gd name="T5" fmla="*/ 115 h 115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30" h="115">
                          <a:moveTo>
                            <a:pt x="0" y="115"/>
                          </a:moveTo>
                          <a:cubicBezTo>
                            <a:pt x="38" y="57"/>
                            <a:pt x="77" y="0"/>
                            <a:pt x="115" y="0"/>
                          </a:cubicBezTo>
                          <a:cubicBezTo>
                            <a:pt x="153" y="0"/>
                            <a:pt x="191" y="57"/>
                            <a:pt x="230" y="115"/>
                          </a:cubicBezTo>
                        </a:path>
                      </a:pathLst>
                    </a:custGeom>
                    <a:noFill/>
                    <a:ln w="19050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</p:grpSp>
              <p:grpSp>
                <p:nvGrpSpPr>
                  <p:cNvPr id="65" name="Group 66"/>
                  <p:cNvGrpSpPr>
                    <a:grpSpLocks/>
                  </p:cNvGrpSpPr>
                  <p:nvPr/>
                </p:nvGrpSpPr>
                <p:grpSpPr bwMode="auto">
                  <a:xfrm>
                    <a:off x="451" y="2967"/>
                    <a:ext cx="230" cy="115"/>
                    <a:chOff x="576" y="2218"/>
                    <a:chExt cx="230" cy="230"/>
                  </a:xfrm>
                </p:grpSpPr>
                <p:sp>
                  <p:nvSpPr>
                    <p:cNvPr id="73" name="Freeform 67"/>
                    <p:cNvSpPr>
                      <a:spLocks/>
                    </p:cNvSpPr>
                    <p:nvPr/>
                  </p:nvSpPr>
                  <p:spPr bwMode="auto">
                    <a:xfrm>
                      <a:off x="576" y="2218"/>
                      <a:ext cx="230" cy="115"/>
                    </a:xfrm>
                    <a:custGeom>
                      <a:avLst/>
                      <a:gdLst>
                        <a:gd name="T0" fmla="*/ 0 w 230"/>
                        <a:gd name="T1" fmla="*/ 115 h 115"/>
                        <a:gd name="T2" fmla="*/ 115 w 230"/>
                        <a:gd name="T3" fmla="*/ 0 h 115"/>
                        <a:gd name="T4" fmla="*/ 230 w 230"/>
                        <a:gd name="T5" fmla="*/ 115 h 115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30" h="115">
                          <a:moveTo>
                            <a:pt x="0" y="115"/>
                          </a:moveTo>
                          <a:cubicBezTo>
                            <a:pt x="38" y="57"/>
                            <a:pt x="77" y="0"/>
                            <a:pt x="115" y="0"/>
                          </a:cubicBezTo>
                          <a:cubicBezTo>
                            <a:pt x="153" y="0"/>
                            <a:pt x="191" y="57"/>
                            <a:pt x="230" y="115"/>
                          </a:cubicBezTo>
                        </a:path>
                      </a:pathLst>
                    </a:custGeom>
                    <a:noFill/>
                    <a:ln w="19050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74" name="Freeform 68"/>
                    <p:cNvSpPr>
                      <a:spLocks/>
                    </p:cNvSpPr>
                    <p:nvPr/>
                  </p:nvSpPr>
                  <p:spPr bwMode="auto">
                    <a:xfrm flipV="1">
                      <a:off x="576" y="2333"/>
                      <a:ext cx="230" cy="115"/>
                    </a:xfrm>
                    <a:custGeom>
                      <a:avLst/>
                      <a:gdLst>
                        <a:gd name="T0" fmla="*/ 0 w 230"/>
                        <a:gd name="T1" fmla="*/ 115 h 115"/>
                        <a:gd name="T2" fmla="*/ 115 w 230"/>
                        <a:gd name="T3" fmla="*/ 0 h 115"/>
                        <a:gd name="T4" fmla="*/ 230 w 230"/>
                        <a:gd name="T5" fmla="*/ 115 h 115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30" h="115">
                          <a:moveTo>
                            <a:pt x="0" y="115"/>
                          </a:moveTo>
                          <a:cubicBezTo>
                            <a:pt x="38" y="57"/>
                            <a:pt x="77" y="0"/>
                            <a:pt x="115" y="0"/>
                          </a:cubicBezTo>
                          <a:cubicBezTo>
                            <a:pt x="153" y="0"/>
                            <a:pt x="191" y="57"/>
                            <a:pt x="230" y="115"/>
                          </a:cubicBezTo>
                        </a:path>
                      </a:pathLst>
                    </a:custGeom>
                    <a:noFill/>
                    <a:ln w="19050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</p:grpSp>
              <p:sp>
                <p:nvSpPr>
                  <p:cNvPr id="66" name="Freeform 69"/>
                  <p:cNvSpPr>
                    <a:spLocks/>
                  </p:cNvSpPr>
                  <p:nvPr/>
                </p:nvSpPr>
                <p:spPr bwMode="auto">
                  <a:xfrm>
                    <a:off x="681" y="2851"/>
                    <a:ext cx="68" cy="172"/>
                  </a:xfrm>
                  <a:custGeom>
                    <a:avLst/>
                    <a:gdLst>
                      <a:gd name="T0" fmla="*/ 0 w 68"/>
                      <a:gd name="T1" fmla="*/ 172 h 172"/>
                      <a:gd name="T2" fmla="*/ 58 w 68"/>
                      <a:gd name="T3" fmla="*/ 115 h 172"/>
                      <a:gd name="T4" fmla="*/ 58 w 68"/>
                      <a:gd name="T5" fmla="*/ 57 h 172"/>
                      <a:gd name="T6" fmla="*/ 0 w 68"/>
                      <a:gd name="T7" fmla="*/ 0 h 17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68" h="172">
                        <a:moveTo>
                          <a:pt x="0" y="172"/>
                        </a:moveTo>
                        <a:cubicBezTo>
                          <a:pt x="24" y="153"/>
                          <a:pt x="48" y="134"/>
                          <a:pt x="58" y="115"/>
                        </a:cubicBezTo>
                        <a:cubicBezTo>
                          <a:pt x="68" y="96"/>
                          <a:pt x="68" y="76"/>
                          <a:pt x="58" y="57"/>
                        </a:cubicBezTo>
                        <a:cubicBezTo>
                          <a:pt x="48" y="38"/>
                          <a:pt x="24" y="19"/>
                          <a:pt x="0" y="0"/>
                        </a:cubicBezTo>
                      </a:path>
                    </a:pathLst>
                  </a:custGeom>
                  <a:noFill/>
                  <a:ln w="19050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  <p:grpSp>
                <p:nvGrpSpPr>
                  <p:cNvPr id="67" name="Group 70"/>
                  <p:cNvGrpSpPr>
                    <a:grpSpLocks/>
                  </p:cNvGrpSpPr>
                  <p:nvPr/>
                </p:nvGrpSpPr>
                <p:grpSpPr bwMode="auto">
                  <a:xfrm>
                    <a:off x="576" y="2160"/>
                    <a:ext cx="135" cy="345"/>
                    <a:chOff x="576" y="2160"/>
                    <a:chExt cx="135" cy="345"/>
                  </a:xfrm>
                </p:grpSpPr>
                <p:sp>
                  <p:nvSpPr>
                    <p:cNvPr id="71" name="Freeform 71"/>
                    <p:cNvSpPr>
                      <a:spLocks/>
                    </p:cNvSpPr>
                    <p:nvPr/>
                  </p:nvSpPr>
                  <p:spPr bwMode="auto">
                    <a:xfrm>
                      <a:off x="579" y="2333"/>
                      <a:ext cx="132" cy="172"/>
                    </a:xfrm>
                    <a:custGeom>
                      <a:avLst/>
                      <a:gdLst>
                        <a:gd name="T0" fmla="*/ 0 w 132"/>
                        <a:gd name="T1" fmla="*/ 0 h 172"/>
                        <a:gd name="T2" fmla="*/ 115 w 132"/>
                        <a:gd name="T3" fmla="*/ 57 h 172"/>
                        <a:gd name="T4" fmla="*/ 99 w 132"/>
                        <a:gd name="T5" fmla="*/ 172 h 172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132" h="172">
                          <a:moveTo>
                            <a:pt x="0" y="0"/>
                          </a:moveTo>
                          <a:cubicBezTo>
                            <a:pt x="49" y="14"/>
                            <a:pt x="98" y="28"/>
                            <a:pt x="115" y="57"/>
                          </a:cubicBezTo>
                          <a:cubicBezTo>
                            <a:pt x="132" y="86"/>
                            <a:pt x="115" y="129"/>
                            <a:pt x="99" y="172"/>
                          </a:cubicBezTo>
                        </a:path>
                      </a:pathLst>
                    </a:custGeom>
                    <a:noFill/>
                    <a:ln w="19050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72" name="Line 72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576" y="2160"/>
                      <a:ext cx="0" cy="173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</p:grpSp>
              <p:grpSp>
                <p:nvGrpSpPr>
                  <p:cNvPr id="68" name="Group 73"/>
                  <p:cNvGrpSpPr>
                    <a:grpSpLocks/>
                  </p:cNvGrpSpPr>
                  <p:nvPr/>
                </p:nvGrpSpPr>
                <p:grpSpPr bwMode="auto">
                  <a:xfrm flipV="1">
                    <a:off x="576" y="3024"/>
                    <a:ext cx="135" cy="345"/>
                    <a:chOff x="576" y="2160"/>
                    <a:chExt cx="135" cy="345"/>
                  </a:xfrm>
                </p:grpSpPr>
                <p:sp>
                  <p:nvSpPr>
                    <p:cNvPr id="69" name="Freeform 74"/>
                    <p:cNvSpPr>
                      <a:spLocks/>
                    </p:cNvSpPr>
                    <p:nvPr/>
                  </p:nvSpPr>
                  <p:spPr bwMode="auto">
                    <a:xfrm>
                      <a:off x="579" y="2333"/>
                      <a:ext cx="132" cy="172"/>
                    </a:xfrm>
                    <a:custGeom>
                      <a:avLst/>
                      <a:gdLst>
                        <a:gd name="T0" fmla="*/ 0 w 132"/>
                        <a:gd name="T1" fmla="*/ 0 h 172"/>
                        <a:gd name="T2" fmla="*/ 115 w 132"/>
                        <a:gd name="T3" fmla="*/ 57 h 172"/>
                        <a:gd name="T4" fmla="*/ 99 w 132"/>
                        <a:gd name="T5" fmla="*/ 172 h 172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132" h="172">
                          <a:moveTo>
                            <a:pt x="0" y="0"/>
                          </a:moveTo>
                          <a:cubicBezTo>
                            <a:pt x="49" y="14"/>
                            <a:pt x="98" y="28"/>
                            <a:pt x="115" y="57"/>
                          </a:cubicBezTo>
                          <a:cubicBezTo>
                            <a:pt x="132" y="86"/>
                            <a:pt x="115" y="129"/>
                            <a:pt x="99" y="172"/>
                          </a:cubicBezTo>
                        </a:path>
                      </a:pathLst>
                    </a:custGeom>
                    <a:noFill/>
                    <a:ln w="19050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70" name="Line 75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576" y="2160"/>
                      <a:ext cx="0" cy="173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</p:grpSp>
            </p:grpSp>
            <p:sp>
              <p:nvSpPr>
                <p:cNvPr id="59" name="Freeform 337"/>
                <p:cNvSpPr>
                  <a:spLocks/>
                </p:cNvSpPr>
                <p:nvPr/>
              </p:nvSpPr>
              <p:spPr bwMode="auto">
                <a:xfrm>
                  <a:off x="3398" y="1757"/>
                  <a:ext cx="116" cy="518"/>
                </a:xfrm>
                <a:custGeom>
                  <a:avLst/>
                  <a:gdLst>
                    <a:gd name="T0" fmla="*/ 58 w 116"/>
                    <a:gd name="T1" fmla="*/ 0 h 518"/>
                    <a:gd name="T2" fmla="*/ 0 w 116"/>
                    <a:gd name="T3" fmla="*/ 230 h 518"/>
                    <a:gd name="T4" fmla="*/ 58 w 116"/>
                    <a:gd name="T5" fmla="*/ 518 h 518"/>
                    <a:gd name="T6" fmla="*/ 116 w 116"/>
                    <a:gd name="T7" fmla="*/ 230 h 518"/>
                    <a:gd name="T8" fmla="*/ 58 w 116"/>
                    <a:gd name="T9" fmla="*/ 0 h 51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16" h="518">
                      <a:moveTo>
                        <a:pt x="58" y="0"/>
                      </a:moveTo>
                      <a:lnTo>
                        <a:pt x="0" y="230"/>
                      </a:lnTo>
                      <a:lnTo>
                        <a:pt x="58" y="518"/>
                      </a:lnTo>
                      <a:lnTo>
                        <a:pt x="116" y="230"/>
                      </a:lnTo>
                      <a:lnTo>
                        <a:pt x="58" y="0"/>
                      </a:lnTo>
                      <a:close/>
                    </a:path>
                  </a:pathLst>
                </a:cu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grpSp>
            <p:nvGrpSpPr>
              <p:cNvPr id="50" name="Group 346"/>
              <p:cNvGrpSpPr>
                <a:grpSpLocks/>
              </p:cNvGrpSpPr>
              <p:nvPr/>
            </p:nvGrpSpPr>
            <p:grpSpPr bwMode="auto">
              <a:xfrm>
                <a:off x="10192120" y="3088567"/>
                <a:ext cx="227806" cy="379237"/>
                <a:chOff x="5012" y="1930"/>
                <a:chExt cx="346" cy="576"/>
              </a:xfrm>
            </p:grpSpPr>
            <p:grpSp>
              <p:nvGrpSpPr>
                <p:cNvPr id="52" name="Group 135"/>
                <p:cNvGrpSpPr>
                  <a:grpSpLocks/>
                </p:cNvGrpSpPr>
                <p:nvPr/>
              </p:nvGrpSpPr>
              <p:grpSpPr bwMode="auto">
                <a:xfrm>
                  <a:off x="5012" y="1930"/>
                  <a:ext cx="346" cy="576"/>
                  <a:chOff x="2707" y="2736"/>
                  <a:chExt cx="346" cy="576"/>
                </a:xfrm>
              </p:grpSpPr>
              <p:sp>
                <p:nvSpPr>
                  <p:cNvPr id="54" name="Line 136"/>
                  <p:cNvSpPr>
                    <a:spLocks noChangeShapeType="1"/>
                  </p:cNvSpPr>
                  <p:nvPr/>
                </p:nvSpPr>
                <p:spPr bwMode="auto">
                  <a:xfrm>
                    <a:off x="2707" y="2966"/>
                    <a:ext cx="346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algn="r"/>
                    <a:endParaRPr lang="en-GB"/>
                  </a:p>
                </p:txBody>
              </p:sp>
              <p:sp>
                <p:nvSpPr>
                  <p:cNvPr id="55" name="Line 137"/>
                  <p:cNvSpPr>
                    <a:spLocks noChangeShapeType="1"/>
                  </p:cNvSpPr>
                  <p:nvPr/>
                </p:nvSpPr>
                <p:spPr bwMode="auto">
                  <a:xfrm>
                    <a:off x="2880" y="2736"/>
                    <a:ext cx="0" cy="23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algn="r"/>
                    <a:endParaRPr lang="en-GB"/>
                  </a:p>
                </p:txBody>
              </p:sp>
              <p:sp>
                <p:nvSpPr>
                  <p:cNvPr id="56" name="Line 138"/>
                  <p:cNvSpPr>
                    <a:spLocks noChangeShapeType="1"/>
                  </p:cNvSpPr>
                  <p:nvPr/>
                </p:nvSpPr>
                <p:spPr bwMode="auto">
                  <a:xfrm>
                    <a:off x="2880" y="3024"/>
                    <a:ext cx="0" cy="288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algn="r"/>
                    <a:endParaRPr lang="en-GB"/>
                  </a:p>
                </p:txBody>
              </p:sp>
              <p:sp>
                <p:nvSpPr>
                  <p:cNvPr id="57" name="Line 139"/>
                  <p:cNvSpPr>
                    <a:spLocks noChangeShapeType="1"/>
                  </p:cNvSpPr>
                  <p:nvPr/>
                </p:nvSpPr>
                <p:spPr bwMode="auto">
                  <a:xfrm>
                    <a:off x="2707" y="3024"/>
                    <a:ext cx="346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algn="r"/>
                    <a:endParaRPr lang="en-GB"/>
                  </a:p>
                </p:txBody>
              </p:sp>
            </p:grpSp>
            <p:sp>
              <p:nvSpPr>
                <p:cNvPr id="53" name="Freeform 345"/>
                <p:cNvSpPr>
                  <a:spLocks/>
                </p:cNvSpPr>
                <p:nvPr/>
              </p:nvSpPr>
              <p:spPr bwMode="auto">
                <a:xfrm>
                  <a:off x="5069" y="1930"/>
                  <a:ext cx="230" cy="576"/>
                </a:xfrm>
                <a:custGeom>
                  <a:avLst/>
                  <a:gdLst>
                    <a:gd name="T0" fmla="*/ 115 w 230"/>
                    <a:gd name="T1" fmla="*/ 0 h 576"/>
                    <a:gd name="T2" fmla="*/ 0 w 230"/>
                    <a:gd name="T3" fmla="*/ 230 h 576"/>
                    <a:gd name="T4" fmla="*/ 115 w 230"/>
                    <a:gd name="T5" fmla="*/ 576 h 576"/>
                    <a:gd name="T6" fmla="*/ 230 w 230"/>
                    <a:gd name="T7" fmla="*/ 230 h 576"/>
                    <a:gd name="T8" fmla="*/ 115 w 230"/>
                    <a:gd name="T9" fmla="*/ 0 h 57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30" h="576">
                      <a:moveTo>
                        <a:pt x="115" y="0"/>
                      </a:moveTo>
                      <a:lnTo>
                        <a:pt x="0" y="230"/>
                      </a:lnTo>
                      <a:lnTo>
                        <a:pt x="115" y="576"/>
                      </a:lnTo>
                      <a:lnTo>
                        <a:pt x="230" y="230"/>
                      </a:lnTo>
                      <a:lnTo>
                        <a:pt x="115" y="0"/>
                      </a:lnTo>
                      <a:close/>
                    </a:path>
                  </a:pathLst>
                </a:cu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r"/>
                  <a:endParaRPr lang="en-GB"/>
                </a:p>
              </p:txBody>
            </p:sp>
          </p:grpSp>
          <p:sp>
            <p:nvSpPr>
              <p:cNvPr id="51" name="Freeform 50"/>
              <p:cNvSpPr/>
              <p:nvPr/>
            </p:nvSpPr>
            <p:spPr>
              <a:xfrm>
                <a:off x="10088498" y="2797157"/>
                <a:ext cx="314960" cy="294640"/>
              </a:xfrm>
              <a:custGeom>
                <a:avLst/>
                <a:gdLst>
                  <a:gd name="connsiteX0" fmla="*/ 314960 w 314960"/>
                  <a:gd name="connsiteY0" fmla="*/ 294640 h 294640"/>
                  <a:gd name="connsiteX1" fmla="*/ 0 w 314960"/>
                  <a:gd name="connsiteY1" fmla="*/ 294640 h 294640"/>
                  <a:gd name="connsiteX2" fmla="*/ 0 w 314960"/>
                  <a:gd name="connsiteY2" fmla="*/ 0 h 2946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4960" h="294640">
                    <a:moveTo>
                      <a:pt x="314960" y="294640"/>
                    </a:moveTo>
                    <a:lnTo>
                      <a:pt x="0" y="294640"/>
                    </a:lnTo>
                    <a:lnTo>
                      <a:pt x="0" y="0"/>
                    </a:lnTo>
                  </a:path>
                </a:pathLst>
              </a:cu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124" name="Straight Connector 123"/>
              <p:cNvCxnSpPr>
                <a:stCxn id="105" idx="0"/>
                <a:endCxn id="120" idx="1"/>
              </p:cNvCxnSpPr>
              <p:nvPr/>
            </p:nvCxnSpPr>
            <p:spPr>
              <a:xfrm>
                <a:off x="10849819" y="2346449"/>
                <a:ext cx="130049" cy="11223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Straight Connector 125"/>
              <p:cNvCxnSpPr>
                <a:stCxn id="59" idx="0"/>
              </p:cNvCxnSpPr>
              <p:nvPr/>
            </p:nvCxnSpPr>
            <p:spPr>
              <a:xfrm>
                <a:off x="10752637" y="3097327"/>
                <a:ext cx="174443" cy="11633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39" name="TextBox 138"/>
          <p:cNvSpPr txBox="1"/>
          <p:nvPr/>
        </p:nvSpPr>
        <p:spPr>
          <a:xfrm>
            <a:off x="3219346" y="1640562"/>
            <a:ext cx="3960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1" dirty="0" smtClean="0">
                <a:solidFill>
                  <a:srgbClr val="00B050"/>
                </a:solidFill>
              </a:rPr>
              <a:t>×</a:t>
            </a:r>
            <a:endParaRPr lang="en-GB" sz="4000" b="1" dirty="0">
              <a:solidFill>
                <a:srgbClr val="00B050"/>
              </a:solidFill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3309594" y="3253370"/>
            <a:ext cx="3960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1" dirty="0" smtClean="0">
                <a:solidFill>
                  <a:schemeClr val="accent2"/>
                </a:solidFill>
              </a:rPr>
              <a:t>×</a:t>
            </a:r>
            <a:endParaRPr lang="en-GB" sz="4000" b="1" dirty="0">
              <a:solidFill>
                <a:schemeClr val="accent2"/>
              </a:solidFill>
            </a:endParaRPr>
          </a:p>
        </p:txBody>
      </p:sp>
      <p:sp>
        <p:nvSpPr>
          <p:cNvPr id="141" name="TextBox 140"/>
          <p:cNvSpPr txBox="1"/>
          <p:nvPr/>
        </p:nvSpPr>
        <p:spPr>
          <a:xfrm>
            <a:off x="3242424" y="4031447"/>
            <a:ext cx="3960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1" dirty="0" smtClean="0">
                <a:solidFill>
                  <a:schemeClr val="accent2"/>
                </a:solidFill>
              </a:rPr>
              <a:t>×</a:t>
            </a:r>
            <a:endParaRPr lang="en-GB" sz="4000" b="1" dirty="0">
              <a:solidFill>
                <a:schemeClr val="accent2"/>
              </a:solidFill>
            </a:endParaRPr>
          </a:p>
        </p:txBody>
      </p:sp>
      <p:sp>
        <p:nvSpPr>
          <p:cNvPr id="142" name="TextBox 141"/>
          <p:cNvSpPr txBox="1"/>
          <p:nvPr/>
        </p:nvSpPr>
        <p:spPr>
          <a:xfrm>
            <a:off x="3178706" y="2402562"/>
            <a:ext cx="3960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1" dirty="0" smtClean="0">
                <a:solidFill>
                  <a:srgbClr val="00B050"/>
                </a:solidFill>
              </a:rPr>
              <a:t>×</a:t>
            </a:r>
            <a:endParaRPr lang="en-GB" sz="4000" b="1" dirty="0">
              <a:solidFill>
                <a:srgbClr val="00B050"/>
              </a:solidFill>
            </a:endParaRPr>
          </a:p>
        </p:txBody>
      </p:sp>
      <p:sp>
        <p:nvSpPr>
          <p:cNvPr id="143" name="TextBox 142"/>
          <p:cNvSpPr txBox="1"/>
          <p:nvPr/>
        </p:nvSpPr>
        <p:spPr>
          <a:xfrm>
            <a:off x="1299158" y="4823550"/>
            <a:ext cx="2703219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2000" dirty="0" smtClean="0"/>
              <a:t>Measured at the drivers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912668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86" r="8424" b="5623"/>
          <a:stretch/>
        </p:blipFill>
        <p:spPr bwMode="auto">
          <a:xfrm>
            <a:off x="763200" y="523807"/>
            <a:ext cx="7697232" cy="4824536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67544" y="116632"/>
            <a:ext cx="8075240" cy="562074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Speaker driver characterisation</a:t>
            </a:r>
            <a:endParaRPr lang="en-GB" dirty="0"/>
          </a:p>
        </p:txBody>
      </p:sp>
      <p:grpSp>
        <p:nvGrpSpPr>
          <p:cNvPr id="59" name="Group 58"/>
          <p:cNvGrpSpPr/>
          <p:nvPr/>
        </p:nvGrpSpPr>
        <p:grpSpPr>
          <a:xfrm>
            <a:off x="4403871" y="5367041"/>
            <a:ext cx="4464684" cy="1445651"/>
            <a:chOff x="4403871" y="5367041"/>
            <a:chExt cx="4464684" cy="1445651"/>
          </a:xfrm>
        </p:grpSpPr>
        <p:grpSp>
          <p:nvGrpSpPr>
            <p:cNvPr id="57" name="Group 56"/>
            <p:cNvGrpSpPr/>
            <p:nvPr/>
          </p:nvGrpSpPr>
          <p:grpSpPr>
            <a:xfrm>
              <a:off x="4403871" y="5367041"/>
              <a:ext cx="4464684" cy="1445651"/>
              <a:chOff x="595889" y="5414953"/>
              <a:chExt cx="4464684" cy="1445651"/>
            </a:xfrm>
          </p:grpSpPr>
          <p:grpSp>
            <p:nvGrpSpPr>
              <p:cNvPr id="45" name="Group 44"/>
              <p:cNvGrpSpPr/>
              <p:nvPr/>
            </p:nvGrpSpPr>
            <p:grpSpPr>
              <a:xfrm>
                <a:off x="2672021" y="5414953"/>
                <a:ext cx="2388552" cy="1445651"/>
                <a:chOff x="756935" y="5367725"/>
                <a:chExt cx="2388552" cy="1445651"/>
              </a:xfrm>
            </p:grpSpPr>
            <p:grpSp>
              <p:nvGrpSpPr>
                <p:cNvPr id="34" name="Group 33"/>
                <p:cNvGrpSpPr/>
                <p:nvPr/>
              </p:nvGrpSpPr>
              <p:grpSpPr>
                <a:xfrm>
                  <a:off x="1475656" y="5367725"/>
                  <a:ext cx="1669831" cy="1445651"/>
                  <a:chOff x="1475656" y="5367725"/>
                  <a:chExt cx="1669831" cy="1445651"/>
                </a:xfrm>
              </p:grpSpPr>
              <p:grpSp>
                <p:nvGrpSpPr>
                  <p:cNvPr id="32" name="Group 31"/>
                  <p:cNvGrpSpPr/>
                  <p:nvPr/>
                </p:nvGrpSpPr>
                <p:grpSpPr>
                  <a:xfrm>
                    <a:off x="1691685" y="6016609"/>
                    <a:ext cx="1453802" cy="796767"/>
                    <a:chOff x="1691685" y="6016609"/>
                    <a:chExt cx="1453802" cy="796767"/>
                  </a:xfrm>
                </p:grpSpPr>
                <p:pic>
                  <p:nvPicPr>
                    <p:cNvPr id="7" name="Picture 6" descr="http://www.cksinfo.com/clipart/music/old-microphone.png"/>
                    <p:cNvPicPr/>
                    <p:nvPr/>
                  </p:nvPicPr>
                  <p:blipFill>
                    <a:blip r:embed="rId3" cstate="print">
                      <a:duotone>
                        <a:schemeClr val="accent1">
                          <a:shade val="45000"/>
                          <a:satMod val="135000"/>
                        </a:schemeClr>
                        <a:prstClr val="white"/>
                      </a:duotone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2928437" y="6268236"/>
                      <a:ext cx="217050" cy="325722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</p:pic>
                <p:grpSp>
                  <p:nvGrpSpPr>
                    <p:cNvPr id="8" name="Group 307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691685" y="6016609"/>
                      <a:ext cx="487152" cy="796767"/>
                      <a:chOff x="2514" y="547"/>
                      <a:chExt cx="286" cy="576"/>
                    </a:xfrm>
                  </p:grpSpPr>
                  <p:sp>
                    <p:nvSpPr>
                      <p:cNvPr id="9" name="Freeform 132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540" y="547"/>
                        <a:ext cx="232" cy="576"/>
                      </a:xfrm>
                      <a:custGeom>
                        <a:avLst/>
                        <a:gdLst>
                          <a:gd name="T0" fmla="*/ 232 w 232"/>
                          <a:gd name="T1" fmla="*/ 576 h 576"/>
                          <a:gd name="T2" fmla="*/ 232 w 232"/>
                          <a:gd name="T3" fmla="*/ 0 h 576"/>
                          <a:gd name="T4" fmla="*/ 116 w 232"/>
                          <a:gd name="T5" fmla="*/ 173 h 576"/>
                          <a:gd name="T6" fmla="*/ 1 w 232"/>
                          <a:gd name="T7" fmla="*/ 173 h 576"/>
                          <a:gd name="T8" fmla="*/ 1 w 232"/>
                          <a:gd name="T9" fmla="*/ 230 h 576"/>
                          <a:gd name="T10" fmla="*/ 0 w 232"/>
                          <a:gd name="T11" fmla="*/ 347 h 576"/>
                          <a:gd name="T12" fmla="*/ 1 w 232"/>
                          <a:gd name="T13" fmla="*/ 403 h 576"/>
                          <a:gd name="T14" fmla="*/ 116 w 232"/>
                          <a:gd name="T15" fmla="*/ 403 h 576"/>
                          <a:gd name="T16" fmla="*/ 232 w 232"/>
                          <a:gd name="T17" fmla="*/ 576 h 57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  <a:gd name="T24" fmla="*/ 0 60000 65536"/>
                          <a:gd name="T25" fmla="*/ 0 60000 65536"/>
                          <a:gd name="T26" fmla="*/ 0 60000 65536"/>
                        </a:gdLst>
                        <a:ahLst/>
                        <a:cxnLst>
                          <a:cxn ang="T18">
                            <a:pos x="T0" y="T1"/>
                          </a:cxn>
                          <a:cxn ang="T19">
                            <a:pos x="T2" y="T3"/>
                          </a:cxn>
                          <a:cxn ang="T20">
                            <a:pos x="T4" y="T5"/>
                          </a:cxn>
                          <a:cxn ang="T21">
                            <a:pos x="T6" y="T7"/>
                          </a:cxn>
                          <a:cxn ang="T22">
                            <a:pos x="T8" y="T9"/>
                          </a:cxn>
                          <a:cxn ang="T23">
                            <a:pos x="T10" y="T11"/>
                          </a:cxn>
                          <a:cxn ang="T24">
                            <a:pos x="T12" y="T13"/>
                          </a:cxn>
                          <a:cxn ang="T25">
                            <a:pos x="T14" y="T15"/>
                          </a:cxn>
                          <a:cxn ang="T26">
                            <a:pos x="T16" y="T17"/>
                          </a:cxn>
                        </a:cxnLst>
                        <a:rect l="0" t="0" r="r" b="b"/>
                        <a:pathLst>
                          <a:path w="232" h="576">
                            <a:moveTo>
                              <a:pt x="232" y="576"/>
                            </a:moveTo>
                            <a:lnTo>
                              <a:pt x="232" y="0"/>
                            </a:lnTo>
                            <a:lnTo>
                              <a:pt x="116" y="173"/>
                            </a:lnTo>
                            <a:lnTo>
                              <a:pt x="1" y="173"/>
                            </a:lnTo>
                            <a:lnTo>
                              <a:pt x="1" y="230"/>
                            </a:lnTo>
                            <a:lnTo>
                              <a:pt x="0" y="347"/>
                            </a:lnTo>
                            <a:lnTo>
                              <a:pt x="1" y="403"/>
                            </a:lnTo>
                            <a:lnTo>
                              <a:pt x="116" y="403"/>
                            </a:lnTo>
                            <a:lnTo>
                              <a:pt x="232" y="576"/>
                            </a:lnTo>
                            <a:close/>
                          </a:path>
                        </a:pathLst>
                      </a:custGeom>
                      <a:noFill/>
                      <a:ln w="19050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10" name="Text Box 133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2514" y="762"/>
                        <a:ext cx="286" cy="1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>
                        <a:spAutoFit/>
                      </a:bodyPr>
                      <a:lstStyle>
                        <a:lvl1pPr eaLnBrk="0" hangingPunct="0"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1pPr>
                        <a:lvl2pPr marL="742950" indent="-285750" eaLnBrk="0" hangingPunct="0"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2pPr>
                        <a:lvl3pPr marL="1143000" indent="-228600" eaLnBrk="0" hangingPunct="0"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3pPr>
                        <a:lvl4pPr marL="1600200" indent="-228600" eaLnBrk="0" hangingPunct="0"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4pPr>
                        <a:lvl5pPr marL="2057400" indent="-228600" eaLnBrk="0" hangingPunct="0"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5pPr>
                        <a:lvl6pPr marL="2514600" indent="-228600" algn="ctr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6pPr>
                        <a:lvl7pPr marL="2971800" indent="-228600" algn="ctr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7pPr>
                        <a:lvl8pPr marL="3429000" indent="-228600" algn="ctr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8pPr>
                        <a:lvl9pPr marL="3886200" indent="-228600" algn="ctr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9pPr>
                      </a:lstStyle>
                      <a:p>
                        <a:pPr algn="l" eaLnBrk="1" hangingPunct="1"/>
                        <a:r>
                          <a:rPr lang="en-US" sz="900" dirty="0" smtClean="0"/>
                          <a:t>WOF</a:t>
                        </a:r>
                        <a:endParaRPr lang="en-US" sz="900" dirty="0"/>
                      </a:p>
                    </p:txBody>
                  </p:sp>
                </p:grpSp>
                <p:cxnSp>
                  <p:nvCxnSpPr>
                    <p:cNvPr id="12" name="Straight Arrow Connector 11"/>
                    <p:cNvCxnSpPr/>
                    <p:nvPr/>
                  </p:nvCxnSpPr>
                  <p:spPr>
                    <a:xfrm flipH="1">
                      <a:off x="2152433" y="6431097"/>
                      <a:ext cx="773496" cy="0"/>
                    </a:xfrm>
                    <a:prstGeom prst="straightConnector1">
                      <a:avLst/>
                    </a:prstGeom>
                    <a:ln w="19050">
                      <a:solidFill>
                        <a:schemeClr val="tx1"/>
                      </a:solidFill>
                      <a:headEnd type="arrow"/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6" name="TextBox 15"/>
                    <p:cNvSpPr txBox="1"/>
                    <p:nvPr/>
                  </p:nvSpPr>
                  <p:spPr>
                    <a:xfrm>
                      <a:off x="2178837" y="6108058"/>
                      <a:ext cx="79311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GB" dirty="0" smtClean="0"/>
                        <a:t>0.2m</a:t>
                      </a:r>
                      <a:endParaRPr lang="en-GB" dirty="0"/>
                    </a:p>
                  </p:txBody>
                </p:sp>
              </p:grpSp>
              <p:grpSp>
                <p:nvGrpSpPr>
                  <p:cNvPr id="31" name="Group 30"/>
                  <p:cNvGrpSpPr/>
                  <p:nvPr/>
                </p:nvGrpSpPr>
                <p:grpSpPr>
                  <a:xfrm>
                    <a:off x="1795075" y="5367725"/>
                    <a:ext cx="1349854" cy="602416"/>
                    <a:chOff x="3962983" y="6230875"/>
                    <a:chExt cx="1349854" cy="602416"/>
                  </a:xfrm>
                </p:grpSpPr>
                <p:pic>
                  <p:nvPicPr>
                    <p:cNvPr id="25" name="Picture 24" descr="http://www.cksinfo.com/clipart/music/old-microphone.png"/>
                    <p:cNvPicPr/>
                    <p:nvPr/>
                  </p:nvPicPr>
                  <p:blipFill>
                    <a:blip r:embed="rId3" cstate="print">
                      <a:duotone>
                        <a:schemeClr val="accent3">
                          <a:shade val="45000"/>
                          <a:satMod val="135000"/>
                        </a:schemeClr>
                        <a:prstClr val="white"/>
                      </a:duotone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5095787" y="6368183"/>
                      <a:ext cx="217050" cy="325722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</p:pic>
                <p:grpSp>
                  <p:nvGrpSpPr>
                    <p:cNvPr id="26" name="Group 307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962983" y="6268914"/>
                      <a:ext cx="364513" cy="564377"/>
                      <a:chOff x="2527" y="715"/>
                      <a:chExt cx="214" cy="408"/>
                    </a:xfrm>
                  </p:grpSpPr>
                  <p:sp>
                    <p:nvSpPr>
                      <p:cNvPr id="27" name="Freeform 132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540" y="715"/>
                        <a:ext cx="188" cy="408"/>
                      </a:xfrm>
                      <a:custGeom>
                        <a:avLst/>
                        <a:gdLst>
                          <a:gd name="T0" fmla="*/ 232 w 232"/>
                          <a:gd name="T1" fmla="*/ 576 h 576"/>
                          <a:gd name="T2" fmla="*/ 232 w 232"/>
                          <a:gd name="T3" fmla="*/ 0 h 576"/>
                          <a:gd name="T4" fmla="*/ 116 w 232"/>
                          <a:gd name="T5" fmla="*/ 173 h 576"/>
                          <a:gd name="T6" fmla="*/ 1 w 232"/>
                          <a:gd name="T7" fmla="*/ 173 h 576"/>
                          <a:gd name="T8" fmla="*/ 1 w 232"/>
                          <a:gd name="T9" fmla="*/ 230 h 576"/>
                          <a:gd name="T10" fmla="*/ 0 w 232"/>
                          <a:gd name="T11" fmla="*/ 347 h 576"/>
                          <a:gd name="T12" fmla="*/ 1 w 232"/>
                          <a:gd name="T13" fmla="*/ 403 h 576"/>
                          <a:gd name="T14" fmla="*/ 116 w 232"/>
                          <a:gd name="T15" fmla="*/ 403 h 576"/>
                          <a:gd name="T16" fmla="*/ 232 w 232"/>
                          <a:gd name="T17" fmla="*/ 576 h 57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  <a:gd name="T24" fmla="*/ 0 60000 65536"/>
                          <a:gd name="T25" fmla="*/ 0 60000 65536"/>
                          <a:gd name="T26" fmla="*/ 0 60000 65536"/>
                        </a:gdLst>
                        <a:ahLst/>
                        <a:cxnLst>
                          <a:cxn ang="T18">
                            <a:pos x="T0" y="T1"/>
                          </a:cxn>
                          <a:cxn ang="T19">
                            <a:pos x="T2" y="T3"/>
                          </a:cxn>
                          <a:cxn ang="T20">
                            <a:pos x="T4" y="T5"/>
                          </a:cxn>
                          <a:cxn ang="T21">
                            <a:pos x="T6" y="T7"/>
                          </a:cxn>
                          <a:cxn ang="T22">
                            <a:pos x="T8" y="T9"/>
                          </a:cxn>
                          <a:cxn ang="T23">
                            <a:pos x="T10" y="T11"/>
                          </a:cxn>
                          <a:cxn ang="T24">
                            <a:pos x="T12" y="T13"/>
                          </a:cxn>
                          <a:cxn ang="T25">
                            <a:pos x="T14" y="T15"/>
                          </a:cxn>
                          <a:cxn ang="T26">
                            <a:pos x="T16" y="T17"/>
                          </a:cxn>
                        </a:cxnLst>
                        <a:rect l="0" t="0" r="r" b="b"/>
                        <a:pathLst>
                          <a:path w="232" h="576">
                            <a:moveTo>
                              <a:pt x="232" y="576"/>
                            </a:moveTo>
                            <a:lnTo>
                              <a:pt x="232" y="0"/>
                            </a:lnTo>
                            <a:lnTo>
                              <a:pt x="116" y="173"/>
                            </a:lnTo>
                            <a:lnTo>
                              <a:pt x="1" y="173"/>
                            </a:lnTo>
                            <a:lnTo>
                              <a:pt x="1" y="230"/>
                            </a:lnTo>
                            <a:lnTo>
                              <a:pt x="0" y="347"/>
                            </a:lnTo>
                            <a:lnTo>
                              <a:pt x="1" y="403"/>
                            </a:lnTo>
                            <a:lnTo>
                              <a:pt x="116" y="403"/>
                            </a:lnTo>
                            <a:lnTo>
                              <a:pt x="232" y="576"/>
                            </a:lnTo>
                            <a:close/>
                          </a:path>
                        </a:pathLst>
                      </a:custGeom>
                      <a:noFill/>
                      <a:ln w="19050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28" name="Text Box 133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2527" y="821"/>
                        <a:ext cx="214" cy="1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>
                        <a:spAutoFit/>
                      </a:bodyPr>
                      <a:lstStyle>
                        <a:lvl1pPr eaLnBrk="0" hangingPunct="0"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1pPr>
                        <a:lvl2pPr marL="742950" indent="-285750" eaLnBrk="0" hangingPunct="0"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2pPr>
                        <a:lvl3pPr marL="1143000" indent="-228600" eaLnBrk="0" hangingPunct="0"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3pPr>
                        <a:lvl4pPr marL="1600200" indent="-228600" eaLnBrk="0" hangingPunct="0"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4pPr>
                        <a:lvl5pPr marL="2057400" indent="-228600" eaLnBrk="0" hangingPunct="0"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5pPr>
                        <a:lvl6pPr marL="2514600" indent="-228600" algn="ctr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6pPr>
                        <a:lvl7pPr marL="2971800" indent="-228600" algn="ctr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7pPr>
                        <a:lvl8pPr marL="3429000" indent="-228600" algn="ctr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8pPr>
                        <a:lvl9pPr marL="3886200" indent="-228600" algn="ctr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9pPr>
                      </a:lstStyle>
                      <a:p>
                        <a:pPr algn="l" eaLnBrk="1" hangingPunct="1"/>
                        <a:r>
                          <a:rPr lang="en-US" sz="900" dirty="0" smtClean="0"/>
                          <a:t>TW</a:t>
                        </a:r>
                        <a:endParaRPr lang="en-US" sz="900" dirty="0"/>
                      </a:p>
                    </p:txBody>
                  </p:sp>
                </p:grpSp>
                <p:cxnSp>
                  <p:nvCxnSpPr>
                    <p:cNvPr id="29" name="Straight Arrow Connector 28"/>
                    <p:cNvCxnSpPr/>
                    <p:nvPr/>
                  </p:nvCxnSpPr>
                  <p:spPr>
                    <a:xfrm flipH="1">
                      <a:off x="4305352" y="6531044"/>
                      <a:ext cx="773496" cy="0"/>
                    </a:xfrm>
                    <a:prstGeom prst="straightConnector1">
                      <a:avLst/>
                    </a:prstGeom>
                    <a:ln w="19050">
                      <a:solidFill>
                        <a:schemeClr val="tx1"/>
                      </a:solidFill>
                      <a:headEnd type="arrow"/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30" name="TextBox 29"/>
                    <p:cNvSpPr txBox="1"/>
                    <p:nvPr/>
                  </p:nvSpPr>
                  <p:spPr>
                    <a:xfrm>
                      <a:off x="4394021" y="6230875"/>
                      <a:ext cx="698562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GB" dirty="0" smtClean="0"/>
                        <a:t>0.2m</a:t>
                      </a:r>
                      <a:endParaRPr lang="en-GB" dirty="0"/>
                    </a:p>
                  </p:txBody>
                </p:sp>
              </p:grpSp>
              <p:sp>
                <p:nvSpPr>
                  <p:cNvPr id="33" name="Rectangle 32"/>
                  <p:cNvSpPr/>
                  <p:nvPr/>
                </p:nvSpPr>
                <p:spPr>
                  <a:xfrm>
                    <a:off x="1475656" y="5405764"/>
                    <a:ext cx="655488" cy="1407612"/>
                  </a:xfrm>
                  <a:prstGeom prst="rect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  <p:sp>
              <p:nvSpPr>
                <p:cNvPr id="35" name="Isosceles Triangle 34"/>
                <p:cNvSpPr/>
                <p:nvPr/>
              </p:nvSpPr>
              <p:spPr>
                <a:xfrm rot="5400000">
                  <a:off x="739552" y="5453770"/>
                  <a:ext cx="463013" cy="428247"/>
                </a:xfrm>
                <a:prstGeom prst="triangl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vert="vert270" rtlCol="0" anchor="ctr"/>
                <a:lstStyle/>
                <a:p>
                  <a:pPr algn="ctr"/>
                  <a:r>
                    <a:rPr lang="en-GB" dirty="0" smtClean="0"/>
                    <a:t>L</a:t>
                  </a:r>
                  <a:endParaRPr lang="en-GB" dirty="0"/>
                </a:p>
              </p:txBody>
            </p:sp>
            <p:cxnSp>
              <p:nvCxnSpPr>
                <p:cNvPr id="38" name="Straight Connector 37"/>
                <p:cNvCxnSpPr>
                  <a:stCxn id="35" idx="0"/>
                  <a:endCxn id="28" idx="1"/>
                </p:cNvCxnSpPr>
                <p:nvPr/>
              </p:nvCxnSpPr>
              <p:spPr>
                <a:xfrm>
                  <a:off x="1185182" y="5667894"/>
                  <a:ext cx="609893" cy="1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/>
                <p:cNvCxnSpPr>
                  <a:endCxn id="10" idx="1"/>
                </p:cNvCxnSpPr>
                <p:nvPr/>
              </p:nvCxnSpPr>
              <p:spPr>
                <a:xfrm>
                  <a:off x="1186852" y="6412910"/>
                  <a:ext cx="504833" cy="1391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6" name="Rectangle 45"/>
              <p:cNvSpPr/>
              <p:nvPr/>
            </p:nvSpPr>
            <p:spPr>
              <a:xfrm>
                <a:off x="1691680" y="5483615"/>
                <a:ext cx="792088" cy="1208029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 smtClean="0"/>
                  <a:t>Digital cross-over</a:t>
                </a:r>
                <a:endParaRPr lang="en-GB" dirty="0"/>
              </a:p>
            </p:txBody>
          </p:sp>
          <p:cxnSp>
            <p:nvCxnSpPr>
              <p:cNvPr id="48" name="Straight Connector 47"/>
              <p:cNvCxnSpPr>
                <a:stCxn id="35" idx="3"/>
              </p:cNvCxnSpPr>
              <p:nvPr/>
            </p:nvCxnSpPr>
            <p:spPr>
              <a:xfrm flipH="1" flipV="1">
                <a:off x="2483768" y="5715121"/>
                <a:ext cx="188253" cy="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>
              <a:xfrm flipH="1" flipV="1">
                <a:off x="2483768" y="6460137"/>
                <a:ext cx="189923" cy="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/>
              <p:cNvCxnSpPr>
                <a:endCxn id="46" idx="1"/>
              </p:cNvCxnSpPr>
              <p:nvPr/>
            </p:nvCxnSpPr>
            <p:spPr>
              <a:xfrm>
                <a:off x="1115616" y="6087630"/>
                <a:ext cx="576064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" name="TextBox 55"/>
              <p:cNvSpPr txBox="1"/>
              <p:nvPr/>
            </p:nvSpPr>
            <p:spPr>
              <a:xfrm>
                <a:off x="595889" y="5859299"/>
                <a:ext cx="5760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 smtClean="0">
                    <a:latin typeface="Cambria Math" pitchFamily="18" charset="0"/>
                    <a:ea typeface="Cambria Math" pitchFamily="18" charset="0"/>
                  </a:rPr>
                  <a:t>x(t)</a:t>
                </a:r>
                <a:endParaRPr lang="en-GB" dirty="0">
                  <a:latin typeface="Cambria Math" pitchFamily="18" charset="0"/>
                  <a:ea typeface="Cambria Math" pitchFamily="18" charset="0"/>
                </a:endParaRPr>
              </a:p>
            </p:txBody>
          </p:sp>
        </p:grpSp>
        <p:sp>
          <p:nvSpPr>
            <p:cNvPr id="58" name="Isosceles Triangle 57"/>
            <p:cNvSpPr/>
            <p:nvPr/>
          </p:nvSpPr>
          <p:spPr>
            <a:xfrm rot="5400000">
              <a:off x="6464290" y="6198101"/>
              <a:ext cx="463013" cy="428247"/>
            </a:xfrm>
            <a:prstGeom prst="triangl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270" rtlCol="0" anchor="ctr"/>
            <a:lstStyle/>
            <a:p>
              <a:pPr algn="ctr"/>
              <a:r>
                <a:rPr lang="en-GB" dirty="0"/>
                <a:t>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92926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66112" y="-99392"/>
            <a:ext cx="8229600" cy="836712"/>
          </a:xfrm>
        </p:spPr>
        <p:txBody>
          <a:bodyPr/>
          <a:lstStyle/>
          <a:p>
            <a:r>
              <a:rPr lang="en-GB" dirty="0" smtClean="0"/>
              <a:t>Loudspeaker response</a:t>
            </a:r>
            <a:endParaRPr lang="en-GB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21" t="2235" r="7796" b="10757"/>
          <a:stretch/>
        </p:blipFill>
        <p:spPr bwMode="auto">
          <a:xfrm>
            <a:off x="179512" y="908720"/>
            <a:ext cx="8659743" cy="43265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34" name="Group 33"/>
          <p:cNvGrpSpPr/>
          <p:nvPr/>
        </p:nvGrpSpPr>
        <p:grpSpPr>
          <a:xfrm>
            <a:off x="4403871" y="5367041"/>
            <a:ext cx="4464126" cy="1445651"/>
            <a:chOff x="4403871" y="5367041"/>
            <a:chExt cx="4464126" cy="1445651"/>
          </a:xfrm>
        </p:grpSpPr>
        <p:grpSp>
          <p:nvGrpSpPr>
            <p:cNvPr id="35" name="Group 34"/>
            <p:cNvGrpSpPr/>
            <p:nvPr/>
          </p:nvGrpSpPr>
          <p:grpSpPr>
            <a:xfrm>
              <a:off x="4403871" y="5367041"/>
              <a:ext cx="4464126" cy="1445651"/>
              <a:chOff x="595889" y="5414953"/>
              <a:chExt cx="4464126" cy="1445651"/>
            </a:xfrm>
          </p:grpSpPr>
          <p:grpSp>
            <p:nvGrpSpPr>
              <p:cNvPr id="37" name="Group 36"/>
              <p:cNvGrpSpPr/>
              <p:nvPr/>
            </p:nvGrpSpPr>
            <p:grpSpPr>
              <a:xfrm>
                <a:off x="2672021" y="5414953"/>
                <a:ext cx="2387994" cy="1445651"/>
                <a:chOff x="756935" y="5367725"/>
                <a:chExt cx="2387994" cy="1445651"/>
              </a:xfrm>
            </p:grpSpPr>
            <p:grpSp>
              <p:nvGrpSpPr>
                <p:cNvPr id="43" name="Group 42"/>
                <p:cNvGrpSpPr/>
                <p:nvPr/>
              </p:nvGrpSpPr>
              <p:grpSpPr>
                <a:xfrm>
                  <a:off x="1475656" y="5367725"/>
                  <a:ext cx="1669273" cy="1445651"/>
                  <a:chOff x="1475656" y="5367725"/>
                  <a:chExt cx="1669273" cy="1445651"/>
                </a:xfrm>
              </p:grpSpPr>
              <p:grpSp>
                <p:nvGrpSpPr>
                  <p:cNvPr id="57" name="Group 307"/>
                  <p:cNvGrpSpPr>
                    <a:grpSpLocks/>
                  </p:cNvGrpSpPr>
                  <p:nvPr/>
                </p:nvGrpSpPr>
                <p:grpSpPr bwMode="auto">
                  <a:xfrm>
                    <a:off x="1691685" y="6016609"/>
                    <a:ext cx="487152" cy="796767"/>
                    <a:chOff x="2514" y="547"/>
                    <a:chExt cx="286" cy="576"/>
                  </a:xfrm>
                </p:grpSpPr>
                <p:sp>
                  <p:nvSpPr>
                    <p:cNvPr id="60" name="Freeform 132"/>
                    <p:cNvSpPr>
                      <a:spLocks/>
                    </p:cNvSpPr>
                    <p:nvPr/>
                  </p:nvSpPr>
                  <p:spPr bwMode="auto">
                    <a:xfrm>
                      <a:off x="2540" y="547"/>
                      <a:ext cx="232" cy="576"/>
                    </a:xfrm>
                    <a:custGeom>
                      <a:avLst/>
                      <a:gdLst>
                        <a:gd name="T0" fmla="*/ 232 w 232"/>
                        <a:gd name="T1" fmla="*/ 576 h 576"/>
                        <a:gd name="T2" fmla="*/ 232 w 232"/>
                        <a:gd name="T3" fmla="*/ 0 h 576"/>
                        <a:gd name="T4" fmla="*/ 116 w 232"/>
                        <a:gd name="T5" fmla="*/ 173 h 576"/>
                        <a:gd name="T6" fmla="*/ 1 w 232"/>
                        <a:gd name="T7" fmla="*/ 173 h 576"/>
                        <a:gd name="T8" fmla="*/ 1 w 232"/>
                        <a:gd name="T9" fmla="*/ 230 h 576"/>
                        <a:gd name="T10" fmla="*/ 0 w 232"/>
                        <a:gd name="T11" fmla="*/ 347 h 576"/>
                        <a:gd name="T12" fmla="*/ 1 w 232"/>
                        <a:gd name="T13" fmla="*/ 403 h 576"/>
                        <a:gd name="T14" fmla="*/ 116 w 232"/>
                        <a:gd name="T15" fmla="*/ 403 h 576"/>
                        <a:gd name="T16" fmla="*/ 232 w 232"/>
                        <a:gd name="T17" fmla="*/ 576 h 57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  <a:gd name="T24" fmla="*/ 0 60000 65536"/>
                        <a:gd name="T25" fmla="*/ 0 60000 65536"/>
                        <a:gd name="T26" fmla="*/ 0 60000 65536"/>
                      </a:gdLst>
                      <a:ahLst/>
                      <a:cxnLst>
                        <a:cxn ang="T18">
                          <a:pos x="T0" y="T1"/>
                        </a:cxn>
                        <a:cxn ang="T19">
                          <a:pos x="T2" y="T3"/>
                        </a:cxn>
                        <a:cxn ang="T20">
                          <a:pos x="T4" y="T5"/>
                        </a:cxn>
                        <a:cxn ang="T21">
                          <a:pos x="T6" y="T7"/>
                        </a:cxn>
                        <a:cxn ang="T22">
                          <a:pos x="T8" y="T9"/>
                        </a:cxn>
                        <a:cxn ang="T23">
                          <a:pos x="T10" y="T11"/>
                        </a:cxn>
                        <a:cxn ang="T24">
                          <a:pos x="T12" y="T13"/>
                        </a:cxn>
                        <a:cxn ang="T25">
                          <a:pos x="T14" y="T15"/>
                        </a:cxn>
                        <a:cxn ang="T26">
                          <a:pos x="T16" y="T17"/>
                        </a:cxn>
                      </a:cxnLst>
                      <a:rect l="0" t="0" r="r" b="b"/>
                      <a:pathLst>
                        <a:path w="232" h="576">
                          <a:moveTo>
                            <a:pt x="232" y="576"/>
                          </a:moveTo>
                          <a:lnTo>
                            <a:pt x="232" y="0"/>
                          </a:lnTo>
                          <a:lnTo>
                            <a:pt x="116" y="173"/>
                          </a:lnTo>
                          <a:lnTo>
                            <a:pt x="1" y="173"/>
                          </a:lnTo>
                          <a:lnTo>
                            <a:pt x="1" y="230"/>
                          </a:lnTo>
                          <a:lnTo>
                            <a:pt x="0" y="347"/>
                          </a:lnTo>
                          <a:lnTo>
                            <a:pt x="1" y="403"/>
                          </a:lnTo>
                          <a:lnTo>
                            <a:pt x="116" y="403"/>
                          </a:lnTo>
                          <a:lnTo>
                            <a:pt x="232" y="576"/>
                          </a:lnTo>
                          <a:close/>
                        </a:path>
                      </a:pathLst>
                    </a:custGeom>
                    <a:noFill/>
                    <a:ln w="19050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61" name="Text Box 133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514" y="762"/>
                      <a:ext cx="286" cy="14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905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algn="l" eaLnBrk="1" hangingPunct="1"/>
                      <a:r>
                        <a:rPr lang="en-US" sz="900" dirty="0" smtClean="0"/>
                        <a:t>WOF</a:t>
                      </a:r>
                      <a:endParaRPr lang="en-US" sz="900" dirty="0"/>
                    </a:p>
                  </p:txBody>
                </p:sp>
              </p:grpSp>
              <p:grpSp>
                <p:nvGrpSpPr>
                  <p:cNvPr id="48" name="Group 47"/>
                  <p:cNvGrpSpPr/>
                  <p:nvPr/>
                </p:nvGrpSpPr>
                <p:grpSpPr>
                  <a:xfrm>
                    <a:off x="1795075" y="5367725"/>
                    <a:ext cx="1349854" cy="602416"/>
                    <a:chOff x="3962983" y="6230875"/>
                    <a:chExt cx="1349854" cy="602416"/>
                  </a:xfrm>
                </p:grpSpPr>
                <p:pic>
                  <p:nvPicPr>
                    <p:cNvPr id="50" name="Picture 49" descr="http://www.cksinfo.com/clipart/music/old-microphone.png"/>
                    <p:cNvPicPr/>
                    <p:nvPr/>
                  </p:nvPicPr>
                  <p:blipFill>
                    <a:blip r:embed="rId3" cstate="print">
                      <a:duotone>
                        <a:schemeClr val="accent3">
                          <a:shade val="45000"/>
                          <a:satMod val="135000"/>
                        </a:schemeClr>
                        <a:prstClr val="white"/>
                      </a:duotone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5095787" y="6368183"/>
                      <a:ext cx="217050" cy="325722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</p:pic>
                <p:grpSp>
                  <p:nvGrpSpPr>
                    <p:cNvPr id="51" name="Group 307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962983" y="6268914"/>
                      <a:ext cx="364513" cy="564377"/>
                      <a:chOff x="2527" y="715"/>
                      <a:chExt cx="214" cy="408"/>
                    </a:xfrm>
                  </p:grpSpPr>
                  <p:sp>
                    <p:nvSpPr>
                      <p:cNvPr id="54" name="Freeform 132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540" y="715"/>
                        <a:ext cx="188" cy="408"/>
                      </a:xfrm>
                      <a:custGeom>
                        <a:avLst/>
                        <a:gdLst>
                          <a:gd name="T0" fmla="*/ 232 w 232"/>
                          <a:gd name="T1" fmla="*/ 576 h 576"/>
                          <a:gd name="T2" fmla="*/ 232 w 232"/>
                          <a:gd name="T3" fmla="*/ 0 h 576"/>
                          <a:gd name="T4" fmla="*/ 116 w 232"/>
                          <a:gd name="T5" fmla="*/ 173 h 576"/>
                          <a:gd name="T6" fmla="*/ 1 w 232"/>
                          <a:gd name="T7" fmla="*/ 173 h 576"/>
                          <a:gd name="T8" fmla="*/ 1 w 232"/>
                          <a:gd name="T9" fmla="*/ 230 h 576"/>
                          <a:gd name="T10" fmla="*/ 0 w 232"/>
                          <a:gd name="T11" fmla="*/ 347 h 576"/>
                          <a:gd name="T12" fmla="*/ 1 w 232"/>
                          <a:gd name="T13" fmla="*/ 403 h 576"/>
                          <a:gd name="T14" fmla="*/ 116 w 232"/>
                          <a:gd name="T15" fmla="*/ 403 h 576"/>
                          <a:gd name="T16" fmla="*/ 232 w 232"/>
                          <a:gd name="T17" fmla="*/ 576 h 57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  <a:gd name="T24" fmla="*/ 0 60000 65536"/>
                          <a:gd name="T25" fmla="*/ 0 60000 65536"/>
                          <a:gd name="T26" fmla="*/ 0 60000 65536"/>
                        </a:gdLst>
                        <a:ahLst/>
                        <a:cxnLst>
                          <a:cxn ang="T18">
                            <a:pos x="T0" y="T1"/>
                          </a:cxn>
                          <a:cxn ang="T19">
                            <a:pos x="T2" y="T3"/>
                          </a:cxn>
                          <a:cxn ang="T20">
                            <a:pos x="T4" y="T5"/>
                          </a:cxn>
                          <a:cxn ang="T21">
                            <a:pos x="T6" y="T7"/>
                          </a:cxn>
                          <a:cxn ang="T22">
                            <a:pos x="T8" y="T9"/>
                          </a:cxn>
                          <a:cxn ang="T23">
                            <a:pos x="T10" y="T11"/>
                          </a:cxn>
                          <a:cxn ang="T24">
                            <a:pos x="T12" y="T13"/>
                          </a:cxn>
                          <a:cxn ang="T25">
                            <a:pos x="T14" y="T15"/>
                          </a:cxn>
                          <a:cxn ang="T26">
                            <a:pos x="T16" y="T17"/>
                          </a:cxn>
                        </a:cxnLst>
                        <a:rect l="0" t="0" r="r" b="b"/>
                        <a:pathLst>
                          <a:path w="232" h="576">
                            <a:moveTo>
                              <a:pt x="232" y="576"/>
                            </a:moveTo>
                            <a:lnTo>
                              <a:pt x="232" y="0"/>
                            </a:lnTo>
                            <a:lnTo>
                              <a:pt x="116" y="173"/>
                            </a:lnTo>
                            <a:lnTo>
                              <a:pt x="1" y="173"/>
                            </a:lnTo>
                            <a:lnTo>
                              <a:pt x="1" y="230"/>
                            </a:lnTo>
                            <a:lnTo>
                              <a:pt x="0" y="347"/>
                            </a:lnTo>
                            <a:lnTo>
                              <a:pt x="1" y="403"/>
                            </a:lnTo>
                            <a:lnTo>
                              <a:pt x="116" y="403"/>
                            </a:lnTo>
                            <a:lnTo>
                              <a:pt x="232" y="576"/>
                            </a:lnTo>
                            <a:close/>
                          </a:path>
                        </a:pathLst>
                      </a:custGeom>
                      <a:noFill/>
                      <a:ln w="19050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55" name="Text Box 133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2527" y="821"/>
                        <a:ext cx="214" cy="1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>
                        <a:spAutoFit/>
                      </a:bodyPr>
                      <a:lstStyle>
                        <a:lvl1pPr eaLnBrk="0" hangingPunct="0"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1pPr>
                        <a:lvl2pPr marL="742950" indent="-285750" eaLnBrk="0" hangingPunct="0"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2pPr>
                        <a:lvl3pPr marL="1143000" indent="-228600" eaLnBrk="0" hangingPunct="0"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3pPr>
                        <a:lvl4pPr marL="1600200" indent="-228600" eaLnBrk="0" hangingPunct="0"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4pPr>
                        <a:lvl5pPr marL="2057400" indent="-228600" eaLnBrk="0" hangingPunct="0"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5pPr>
                        <a:lvl6pPr marL="2514600" indent="-228600" algn="ctr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6pPr>
                        <a:lvl7pPr marL="2971800" indent="-228600" algn="ctr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7pPr>
                        <a:lvl8pPr marL="3429000" indent="-228600" algn="ctr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8pPr>
                        <a:lvl9pPr marL="3886200" indent="-228600" algn="ctr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9pPr>
                      </a:lstStyle>
                      <a:p>
                        <a:pPr algn="l" eaLnBrk="1" hangingPunct="1"/>
                        <a:r>
                          <a:rPr lang="en-US" sz="900" dirty="0" smtClean="0"/>
                          <a:t>TW</a:t>
                        </a:r>
                        <a:endParaRPr lang="en-US" sz="900" dirty="0"/>
                      </a:p>
                    </p:txBody>
                  </p:sp>
                </p:grpSp>
                <p:cxnSp>
                  <p:nvCxnSpPr>
                    <p:cNvPr id="52" name="Straight Arrow Connector 51"/>
                    <p:cNvCxnSpPr/>
                    <p:nvPr/>
                  </p:nvCxnSpPr>
                  <p:spPr>
                    <a:xfrm flipH="1">
                      <a:off x="4305352" y="6531044"/>
                      <a:ext cx="773496" cy="0"/>
                    </a:xfrm>
                    <a:prstGeom prst="straightConnector1">
                      <a:avLst/>
                    </a:prstGeom>
                    <a:ln w="19050">
                      <a:solidFill>
                        <a:schemeClr val="tx1"/>
                      </a:solidFill>
                      <a:headEnd type="arrow"/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53" name="TextBox 52"/>
                    <p:cNvSpPr txBox="1"/>
                    <p:nvPr/>
                  </p:nvSpPr>
                  <p:spPr>
                    <a:xfrm>
                      <a:off x="4394021" y="6230875"/>
                      <a:ext cx="698562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GB" dirty="0" smtClean="0"/>
                        <a:t>1m</a:t>
                      </a:r>
                      <a:endParaRPr lang="en-GB" dirty="0"/>
                    </a:p>
                  </p:txBody>
                </p:sp>
              </p:grpSp>
              <p:sp>
                <p:nvSpPr>
                  <p:cNvPr id="49" name="Rectangle 48"/>
                  <p:cNvSpPr/>
                  <p:nvPr/>
                </p:nvSpPr>
                <p:spPr>
                  <a:xfrm>
                    <a:off x="1475656" y="5405764"/>
                    <a:ext cx="655488" cy="1407612"/>
                  </a:xfrm>
                  <a:prstGeom prst="rect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  <p:sp>
              <p:nvSpPr>
                <p:cNvPr id="44" name="Isosceles Triangle 43"/>
                <p:cNvSpPr/>
                <p:nvPr/>
              </p:nvSpPr>
              <p:spPr>
                <a:xfrm rot="5400000">
                  <a:off x="739552" y="5453770"/>
                  <a:ext cx="463013" cy="428247"/>
                </a:xfrm>
                <a:prstGeom prst="triangl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vert="vert270" rtlCol="0" anchor="ctr"/>
                <a:lstStyle/>
                <a:p>
                  <a:pPr algn="ctr"/>
                  <a:r>
                    <a:rPr lang="en-GB" dirty="0" smtClean="0"/>
                    <a:t>L</a:t>
                  </a:r>
                  <a:endParaRPr lang="en-GB" dirty="0"/>
                </a:p>
              </p:txBody>
            </p:sp>
            <p:cxnSp>
              <p:nvCxnSpPr>
                <p:cNvPr id="45" name="Straight Connector 44"/>
                <p:cNvCxnSpPr>
                  <a:stCxn id="44" idx="0"/>
                  <a:endCxn id="55" idx="1"/>
                </p:cNvCxnSpPr>
                <p:nvPr/>
              </p:nvCxnSpPr>
              <p:spPr>
                <a:xfrm>
                  <a:off x="1185182" y="5667894"/>
                  <a:ext cx="609893" cy="1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/>
                <p:cNvCxnSpPr>
                  <a:endCxn id="61" idx="1"/>
                </p:cNvCxnSpPr>
                <p:nvPr/>
              </p:nvCxnSpPr>
              <p:spPr>
                <a:xfrm>
                  <a:off x="1186852" y="6412910"/>
                  <a:ext cx="504833" cy="1391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8" name="Rectangle 37"/>
              <p:cNvSpPr/>
              <p:nvPr/>
            </p:nvSpPr>
            <p:spPr>
              <a:xfrm>
                <a:off x="1691680" y="5483615"/>
                <a:ext cx="792088" cy="1208029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 smtClean="0"/>
                  <a:t>Digital cross-over</a:t>
                </a:r>
                <a:endParaRPr lang="en-GB" dirty="0"/>
              </a:p>
            </p:txBody>
          </p:sp>
          <p:cxnSp>
            <p:nvCxnSpPr>
              <p:cNvPr id="39" name="Straight Connector 38"/>
              <p:cNvCxnSpPr>
                <a:stCxn id="44" idx="3"/>
              </p:cNvCxnSpPr>
              <p:nvPr/>
            </p:nvCxnSpPr>
            <p:spPr>
              <a:xfrm flipH="1" flipV="1">
                <a:off x="2483768" y="5715121"/>
                <a:ext cx="188253" cy="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/>
              <p:cNvCxnSpPr/>
              <p:nvPr/>
            </p:nvCxnSpPr>
            <p:spPr>
              <a:xfrm flipH="1" flipV="1">
                <a:off x="2483768" y="6460137"/>
                <a:ext cx="189923" cy="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Arrow Connector 40"/>
              <p:cNvCxnSpPr>
                <a:endCxn id="38" idx="1"/>
              </p:cNvCxnSpPr>
              <p:nvPr/>
            </p:nvCxnSpPr>
            <p:spPr>
              <a:xfrm>
                <a:off x="1115616" y="6087630"/>
                <a:ext cx="576064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TextBox 41"/>
              <p:cNvSpPr txBox="1"/>
              <p:nvPr/>
            </p:nvSpPr>
            <p:spPr>
              <a:xfrm>
                <a:off x="595889" y="5859299"/>
                <a:ext cx="5760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 smtClean="0">
                    <a:latin typeface="Cambria Math" pitchFamily="18" charset="0"/>
                    <a:ea typeface="Cambria Math" pitchFamily="18" charset="0"/>
                  </a:rPr>
                  <a:t>x(t)</a:t>
                </a:r>
                <a:endParaRPr lang="en-GB" dirty="0">
                  <a:latin typeface="Cambria Math" pitchFamily="18" charset="0"/>
                  <a:ea typeface="Cambria Math" pitchFamily="18" charset="0"/>
                </a:endParaRPr>
              </a:p>
            </p:txBody>
          </p:sp>
        </p:grpSp>
        <p:sp>
          <p:nvSpPr>
            <p:cNvPr id="36" name="Isosceles Triangle 35"/>
            <p:cNvSpPr/>
            <p:nvPr/>
          </p:nvSpPr>
          <p:spPr>
            <a:xfrm rot="5400000">
              <a:off x="6464290" y="6198101"/>
              <a:ext cx="463013" cy="428247"/>
            </a:xfrm>
            <a:prstGeom prst="triangl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270" rtlCol="0" anchor="ctr"/>
            <a:lstStyle/>
            <a:p>
              <a:pPr algn="ctr"/>
              <a:r>
                <a:rPr lang="en-GB" dirty="0"/>
                <a:t>R</a:t>
              </a:r>
            </a:p>
          </p:txBody>
        </p:sp>
      </p:grpSp>
      <p:grpSp>
        <p:nvGrpSpPr>
          <p:cNvPr id="1025" name="Group 1024"/>
          <p:cNvGrpSpPr/>
          <p:nvPr/>
        </p:nvGrpSpPr>
        <p:grpSpPr>
          <a:xfrm>
            <a:off x="484238" y="5318134"/>
            <a:ext cx="3758241" cy="1445651"/>
            <a:chOff x="704492" y="5356345"/>
            <a:chExt cx="3758241" cy="1445651"/>
          </a:xfrm>
        </p:grpSpPr>
        <p:grpSp>
          <p:nvGrpSpPr>
            <p:cNvPr id="65" name="Group 64"/>
            <p:cNvGrpSpPr/>
            <p:nvPr/>
          </p:nvGrpSpPr>
          <p:grpSpPr>
            <a:xfrm>
              <a:off x="1467377" y="5356345"/>
              <a:ext cx="2995356" cy="1445651"/>
              <a:chOff x="149573" y="5367725"/>
              <a:chExt cx="2995356" cy="1445651"/>
            </a:xfrm>
          </p:grpSpPr>
          <p:grpSp>
            <p:nvGrpSpPr>
              <p:cNvPr id="71" name="Group 70"/>
              <p:cNvGrpSpPr/>
              <p:nvPr/>
            </p:nvGrpSpPr>
            <p:grpSpPr>
              <a:xfrm>
                <a:off x="927631" y="5367725"/>
                <a:ext cx="2217298" cy="1445651"/>
                <a:chOff x="927631" y="5367725"/>
                <a:chExt cx="2217298" cy="1445651"/>
              </a:xfrm>
            </p:grpSpPr>
            <p:grpSp>
              <p:nvGrpSpPr>
                <p:cNvPr id="75" name="Group 307"/>
                <p:cNvGrpSpPr>
                  <a:grpSpLocks/>
                </p:cNvGrpSpPr>
                <p:nvPr/>
              </p:nvGrpSpPr>
              <p:grpSpPr bwMode="auto">
                <a:xfrm>
                  <a:off x="1691685" y="6016609"/>
                  <a:ext cx="487152" cy="796767"/>
                  <a:chOff x="2514" y="547"/>
                  <a:chExt cx="286" cy="576"/>
                </a:xfrm>
              </p:grpSpPr>
              <p:sp>
                <p:nvSpPr>
                  <p:cNvPr id="84" name="Freeform 132"/>
                  <p:cNvSpPr>
                    <a:spLocks/>
                  </p:cNvSpPr>
                  <p:nvPr/>
                </p:nvSpPr>
                <p:spPr bwMode="auto">
                  <a:xfrm>
                    <a:off x="2540" y="547"/>
                    <a:ext cx="232" cy="576"/>
                  </a:xfrm>
                  <a:custGeom>
                    <a:avLst/>
                    <a:gdLst>
                      <a:gd name="T0" fmla="*/ 232 w 232"/>
                      <a:gd name="T1" fmla="*/ 576 h 576"/>
                      <a:gd name="T2" fmla="*/ 232 w 232"/>
                      <a:gd name="T3" fmla="*/ 0 h 576"/>
                      <a:gd name="T4" fmla="*/ 116 w 232"/>
                      <a:gd name="T5" fmla="*/ 173 h 576"/>
                      <a:gd name="T6" fmla="*/ 1 w 232"/>
                      <a:gd name="T7" fmla="*/ 173 h 576"/>
                      <a:gd name="T8" fmla="*/ 1 w 232"/>
                      <a:gd name="T9" fmla="*/ 230 h 576"/>
                      <a:gd name="T10" fmla="*/ 0 w 232"/>
                      <a:gd name="T11" fmla="*/ 347 h 576"/>
                      <a:gd name="T12" fmla="*/ 1 w 232"/>
                      <a:gd name="T13" fmla="*/ 403 h 576"/>
                      <a:gd name="T14" fmla="*/ 116 w 232"/>
                      <a:gd name="T15" fmla="*/ 403 h 576"/>
                      <a:gd name="T16" fmla="*/ 232 w 232"/>
                      <a:gd name="T17" fmla="*/ 576 h 57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232" h="576">
                        <a:moveTo>
                          <a:pt x="232" y="576"/>
                        </a:moveTo>
                        <a:lnTo>
                          <a:pt x="232" y="0"/>
                        </a:lnTo>
                        <a:lnTo>
                          <a:pt x="116" y="173"/>
                        </a:lnTo>
                        <a:lnTo>
                          <a:pt x="1" y="173"/>
                        </a:lnTo>
                        <a:lnTo>
                          <a:pt x="1" y="230"/>
                        </a:lnTo>
                        <a:lnTo>
                          <a:pt x="0" y="347"/>
                        </a:lnTo>
                        <a:lnTo>
                          <a:pt x="1" y="403"/>
                        </a:lnTo>
                        <a:lnTo>
                          <a:pt x="116" y="403"/>
                        </a:lnTo>
                        <a:lnTo>
                          <a:pt x="232" y="576"/>
                        </a:lnTo>
                        <a:close/>
                      </a:path>
                    </a:pathLst>
                  </a:custGeom>
                  <a:noFill/>
                  <a:ln w="19050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85" name="Text Box 13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514" y="762"/>
                    <a:ext cx="286" cy="145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90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algn="l" eaLnBrk="1" hangingPunct="1"/>
                    <a:r>
                      <a:rPr lang="en-US" sz="900" dirty="0" smtClean="0"/>
                      <a:t>WOF</a:t>
                    </a:r>
                    <a:endParaRPr lang="en-US" sz="900" dirty="0"/>
                  </a:p>
                </p:txBody>
              </p:sp>
            </p:grpSp>
            <p:grpSp>
              <p:nvGrpSpPr>
                <p:cNvPr id="76" name="Group 75"/>
                <p:cNvGrpSpPr/>
                <p:nvPr/>
              </p:nvGrpSpPr>
              <p:grpSpPr>
                <a:xfrm>
                  <a:off x="1795075" y="5367725"/>
                  <a:ext cx="1349854" cy="602416"/>
                  <a:chOff x="3962983" y="6230875"/>
                  <a:chExt cx="1349854" cy="602416"/>
                </a:xfrm>
              </p:grpSpPr>
              <p:pic>
                <p:nvPicPr>
                  <p:cNvPr id="78" name="Picture 77" descr="http://www.cksinfo.com/clipart/music/old-microphone.png"/>
                  <p:cNvPicPr/>
                  <p:nvPr/>
                </p:nvPicPr>
                <p:blipFill>
                  <a:blip r:embed="rId3" cstate="print">
                    <a:duotone>
                      <a:schemeClr val="accent1">
                        <a:shade val="45000"/>
                        <a:satMod val="135000"/>
                      </a:schemeClr>
                      <a:prstClr val="white"/>
                    </a:duotone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5095787" y="6368183"/>
                    <a:ext cx="217050" cy="325722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</p:pic>
              <p:grpSp>
                <p:nvGrpSpPr>
                  <p:cNvPr id="79" name="Group 307"/>
                  <p:cNvGrpSpPr>
                    <a:grpSpLocks/>
                  </p:cNvGrpSpPr>
                  <p:nvPr/>
                </p:nvGrpSpPr>
                <p:grpSpPr bwMode="auto">
                  <a:xfrm>
                    <a:off x="3962983" y="6268914"/>
                    <a:ext cx="364513" cy="564377"/>
                    <a:chOff x="2527" y="715"/>
                    <a:chExt cx="214" cy="408"/>
                  </a:xfrm>
                </p:grpSpPr>
                <p:sp>
                  <p:nvSpPr>
                    <p:cNvPr id="82" name="Freeform 132"/>
                    <p:cNvSpPr>
                      <a:spLocks/>
                    </p:cNvSpPr>
                    <p:nvPr/>
                  </p:nvSpPr>
                  <p:spPr bwMode="auto">
                    <a:xfrm>
                      <a:off x="2540" y="715"/>
                      <a:ext cx="188" cy="408"/>
                    </a:xfrm>
                    <a:custGeom>
                      <a:avLst/>
                      <a:gdLst>
                        <a:gd name="T0" fmla="*/ 232 w 232"/>
                        <a:gd name="T1" fmla="*/ 576 h 576"/>
                        <a:gd name="T2" fmla="*/ 232 w 232"/>
                        <a:gd name="T3" fmla="*/ 0 h 576"/>
                        <a:gd name="T4" fmla="*/ 116 w 232"/>
                        <a:gd name="T5" fmla="*/ 173 h 576"/>
                        <a:gd name="T6" fmla="*/ 1 w 232"/>
                        <a:gd name="T7" fmla="*/ 173 h 576"/>
                        <a:gd name="T8" fmla="*/ 1 w 232"/>
                        <a:gd name="T9" fmla="*/ 230 h 576"/>
                        <a:gd name="T10" fmla="*/ 0 w 232"/>
                        <a:gd name="T11" fmla="*/ 347 h 576"/>
                        <a:gd name="T12" fmla="*/ 1 w 232"/>
                        <a:gd name="T13" fmla="*/ 403 h 576"/>
                        <a:gd name="T14" fmla="*/ 116 w 232"/>
                        <a:gd name="T15" fmla="*/ 403 h 576"/>
                        <a:gd name="T16" fmla="*/ 232 w 232"/>
                        <a:gd name="T17" fmla="*/ 576 h 57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  <a:gd name="T24" fmla="*/ 0 60000 65536"/>
                        <a:gd name="T25" fmla="*/ 0 60000 65536"/>
                        <a:gd name="T26" fmla="*/ 0 60000 65536"/>
                      </a:gdLst>
                      <a:ahLst/>
                      <a:cxnLst>
                        <a:cxn ang="T18">
                          <a:pos x="T0" y="T1"/>
                        </a:cxn>
                        <a:cxn ang="T19">
                          <a:pos x="T2" y="T3"/>
                        </a:cxn>
                        <a:cxn ang="T20">
                          <a:pos x="T4" y="T5"/>
                        </a:cxn>
                        <a:cxn ang="T21">
                          <a:pos x="T6" y="T7"/>
                        </a:cxn>
                        <a:cxn ang="T22">
                          <a:pos x="T8" y="T9"/>
                        </a:cxn>
                        <a:cxn ang="T23">
                          <a:pos x="T10" y="T11"/>
                        </a:cxn>
                        <a:cxn ang="T24">
                          <a:pos x="T12" y="T13"/>
                        </a:cxn>
                        <a:cxn ang="T25">
                          <a:pos x="T14" y="T15"/>
                        </a:cxn>
                        <a:cxn ang="T26">
                          <a:pos x="T16" y="T17"/>
                        </a:cxn>
                      </a:cxnLst>
                      <a:rect l="0" t="0" r="r" b="b"/>
                      <a:pathLst>
                        <a:path w="232" h="576">
                          <a:moveTo>
                            <a:pt x="232" y="576"/>
                          </a:moveTo>
                          <a:lnTo>
                            <a:pt x="232" y="0"/>
                          </a:lnTo>
                          <a:lnTo>
                            <a:pt x="116" y="173"/>
                          </a:lnTo>
                          <a:lnTo>
                            <a:pt x="1" y="173"/>
                          </a:lnTo>
                          <a:lnTo>
                            <a:pt x="1" y="230"/>
                          </a:lnTo>
                          <a:lnTo>
                            <a:pt x="0" y="347"/>
                          </a:lnTo>
                          <a:lnTo>
                            <a:pt x="1" y="403"/>
                          </a:lnTo>
                          <a:lnTo>
                            <a:pt x="116" y="403"/>
                          </a:lnTo>
                          <a:lnTo>
                            <a:pt x="232" y="576"/>
                          </a:lnTo>
                          <a:close/>
                        </a:path>
                      </a:pathLst>
                    </a:custGeom>
                    <a:noFill/>
                    <a:ln w="19050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83" name="Text Box 133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527" y="821"/>
                      <a:ext cx="214" cy="167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905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algn="l" eaLnBrk="1" hangingPunct="1"/>
                      <a:r>
                        <a:rPr lang="en-US" sz="900" dirty="0" smtClean="0"/>
                        <a:t>TW</a:t>
                      </a:r>
                      <a:endParaRPr lang="en-US" sz="900" dirty="0"/>
                    </a:p>
                  </p:txBody>
                </p:sp>
              </p:grpSp>
              <p:cxnSp>
                <p:nvCxnSpPr>
                  <p:cNvPr id="80" name="Straight Arrow Connector 79"/>
                  <p:cNvCxnSpPr/>
                  <p:nvPr/>
                </p:nvCxnSpPr>
                <p:spPr>
                  <a:xfrm flipH="1">
                    <a:off x="4305352" y="6531044"/>
                    <a:ext cx="773496" cy="0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headEnd type="arrow"/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1" name="TextBox 80"/>
                  <p:cNvSpPr txBox="1"/>
                  <p:nvPr/>
                </p:nvSpPr>
                <p:spPr>
                  <a:xfrm>
                    <a:off x="4394021" y="6230875"/>
                    <a:ext cx="698562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dirty="0" smtClean="0"/>
                      <a:t>1m</a:t>
                    </a:r>
                    <a:endParaRPr lang="en-GB" dirty="0"/>
                  </a:p>
                </p:txBody>
              </p:sp>
            </p:grpSp>
            <p:sp>
              <p:nvSpPr>
                <p:cNvPr id="77" name="Rectangle 76"/>
                <p:cNvSpPr/>
                <p:nvPr/>
              </p:nvSpPr>
              <p:spPr>
                <a:xfrm>
                  <a:off x="927631" y="5405764"/>
                  <a:ext cx="1203513" cy="1407612"/>
                </a:xfrm>
                <a:prstGeom prst="rect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sp>
            <p:nvSpPr>
              <p:cNvPr id="72" name="Isosceles Triangle 71"/>
              <p:cNvSpPr/>
              <p:nvPr/>
            </p:nvSpPr>
            <p:spPr>
              <a:xfrm rot="5400000">
                <a:off x="132190" y="5891625"/>
                <a:ext cx="463013" cy="428247"/>
              </a:xfrm>
              <a:prstGeom prst="triangl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270" rtlCol="0" anchor="ctr"/>
              <a:lstStyle/>
              <a:p>
                <a:pPr algn="ctr"/>
                <a:endParaRPr lang="en-GB" dirty="0"/>
              </a:p>
            </p:txBody>
          </p:sp>
        </p:grpSp>
        <p:cxnSp>
          <p:nvCxnSpPr>
            <p:cNvPr id="67" name="Straight Connector 66"/>
            <p:cNvCxnSpPr>
              <a:stCxn id="72" idx="3"/>
            </p:cNvCxnSpPr>
            <p:nvPr/>
          </p:nvCxnSpPr>
          <p:spPr>
            <a:xfrm flipH="1" flipV="1">
              <a:off x="1279124" y="6094368"/>
              <a:ext cx="188253" cy="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/>
            <p:cNvCxnSpPr>
              <a:stCxn id="72" idx="0"/>
              <a:endCxn id="77" idx="1"/>
            </p:cNvCxnSpPr>
            <p:nvPr/>
          </p:nvCxnSpPr>
          <p:spPr>
            <a:xfrm>
              <a:off x="1895624" y="6094369"/>
              <a:ext cx="349811" cy="382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Box 69"/>
            <p:cNvSpPr txBox="1"/>
            <p:nvPr/>
          </p:nvSpPr>
          <p:spPr>
            <a:xfrm>
              <a:off x="704492" y="5886876"/>
              <a:ext cx="5760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>
                  <a:latin typeface="Cambria Math" pitchFamily="18" charset="0"/>
                  <a:ea typeface="Cambria Math" pitchFamily="18" charset="0"/>
                </a:rPr>
                <a:t>x(t)</a:t>
              </a:r>
              <a:endParaRPr lang="en-GB" dirty="0">
                <a:latin typeface="Cambria Math" pitchFamily="18" charset="0"/>
                <a:ea typeface="Cambria Math" pitchFamily="18" charset="0"/>
              </a:endParaRPr>
            </a:p>
          </p:txBody>
        </p:sp>
        <p:grpSp>
          <p:nvGrpSpPr>
            <p:cNvPr id="89" name="Group 346"/>
            <p:cNvGrpSpPr>
              <a:grpSpLocks/>
            </p:cNvGrpSpPr>
            <p:nvPr/>
          </p:nvGrpSpPr>
          <p:grpSpPr bwMode="auto">
            <a:xfrm rot="5400000">
              <a:off x="2840319" y="5456331"/>
              <a:ext cx="227806" cy="379237"/>
              <a:chOff x="5012" y="1930"/>
              <a:chExt cx="346" cy="576"/>
            </a:xfrm>
          </p:grpSpPr>
          <p:grpSp>
            <p:nvGrpSpPr>
              <p:cNvPr id="90" name="Group 135"/>
              <p:cNvGrpSpPr>
                <a:grpSpLocks/>
              </p:cNvGrpSpPr>
              <p:nvPr/>
            </p:nvGrpSpPr>
            <p:grpSpPr bwMode="auto">
              <a:xfrm>
                <a:off x="5012" y="1930"/>
                <a:ext cx="346" cy="576"/>
                <a:chOff x="2707" y="2736"/>
                <a:chExt cx="346" cy="576"/>
              </a:xfrm>
            </p:grpSpPr>
            <p:sp>
              <p:nvSpPr>
                <p:cNvPr id="92" name="Line 136"/>
                <p:cNvSpPr>
                  <a:spLocks noChangeShapeType="1"/>
                </p:cNvSpPr>
                <p:nvPr/>
              </p:nvSpPr>
              <p:spPr bwMode="auto">
                <a:xfrm>
                  <a:off x="2707" y="2966"/>
                  <a:ext cx="346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/>
                  <a:endParaRPr lang="en-GB"/>
                </a:p>
              </p:txBody>
            </p:sp>
            <p:sp>
              <p:nvSpPr>
                <p:cNvPr id="93" name="Line 137"/>
                <p:cNvSpPr>
                  <a:spLocks noChangeShapeType="1"/>
                </p:cNvSpPr>
                <p:nvPr/>
              </p:nvSpPr>
              <p:spPr bwMode="auto">
                <a:xfrm>
                  <a:off x="2880" y="2736"/>
                  <a:ext cx="0" cy="23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/>
                  <a:endParaRPr lang="en-GB"/>
                </a:p>
              </p:txBody>
            </p:sp>
            <p:sp>
              <p:nvSpPr>
                <p:cNvPr id="94" name="Line 138"/>
                <p:cNvSpPr>
                  <a:spLocks noChangeShapeType="1"/>
                </p:cNvSpPr>
                <p:nvPr/>
              </p:nvSpPr>
              <p:spPr bwMode="auto">
                <a:xfrm>
                  <a:off x="2880" y="3024"/>
                  <a:ext cx="0" cy="288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/>
                  <a:endParaRPr lang="en-GB"/>
                </a:p>
              </p:txBody>
            </p:sp>
            <p:sp>
              <p:nvSpPr>
                <p:cNvPr id="95" name="Line 139"/>
                <p:cNvSpPr>
                  <a:spLocks noChangeShapeType="1"/>
                </p:cNvSpPr>
                <p:nvPr/>
              </p:nvSpPr>
              <p:spPr bwMode="auto">
                <a:xfrm>
                  <a:off x="2707" y="3024"/>
                  <a:ext cx="346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/>
                  <a:endParaRPr lang="en-GB"/>
                </a:p>
              </p:txBody>
            </p:sp>
          </p:grpSp>
          <p:sp>
            <p:nvSpPr>
              <p:cNvPr id="91" name="Freeform 345"/>
              <p:cNvSpPr>
                <a:spLocks/>
              </p:cNvSpPr>
              <p:nvPr/>
            </p:nvSpPr>
            <p:spPr bwMode="auto">
              <a:xfrm>
                <a:off x="5069" y="1930"/>
                <a:ext cx="230" cy="576"/>
              </a:xfrm>
              <a:custGeom>
                <a:avLst/>
                <a:gdLst>
                  <a:gd name="T0" fmla="*/ 115 w 230"/>
                  <a:gd name="T1" fmla="*/ 0 h 576"/>
                  <a:gd name="T2" fmla="*/ 0 w 230"/>
                  <a:gd name="T3" fmla="*/ 230 h 576"/>
                  <a:gd name="T4" fmla="*/ 115 w 230"/>
                  <a:gd name="T5" fmla="*/ 576 h 576"/>
                  <a:gd name="T6" fmla="*/ 230 w 230"/>
                  <a:gd name="T7" fmla="*/ 230 h 576"/>
                  <a:gd name="T8" fmla="*/ 115 w 230"/>
                  <a:gd name="T9" fmla="*/ 0 h 57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30" h="576">
                    <a:moveTo>
                      <a:pt x="115" y="0"/>
                    </a:moveTo>
                    <a:lnTo>
                      <a:pt x="0" y="230"/>
                    </a:lnTo>
                    <a:lnTo>
                      <a:pt x="115" y="576"/>
                    </a:lnTo>
                    <a:lnTo>
                      <a:pt x="230" y="230"/>
                    </a:lnTo>
                    <a:lnTo>
                      <a:pt x="115" y="0"/>
                    </a:lnTo>
                    <a:close/>
                  </a:path>
                </a:pathLst>
              </a:cu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r"/>
                <a:endParaRPr lang="en-GB"/>
              </a:p>
            </p:txBody>
          </p:sp>
        </p:grpSp>
        <p:grpSp>
          <p:nvGrpSpPr>
            <p:cNvPr id="96" name="Group 338"/>
            <p:cNvGrpSpPr>
              <a:grpSpLocks/>
            </p:cNvGrpSpPr>
            <p:nvPr/>
          </p:nvGrpSpPr>
          <p:grpSpPr bwMode="auto">
            <a:xfrm>
              <a:off x="2692595" y="5660442"/>
              <a:ext cx="144016" cy="352328"/>
              <a:chOff x="3398" y="1757"/>
              <a:chExt cx="128" cy="518"/>
            </a:xfrm>
          </p:grpSpPr>
          <p:grpSp>
            <p:nvGrpSpPr>
              <p:cNvPr id="97" name="Group 54"/>
              <p:cNvGrpSpPr>
                <a:grpSpLocks/>
              </p:cNvGrpSpPr>
              <p:nvPr/>
            </p:nvGrpSpPr>
            <p:grpSpPr bwMode="auto">
              <a:xfrm>
                <a:off x="3398" y="1757"/>
                <a:ext cx="128" cy="518"/>
                <a:chOff x="451" y="2160"/>
                <a:chExt cx="298" cy="1209"/>
              </a:xfrm>
            </p:grpSpPr>
            <p:grpSp>
              <p:nvGrpSpPr>
                <p:cNvPr id="99" name="Group 55"/>
                <p:cNvGrpSpPr>
                  <a:grpSpLocks/>
                </p:cNvGrpSpPr>
                <p:nvPr/>
              </p:nvGrpSpPr>
              <p:grpSpPr bwMode="auto">
                <a:xfrm>
                  <a:off x="451" y="2621"/>
                  <a:ext cx="230" cy="115"/>
                  <a:chOff x="576" y="2218"/>
                  <a:chExt cx="230" cy="230"/>
                </a:xfrm>
              </p:grpSpPr>
              <p:sp>
                <p:nvSpPr>
                  <p:cNvPr id="118" name="Freeform 56"/>
                  <p:cNvSpPr>
                    <a:spLocks/>
                  </p:cNvSpPr>
                  <p:nvPr/>
                </p:nvSpPr>
                <p:spPr bwMode="auto">
                  <a:xfrm>
                    <a:off x="576" y="2218"/>
                    <a:ext cx="230" cy="115"/>
                  </a:xfrm>
                  <a:custGeom>
                    <a:avLst/>
                    <a:gdLst>
                      <a:gd name="T0" fmla="*/ 0 w 230"/>
                      <a:gd name="T1" fmla="*/ 115 h 115"/>
                      <a:gd name="T2" fmla="*/ 115 w 230"/>
                      <a:gd name="T3" fmla="*/ 0 h 115"/>
                      <a:gd name="T4" fmla="*/ 230 w 230"/>
                      <a:gd name="T5" fmla="*/ 115 h 115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30" h="115">
                        <a:moveTo>
                          <a:pt x="0" y="115"/>
                        </a:moveTo>
                        <a:cubicBezTo>
                          <a:pt x="38" y="57"/>
                          <a:pt x="77" y="0"/>
                          <a:pt x="115" y="0"/>
                        </a:cubicBezTo>
                        <a:cubicBezTo>
                          <a:pt x="153" y="0"/>
                          <a:pt x="191" y="57"/>
                          <a:pt x="230" y="115"/>
                        </a:cubicBezTo>
                      </a:path>
                    </a:pathLst>
                  </a:custGeom>
                  <a:noFill/>
                  <a:ln w="19050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  <p:sp>
                <p:nvSpPr>
                  <p:cNvPr id="119" name="Freeform 57"/>
                  <p:cNvSpPr>
                    <a:spLocks/>
                  </p:cNvSpPr>
                  <p:nvPr/>
                </p:nvSpPr>
                <p:spPr bwMode="auto">
                  <a:xfrm flipV="1">
                    <a:off x="576" y="2333"/>
                    <a:ext cx="230" cy="115"/>
                  </a:xfrm>
                  <a:custGeom>
                    <a:avLst/>
                    <a:gdLst>
                      <a:gd name="T0" fmla="*/ 0 w 230"/>
                      <a:gd name="T1" fmla="*/ 115 h 115"/>
                      <a:gd name="T2" fmla="*/ 115 w 230"/>
                      <a:gd name="T3" fmla="*/ 0 h 115"/>
                      <a:gd name="T4" fmla="*/ 230 w 230"/>
                      <a:gd name="T5" fmla="*/ 115 h 115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30" h="115">
                        <a:moveTo>
                          <a:pt x="0" y="115"/>
                        </a:moveTo>
                        <a:cubicBezTo>
                          <a:pt x="38" y="57"/>
                          <a:pt x="77" y="0"/>
                          <a:pt x="115" y="0"/>
                        </a:cubicBezTo>
                        <a:cubicBezTo>
                          <a:pt x="153" y="0"/>
                          <a:pt x="191" y="57"/>
                          <a:pt x="230" y="115"/>
                        </a:cubicBezTo>
                      </a:path>
                    </a:pathLst>
                  </a:custGeom>
                  <a:noFill/>
                  <a:ln w="19050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100" name="Group 58"/>
                <p:cNvGrpSpPr>
                  <a:grpSpLocks/>
                </p:cNvGrpSpPr>
                <p:nvPr/>
              </p:nvGrpSpPr>
              <p:grpSpPr bwMode="auto">
                <a:xfrm>
                  <a:off x="451" y="2448"/>
                  <a:ext cx="230" cy="115"/>
                  <a:chOff x="576" y="2218"/>
                  <a:chExt cx="230" cy="230"/>
                </a:xfrm>
              </p:grpSpPr>
              <p:sp>
                <p:nvSpPr>
                  <p:cNvPr id="116" name="Freeform 59"/>
                  <p:cNvSpPr>
                    <a:spLocks/>
                  </p:cNvSpPr>
                  <p:nvPr/>
                </p:nvSpPr>
                <p:spPr bwMode="auto">
                  <a:xfrm>
                    <a:off x="576" y="2218"/>
                    <a:ext cx="230" cy="115"/>
                  </a:xfrm>
                  <a:custGeom>
                    <a:avLst/>
                    <a:gdLst>
                      <a:gd name="T0" fmla="*/ 0 w 230"/>
                      <a:gd name="T1" fmla="*/ 115 h 115"/>
                      <a:gd name="T2" fmla="*/ 115 w 230"/>
                      <a:gd name="T3" fmla="*/ 0 h 115"/>
                      <a:gd name="T4" fmla="*/ 230 w 230"/>
                      <a:gd name="T5" fmla="*/ 115 h 115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30" h="115">
                        <a:moveTo>
                          <a:pt x="0" y="115"/>
                        </a:moveTo>
                        <a:cubicBezTo>
                          <a:pt x="38" y="57"/>
                          <a:pt x="77" y="0"/>
                          <a:pt x="115" y="0"/>
                        </a:cubicBezTo>
                        <a:cubicBezTo>
                          <a:pt x="153" y="0"/>
                          <a:pt x="191" y="57"/>
                          <a:pt x="230" y="115"/>
                        </a:cubicBezTo>
                      </a:path>
                    </a:pathLst>
                  </a:custGeom>
                  <a:noFill/>
                  <a:ln w="19050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  <p:sp>
                <p:nvSpPr>
                  <p:cNvPr id="117" name="Freeform 60"/>
                  <p:cNvSpPr>
                    <a:spLocks/>
                  </p:cNvSpPr>
                  <p:nvPr/>
                </p:nvSpPr>
                <p:spPr bwMode="auto">
                  <a:xfrm flipV="1">
                    <a:off x="576" y="2333"/>
                    <a:ext cx="230" cy="115"/>
                  </a:xfrm>
                  <a:custGeom>
                    <a:avLst/>
                    <a:gdLst>
                      <a:gd name="T0" fmla="*/ 0 w 230"/>
                      <a:gd name="T1" fmla="*/ 115 h 115"/>
                      <a:gd name="T2" fmla="*/ 115 w 230"/>
                      <a:gd name="T3" fmla="*/ 0 h 115"/>
                      <a:gd name="T4" fmla="*/ 230 w 230"/>
                      <a:gd name="T5" fmla="*/ 115 h 115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30" h="115">
                        <a:moveTo>
                          <a:pt x="0" y="115"/>
                        </a:moveTo>
                        <a:cubicBezTo>
                          <a:pt x="38" y="57"/>
                          <a:pt x="77" y="0"/>
                          <a:pt x="115" y="0"/>
                        </a:cubicBezTo>
                        <a:cubicBezTo>
                          <a:pt x="153" y="0"/>
                          <a:pt x="191" y="57"/>
                          <a:pt x="230" y="115"/>
                        </a:cubicBezTo>
                      </a:path>
                    </a:pathLst>
                  </a:custGeom>
                  <a:noFill/>
                  <a:ln w="19050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</p:grpSp>
            <p:sp>
              <p:nvSpPr>
                <p:cNvPr id="101" name="Freeform 61"/>
                <p:cNvSpPr>
                  <a:spLocks/>
                </p:cNvSpPr>
                <p:nvPr/>
              </p:nvSpPr>
              <p:spPr bwMode="auto">
                <a:xfrm>
                  <a:off x="681" y="2506"/>
                  <a:ext cx="68" cy="172"/>
                </a:xfrm>
                <a:custGeom>
                  <a:avLst/>
                  <a:gdLst>
                    <a:gd name="T0" fmla="*/ 0 w 68"/>
                    <a:gd name="T1" fmla="*/ 172 h 172"/>
                    <a:gd name="T2" fmla="*/ 58 w 68"/>
                    <a:gd name="T3" fmla="*/ 115 h 172"/>
                    <a:gd name="T4" fmla="*/ 58 w 68"/>
                    <a:gd name="T5" fmla="*/ 57 h 172"/>
                    <a:gd name="T6" fmla="*/ 0 w 68"/>
                    <a:gd name="T7" fmla="*/ 0 h 17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68" h="172">
                      <a:moveTo>
                        <a:pt x="0" y="172"/>
                      </a:moveTo>
                      <a:cubicBezTo>
                        <a:pt x="24" y="153"/>
                        <a:pt x="48" y="134"/>
                        <a:pt x="58" y="115"/>
                      </a:cubicBezTo>
                      <a:cubicBezTo>
                        <a:pt x="68" y="96"/>
                        <a:pt x="68" y="76"/>
                        <a:pt x="58" y="57"/>
                      </a:cubicBezTo>
                      <a:cubicBezTo>
                        <a:pt x="48" y="38"/>
                        <a:pt x="24" y="19"/>
                        <a:pt x="0" y="0"/>
                      </a:cubicBezTo>
                    </a:path>
                  </a:pathLst>
                </a:cu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2" name="Freeform 62"/>
                <p:cNvSpPr>
                  <a:spLocks/>
                </p:cNvSpPr>
                <p:nvPr/>
              </p:nvSpPr>
              <p:spPr bwMode="auto">
                <a:xfrm>
                  <a:off x="681" y="2678"/>
                  <a:ext cx="68" cy="172"/>
                </a:xfrm>
                <a:custGeom>
                  <a:avLst/>
                  <a:gdLst>
                    <a:gd name="T0" fmla="*/ 0 w 68"/>
                    <a:gd name="T1" fmla="*/ 172 h 172"/>
                    <a:gd name="T2" fmla="*/ 58 w 68"/>
                    <a:gd name="T3" fmla="*/ 115 h 172"/>
                    <a:gd name="T4" fmla="*/ 58 w 68"/>
                    <a:gd name="T5" fmla="*/ 57 h 172"/>
                    <a:gd name="T6" fmla="*/ 0 w 68"/>
                    <a:gd name="T7" fmla="*/ 0 h 17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68" h="172">
                      <a:moveTo>
                        <a:pt x="0" y="172"/>
                      </a:moveTo>
                      <a:cubicBezTo>
                        <a:pt x="24" y="153"/>
                        <a:pt x="48" y="134"/>
                        <a:pt x="58" y="115"/>
                      </a:cubicBezTo>
                      <a:cubicBezTo>
                        <a:pt x="68" y="96"/>
                        <a:pt x="68" y="76"/>
                        <a:pt x="58" y="57"/>
                      </a:cubicBezTo>
                      <a:cubicBezTo>
                        <a:pt x="48" y="38"/>
                        <a:pt x="24" y="19"/>
                        <a:pt x="0" y="0"/>
                      </a:cubicBezTo>
                    </a:path>
                  </a:pathLst>
                </a:cu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grpSp>
              <p:nvGrpSpPr>
                <p:cNvPr id="103" name="Group 63"/>
                <p:cNvGrpSpPr>
                  <a:grpSpLocks/>
                </p:cNvGrpSpPr>
                <p:nvPr/>
              </p:nvGrpSpPr>
              <p:grpSpPr bwMode="auto">
                <a:xfrm>
                  <a:off x="451" y="2794"/>
                  <a:ext cx="230" cy="115"/>
                  <a:chOff x="576" y="2218"/>
                  <a:chExt cx="230" cy="230"/>
                </a:xfrm>
              </p:grpSpPr>
              <p:sp>
                <p:nvSpPr>
                  <p:cNvPr id="114" name="Freeform 64"/>
                  <p:cNvSpPr>
                    <a:spLocks/>
                  </p:cNvSpPr>
                  <p:nvPr/>
                </p:nvSpPr>
                <p:spPr bwMode="auto">
                  <a:xfrm>
                    <a:off x="576" y="2218"/>
                    <a:ext cx="230" cy="115"/>
                  </a:xfrm>
                  <a:custGeom>
                    <a:avLst/>
                    <a:gdLst>
                      <a:gd name="T0" fmla="*/ 0 w 230"/>
                      <a:gd name="T1" fmla="*/ 115 h 115"/>
                      <a:gd name="T2" fmla="*/ 115 w 230"/>
                      <a:gd name="T3" fmla="*/ 0 h 115"/>
                      <a:gd name="T4" fmla="*/ 230 w 230"/>
                      <a:gd name="T5" fmla="*/ 115 h 115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30" h="115">
                        <a:moveTo>
                          <a:pt x="0" y="115"/>
                        </a:moveTo>
                        <a:cubicBezTo>
                          <a:pt x="38" y="57"/>
                          <a:pt x="77" y="0"/>
                          <a:pt x="115" y="0"/>
                        </a:cubicBezTo>
                        <a:cubicBezTo>
                          <a:pt x="153" y="0"/>
                          <a:pt x="191" y="57"/>
                          <a:pt x="230" y="115"/>
                        </a:cubicBezTo>
                      </a:path>
                    </a:pathLst>
                  </a:custGeom>
                  <a:noFill/>
                  <a:ln w="19050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  <p:sp>
                <p:nvSpPr>
                  <p:cNvPr id="115" name="Freeform 65"/>
                  <p:cNvSpPr>
                    <a:spLocks/>
                  </p:cNvSpPr>
                  <p:nvPr/>
                </p:nvSpPr>
                <p:spPr bwMode="auto">
                  <a:xfrm flipV="1">
                    <a:off x="576" y="2333"/>
                    <a:ext cx="230" cy="115"/>
                  </a:xfrm>
                  <a:custGeom>
                    <a:avLst/>
                    <a:gdLst>
                      <a:gd name="T0" fmla="*/ 0 w 230"/>
                      <a:gd name="T1" fmla="*/ 115 h 115"/>
                      <a:gd name="T2" fmla="*/ 115 w 230"/>
                      <a:gd name="T3" fmla="*/ 0 h 115"/>
                      <a:gd name="T4" fmla="*/ 230 w 230"/>
                      <a:gd name="T5" fmla="*/ 115 h 115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30" h="115">
                        <a:moveTo>
                          <a:pt x="0" y="115"/>
                        </a:moveTo>
                        <a:cubicBezTo>
                          <a:pt x="38" y="57"/>
                          <a:pt x="77" y="0"/>
                          <a:pt x="115" y="0"/>
                        </a:cubicBezTo>
                        <a:cubicBezTo>
                          <a:pt x="153" y="0"/>
                          <a:pt x="191" y="57"/>
                          <a:pt x="230" y="115"/>
                        </a:cubicBezTo>
                      </a:path>
                    </a:pathLst>
                  </a:custGeom>
                  <a:noFill/>
                  <a:ln w="19050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104" name="Group 66"/>
                <p:cNvGrpSpPr>
                  <a:grpSpLocks/>
                </p:cNvGrpSpPr>
                <p:nvPr/>
              </p:nvGrpSpPr>
              <p:grpSpPr bwMode="auto">
                <a:xfrm>
                  <a:off x="451" y="2967"/>
                  <a:ext cx="230" cy="115"/>
                  <a:chOff x="576" y="2218"/>
                  <a:chExt cx="230" cy="230"/>
                </a:xfrm>
              </p:grpSpPr>
              <p:sp>
                <p:nvSpPr>
                  <p:cNvPr id="112" name="Freeform 67"/>
                  <p:cNvSpPr>
                    <a:spLocks/>
                  </p:cNvSpPr>
                  <p:nvPr/>
                </p:nvSpPr>
                <p:spPr bwMode="auto">
                  <a:xfrm>
                    <a:off x="576" y="2218"/>
                    <a:ext cx="230" cy="115"/>
                  </a:xfrm>
                  <a:custGeom>
                    <a:avLst/>
                    <a:gdLst>
                      <a:gd name="T0" fmla="*/ 0 w 230"/>
                      <a:gd name="T1" fmla="*/ 115 h 115"/>
                      <a:gd name="T2" fmla="*/ 115 w 230"/>
                      <a:gd name="T3" fmla="*/ 0 h 115"/>
                      <a:gd name="T4" fmla="*/ 230 w 230"/>
                      <a:gd name="T5" fmla="*/ 115 h 115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30" h="115">
                        <a:moveTo>
                          <a:pt x="0" y="115"/>
                        </a:moveTo>
                        <a:cubicBezTo>
                          <a:pt x="38" y="57"/>
                          <a:pt x="77" y="0"/>
                          <a:pt x="115" y="0"/>
                        </a:cubicBezTo>
                        <a:cubicBezTo>
                          <a:pt x="153" y="0"/>
                          <a:pt x="191" y="57"/>
                          <a:pt x="230" y="115"/>
                        </a:cubicBezTo>
                      </a:path>
                    </a:pathLst>
                  </a:custGeom>
                  <a:noFill/>
                  <a:ln w="19050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  <p:sp>
                <p:nvSpPr>
                  <p:cNvPr id="113" name="Freeform 68"/>
                  <p:cNvSpPr>
                    <a:spLocks/>
                  </p:cNvSpPr>
                  <p:nvPr/>
                </p:nvSpPr>
                <p:spPr bwMode="auto">
                  <a:xfrm flipV="1">
                    <a:off x="576" y="2333"/>
                    <a:ext cx="230" cy="115"/>
                  </a:xfrm>
                  <a:custGeom>
                    <a:avLst/>
                    <a:gdLst>
                      <a:gd name="T0" fmla="*/ 0 w 230"/>
                      <a:gd name="T1" fmla="*/ 115 h 115"/>
                      <a:gd name="T2" fmla="*/ 115 w 230"/>
                      <a:gd name="T3" fmla="*/ 0 h 115"/>
                      <a:gd name="T4" fmla="*/ 230 w 230"/>
                      <a:gd name="T5" fmla="*/ 115 h 115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30" h="115">
                        <a:moveTo>
                          <a:pt x="0" y="115"/>
                        </a:moveTo>
                        <a:cubicBezTo>
                          <a:pt x="38" y="57"/>
                          <a:pt x="77" y="0"/>
                          <a:pt x="115" y="0"/>
                        </a:cubicBezTo>
                        <a:cubicBezTo>
                          <a:pt x="153" y="0"/>
                          <a:pt x="191" y="57"/>
                          <a:pt x="230" y="115"/>
                        </a:cubicBezTo>
                      </a:path>
                    </a:pathLst>
                  </a:custGeom>
                  <a:noFill/>
                  <a:ln w="19050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</p:grpSp>
            <p:sp>
              <p:nvSpPr>
                <p:cNvPr id="105" name="Freeform 69"/>
                <p:cNvSpPr>
                  <a:spLocks/>
                </p:cNvSpPr>
                <p:nvPr/>
              </p:nvSpPr>
              <p:spPr bwMode="auto">
                <a:xfrm>
                  <a:off x="681" y="2851"/>
                  <a:ext cx="68" cy="172"/>
                </a:xfrm>
                <a:custGeom>
                  <a:avLst/>
                  <a:gdLst>
                    <a:gd name="T0" fmla="*/ 0 w 68"/>
                    <a:gd name="T1" fmla="*/ 172 h 172"/>
                    <a:gd name="T2" fmla="*/ 58 w 68"/>
                    <a:gd name="T3" fmla="*/ 115 h 172"/>
                    <a:gd name="T4" fmla="*/ 58 w 68"/>
                    <a:gd name="T5" fmla="*/ 57 h 172"/>
                    <a:gd name="T6" fmla="*/ 0 w 68"/>
                    <a:gd name="T7" fmla="*/ 0 h 17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68" h="172">
                      <a:moveTo>
                        <a:pt x="0" y="172"/>
                      </a:moveTo>
                      <a:cubicBezTo>
                        <a:pt x="24" y="153"/>
                        <a:pt x="48" y="134"/>
                        <a:pt x="58" y="115"/>
                      </a:cubicBezTo>
                      <a:cubicBezTo>
                        <a:pt x="68" y="96"/>
                        <a:pt x="68" y="76"/>
                        <a:pt x="58" y="57"/>
                      </a:cubicBezTo>
                      <a:cubicBezTo>
                        <a:pt x="48" y="38"/>
                        <a:pt x="24" y="19"/>
                        <a:pt x="0" y="0"/>
                      </a:cubicBezTo>
                    </a:path>
                  </a:pathLst>
                </a:cu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grpSp>
              <p:nvGrpSpPr>
                <p:cNvPr id="106" name="Group 70"/>
                <p:cNvGrpSpPr>
                  <a:grpSpLocks/>
                </p:cNvGrpSpPr>
                <p:nvPr/>
              </p:nvGrpSpPr>
              <p:grpSpPr bwMode="auto">
                <a:xfrm>
                  <a:off x="576" y="2160"/>
                  <a:ext cx="135" cy="345"/>
                  <a:chOff x="576" y="2160"/>
                  <a:chExt cx="135" cy="345"/>
                </a:xfrm>
              </p:grpSpPr>
              <p:sp>
                <p:nvSpPr>
                  <p:cNvPr id="110" name="Freeform 71"/>
                  <p:cNvSpPr>
                    <a:spLocks/>
                  </p:cNvSpPr>
                  <p:nvPr/>
                </p:nvSpPr>
                <p:spPr bwMode="auto">
                  <a:xfrm>
                    <a:off x="579" y="2333"/>
                    <a:ext cx="132" cy="172"/>
                  </a:xfrm>
                  <a:custGeom>
                    <a:avLst/>
                    <a:gdLst>
                      <a:gd name="T0" fmla="*/ 0 w 132"/>
                      <a:gd name="T1" fmla="*/ 0 h 172"/>
                      <a:gd name="T2" fmla="*/ 115 w 132"/>
                      <a:gd name="T3" fmla="*/ 57 h 172"/>
                      <a:gd name="T4" fmla="*/ 99 w 132"/>
                      <a:gd name="T5" fmla="*/ 172 h 17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32" h="172">
                        <a:moveTo>
                          <a:pt x="0" y="0"/>
                        </a:moveTo>
                        <a:cubicBezTo>
                          <a:pt x="49" y="14"/>
                          <a:pt x="98" y="28"/>
                          <a:pt x="115" y="57"/>
                        </a:cubicBezTo>
                        <a:cubicBezTo>
                          <a:pt x="132" y="86"/>
                          <a:pt x="115" y="129"/>
                          <a:pt x="99" y="172"/>
                        </a:cubicBezTo>
                      </a:path>
                    </a:pathLst>
                  </a:custGeom>
                  <a:noFill/>
                  <a:ln w="19050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  <p:sp>
                <p:nvSpPr>
                  <p:cNvPr id="111" name="Line 72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576" y="2160"/>
                    <a:ext cx="0" cy="173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107" name="Group 73"/>
                <p:cNvGrpSpPr>
                  <a:grpSpLocks/>
                </p:cNvGrpSpPr>
                <p:nvPr/>
              </p:nvGrpSpPr>
              <p:grpSpPr bwMode="auto">
                <a:xfrm flipV="1">
                  <a:off x="576" y="3024"/>
                  <a:ext cx="135" cy="345"/>
                  <a:chOff x="576" y="2160"/>
                  <a:chExt cx="135" cy="345"/>
                </a:xfrm>
              </p:grpSpPr>
              <p:sp>
                <p:nvSpPr>
                  <p:cNvPr id="108" name="Freeform 74"/>
                  <p:cNvSpPr>
                    <a:spLocks/>
                  </p:cNvSpPr>
                  <p:nvPr/>
                </p:nvSpPr>
                <p:spPr bwMode="auto">
                  <a:xfrm>
                    <a:off x="579" y="2333"/>
                    <a:ext cx="132" cy="172"/>
                  </a:xfrm>
                  <a:custGeom>
                    <a:avLst/>
                    <a:gdLst>
                      <a:gd name="T0" fmla="*/ 0 w 132"/>
                      <a:gd name="T1" fmla="*/ 0 h 172"/>
                      <a:gd name="T2" fmla="*/ 115 w 132"/>
                      <a:gd name="T3" fmla="*/ 57 h 172"/>
                      <a:gd name="T4" fmla="*/ 99 w 132"/>
                      <a:gd name="T5" fmla="*/ 172 h 17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32" h="172">
                        <a:moveTo>
                          <a:pt x="0" y="0"/>
                        </a:moveTo>
                        <a:cubicBezTo>
                          <a:pt x="49" y="14"/>
                          <a:pt x="98" y="28"/>
                          <a:pt x="115" y="57"/>
                        </a:cubicBezTo>
                        <a:cubicBezTo>
                          <a:pt x="132" y="86"/>
                          <a:pt x="115" y="129"/>
                          <a:pt x="99" y="172"/>
                        </a:cubicBezTo>
                      </a:path>
                    </a:pathLst>
                  </a:custGeom>
                  <a:noFill/>
                  <a:ln w="19050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  <p:sp>
                <p:nvSpPr>
                  <p:cNvPr id="109" name="Line 75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576" y="2160"/>
                    <a:ext cx="0" cy="173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</p:grpSp>
          </p:grpSp>
          <p:sp>
            <p:nvSpPr>
              <p:cNvPr id="98" name="Freeform 337"/>
              <p:cNvSpPr>
                <a:spLocks/>
              </p:cNvSpPr>
              <p:nvPr/>
            </p:nvSpPr>
            <p:spPr bwMode="auto">
              <a:xfrm>
                <a:off x="3398" y="1757"/>
                <a:ext cx="116" cy="518"/>
              </a:xfrm>
              <a:custGeom>
                <a:avLst/>
                <a:gdLst>
                  <a:gd name="T0" fmla="*/ 58 w 116"/>
                  <a:gd name="T1" fmla="*/ 0 h 518"/>
                  <a:gd name="T2" fmla="*/ 0 w 116"/>
                  <a:gd name="T3" fmla="*/ 230 h 518"/>
                  <a:gd name="T4" fmla="*/ 58 w 116"/>
                  <a:gd name="T5" fmla="*/ 518 h 518"/>
                  <a:gd name="T6" fmla="*/ 116 w 116"/>
                  <a:gd name="T7" fmla="*/ 230 h 518"/>
                  <a:gd name="T8" fmla="*/ 58 w 116"/>
                  <a:gd name="T9" fmla="*/ 0 h 5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6" h="518">
                    <a:moveTo>
                      <a:pt x="58" y="0"/>
                    </a:moveTo>
                    <a:lnTo>
                      <a:pt x="0" y="230"/>
                    </a:lnTo>
                    <a:lnTo>
                      <a:pt x="58" y="518"/>
                    </a:lnTo>
                    <a:lnTo>
                      <a:pt x="116" y="230"/>
                    </a:lnTo>
                    <a:lnTo>
                      <a:pt x="58" y="0"/>
                    </a:lnTo>
                    <a:close/>
                  </a:path>
                </a:pathLst>
              </a:cu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sp>
          <p:nvSpPr>
            <p:cNvPr id="122" name="Freeform 121"/>
            <p:cNvSpPr/>
            <p:nvPr/>
          </p:nvSpPr>
          <p:spPr>
            <a:xfrm>
              <a:off x="2245435" y="5637650"/>
              <a:ext cx="518475" cy="440880"/>
            </a:xfrm>
            <a:custGeom>
              <a:avLst/>
              <a:gdLst>
                <a:gd name="connsiteX0" fmla="*/ 0 w 518475"/>
                <a:gd name="connsiteY0" fmla="*/ 414779 h 414779"/>
                <a:gd name="connsiteX1" fmla="*/ 141403 w 518475"/>
                <a:gd name="connsiteY1" fmla="*/ 414779 h 414779"/>
                <a:gd name="connsiteX2" fmla="*/ 141403 w 518475"/>
                <a:gd name="connsiteY2" fmla="*/ 0 h 414779"/>
                <a:gd name="connsiteX3" fmla="*/ 518475 w 518475"/>
                <a:gd name="connsiteY3" fmla="*/ 0 h 414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8475" h="414779">
                  <a:moveTo>
                    <a:pt x="0" y="414779"/>
                  </a:moveTo>
                  <a:lnTo>
                    <a:pt x="141403" y="414779"/>
                  </a:lnTo>
                  <a:lnTo>
                    <a:pt x="141403" y="0"/>
                  </a:lnTo>
                  <a:lnTo>
                    <a:pt x="518475" y="0"/>
                  </a:lnTo>
                </a:path>
              </a:pathLst>
            </a:cu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144" name="Group 338"/>
            <p:cNvGrpSpPr>
              <a:grpSpLocks/>
            </p:cNvGrpSpPr>
            <p:nvPr/>
          </p:nvGrpSpPr>
          <p:grpSpPr bwMode="auto">
            <a:xfrm rot="5400000">
              <a:off x="2798486" y="6226756"/>
              <a:ext cx="144016" cy="352328"/>
              <a:chOff x="3398" y="1757"/>
              <a:chExt cx="128" cy="518"/>
            </a:xfrm>
          </p:grpSpPr>
          <p:grpSp>
            <p:nvGrpSpPr>
              <p:cNvPr id="145" name="Group 54"/>
              <p:cNvGrpSpPr>
                <a:grpSpLocks/>
              </p:cNvGrpSpPr>
              <p:nvPr/>
            </p:nvGrpSpPr>
            <p:grpSpPr bwMode="auto">
              <a:xfrm>
                <a:off x="3398" y="1757"/>
                <a:ext cx="128" cy="518"/>
                <a:chOff x="451" y="2160"/>
                <a:chExt cx="298" cy="1209"/>
              </a:xfrm>
            </p:grpSpPr>
            <p:grpSp>
              <p:nvGrpSpPr>
                <p:cNvPr id="147" name="Group 55"/>
                <p:cNvGrpSpPr>
                  <a:grpSpLocks/>
                </p:cNvGrpSpPr>
                <p:nvPr/>
              </p:nvGrpSpPr>
              <p:grpSpPr bwMode="auto">
                <a:xfrm>
                  <a:off x="451" y="2621"/>
                  <a:ext cx="230" cy="115"/>
                  <a:chOff x="576" y="2218"/>
                  <a:chExt cx="230" cy="230"/>
                </a:xfrm>
              </p:grpSpPr>
              <p:sp>
                <p:nvSpPr>
                  <p:cNvPr id="166" name="Freeform 56"/>
                  <p:cNvSpPr>
                    <a:spLocks/>
                  </p:cNvSpPr>
                  <p:nvPr/>
                </p:nvSpPr>
                <p:spPr bwMode="auto">
                  <a:xfrm>
                    <a:off x="576" y="2218"/>
                    <a:ext cx="230" cy="115"/>
                  </a:xfrm>
                  <a:custGeom>
                    <a:avLst/>
                    <a:gdLst>
                      <a:gd name="T0" fmla="*/ 0 w 230"/>
                      <a:gd name="T1" fmla="*/ 115 h 115"/>
                      <a:gd name="T2" fmla="*/ 115 w 230"/>
                      <a:gd name="T3" fmla="*/ 0 h 115"/>
                      <a:gd name="T4" fmla="*/ 230 w 230"/>
                      <a:gd name="T5" fmla="*/ 115 h 115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30" h="115">
                        <a:moveTo>
                          <a:pt x="0" y="115"/>
                        </a:moveTo>
                        <a:cubicBezTo>
                          <a:pt x="38" y="57"/>
                          <a:pt x="77" y="0"/>
                          <a:pt x="115" y="0"/>
                        </a:cubicBezTo>
                        <a:cubicBezTo>
                          <a:pt x="153" y="0"/>
                          <a:pt x="191" y="57"/>
                          <a:pt x="230" y="115"/>
                        </a:cubicBezTo>
                      </a:path>
                    </a:pathLst>
                  </a:custGeom>
                  <a:noFill/>
                  <a:ln w="19050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  <p:sp>
                <p:nvSpPr>
                  <p:cNvPr id="167" name="Freeform 57"/>
                  <p:cNvSpPr>
                    <a:spLocks/>
                  </p:cNvSpPr>
                  <p:nvPr/>
                </p:nvSpPr>
                <p:spPr bwMode="auto">
                  <a:xfrm flipV="1">
                    <a:off x="576" y="2333"/>
                    <a:ext cx="230" cy="115"/>
                  </a:xfrm>
                  <a:custGeom>
                    <a:avLst/>
                    <a:gdLst>
                      <a:gd name="T0" fmla="*/ 0 w 230"/>
                      <a:gd name="T1" fmla="*/ 115 h 115"/>
                      <a:gd name="T2" fmla="*/ 115 w 230"/>
                      <a:gd name="T3" fmla="*/ 0 h 115"/>
                      <a:gd name="T4" fmla="*/ 230 w 230"/>
                      <a:gd name="T5" fmla="*/ 115 h 115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30" h="115">
                        <a:moveTo>
                          <a:pt x="0" y="115"/>
                        </a:moveTo>
                        <a:cubicBezTo>
                          <a:pt x="38" y="57"/>
                          <a:pt x="77" y="0"/>
                          <a:pt x="115" y="0"/>
                        </a:cubicBezTo>
                        <a:cubicBezTo>
                          <a:pt x="153" y="0"/>
                          <a:pt x="191" y="57"/>
                          <a:pt x="230" y="115"/>
                        </a:cubicBezTo>
                      </a:path>
                    </a:pathLst>
                  </a:custGeom>
                  <a:noFill/>
                  <a:ln w="19050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148" name="Group 58"/>
                <p:cNvGrpSpPr>
                  <a:grpSpLocks/>
                </p:cNvGrpSpPr>
                <p:nvPr/>
              </p:nvGrpSpPr>
              <p:grpSpPr bwMode="auto">
                <a:xfrm>
                  <a:off x="451" y="2448"/>
                  <a:ext cx="230" cy="115"/>
                  <a:chOff x="576" y="2218"/>
                  <a:chExt cx="230" cy="230"/>
                </a:xfrm>
              </p:grpSpPr>
              <p:sp>
                <p:nvSpPr>
                  <p:cNvPr id="164" name="Freeform 59"/>
                  <p:cNvSpPr>
                    <a:spLocks/>
                  </p:cNvSpPr>
                  <p:nvPr/>
                </p:nvSpPr>
                <p:spPr bwMode="auto">
                  <a:xfrm>
                    <a:off x="576" y="2218"/>
                    <a:ext cx="230" cy="115"/>
                  </a:xfrm>
                  <a:custGeom>
                    <a:avLst/>
                    <a:gdLst>
                      <a:gd name="T0" fmla="*/ 0 w 230"/>
                      <a:gd name="T1" fmla="*/ 115 h 115"/>
                      <a:gd name="T2" fmla="*/ 115 w 230"/>
                      <a:gd name="T3" fmla="*/ 0 h 115"/>
                      <a:gd name="T4" fmla="*/ 230 w 230"/>
                      <a:gd name="T5" fmla="*/ 115 h 115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30" h="115">
                        <a:moveTo>
                          <a:pt x="0" y="115"/>
                        </a:moveTo>
                        <a:cubicBezTo>
                          <a:pt x="38" y="57"/>
                          <a:pt x="77" y="0"/>
                          <a:pt x="115" y="0"/>
                        </a:cubicBezTo>
                        <a:cubicBezTo>
                          <a:pt x="153" y="0"/>
                          <a:pt x="191" y="57"/>
                          <a:pt x="230" y="115"/>
                        </a:cubicBezTo>
                      </a:path>
                    </a:pathLst>
                  </a:custGeom>
                  <a:noFill/>
                  <a:ln w="19050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  <p:sp>
                <p:nvSpPr>
                  <p:cNvPr id="165" name="Freeform 60"/>
                  <p:cNvSpPr>
                    <a:spLocks/>
                  </p:cNvSpPr>
                  <p:nvPr/>
                </p:nvSpPr>
                <p:spPr bwMode="auto">
                  <a:xfrm flipV="1">
                    <a:off x="576" y="2333"/>
                    <a:ext cx="230" cy="115"/>
                  </a:xfrm>
                  <a:custGeom>
                    <a:avLst/>
                    <a:gdLst>
                      <a:gd name="T0" fmla="*/ 0 w 230"/>
                      <a:gd name="T1" fmla="*/ 115 h 115"/>
                      <a:gd name="T2" fmla="*/ 115 w 230"/>
                      <a:gd name="T3" fmla="*/ 0 h 115"/>
                      <a:gd name="T4" fmla="*/ 230 w 230"/>
                      <a:gd name="T5" fmla="*/ 115 h 115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30" h="115">
                        <a:moveTo>
                          <a:pt x="0" y="115"/>
                        </a:moveTo>
                        <a:cubicBezTo>
                          <a:pt x="38" y="57"/>
                          <a:pt x="77" y="0"/>
                          <a:pt x="115" y="0"/>
                        </a:cubicBezTo>
                        <a:cubicBezTo>
                          <a:pt x="153" y="0"/>
                          <a:pt x="191" y="57"/>
                          <a:pt x="230" y="115"/>
                        </a:cubicBezTo>
                      </a:path>
                    </a:pathLst>
                  </a:custGeom>
                  <a:noFill/>
                  <a:ln w="19050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</p:grpSp>
            <p:sp>
              <p:nvSpPr>
                <p:cNvPr id="149" name="Freeform 61"/>
                <p:cNvSpPr>
                  <a:spLocks/>
                </p:cNvSpPr>
                <p:nvPr/>
              </p:nvSpPr>
              <p:spPr bwMode="auto">
                <a:xfrm>
                  <a:off x="681" y="2506"/>
                  <a:ext cx="68" cy="172"/>
                </a:xfrm>
                <a:custGeom>
                  <a:avLst/>
                  <a:gdLst>
                    <a:gd name="T0" fmla="*/ 0 w 68"/>
                    <a:gd name="T1" fmla="*/ 172 h 172"/>
                    <a:gd name="T2" fmla="*/ 58 w 68"/>
                    <a:gd name="T3" fmla="*/ 115 h 172"/>
                    <a:gd name="T4" fmla="*/ 58 w 68"/>
                    <a:gd name="T5" fmla="*/ 57 h 172"/>
                    <a:gd name="T6" fmla="*/ 0 w 68"/>
                    <a:gd name="T7" fmla="*/ 0 h 17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68" h="172">
                      <a:moveTo>
                        <a:pt x="0" y="172"/>
                      </a:moveTo>
                      <a:cubicBezTo>
                        <a:pt x="24" y="153"/>
                        <a:pt x="48" y="134"/>
                        <a:pt x="58" y="115"/>
                      </a:cubicBezTo>
                      <a:cubicBezTo>
                        <a:pt x="68" y="96"/>
                        <a:pt x="68" y="76"/>
                        <a:pt x="58" y="57"/>
                      </a:cubicBezTo>
                      <a:cubicBezTo>
                        <a:pt x="48" y="38"/>
                        <a:pt x="24" y="19"/>
                        <a:pt x="0" y="0"/>
                      </a:cubicBezTo>
                    </a:path>
                  </a:pathLst>
                </a:cu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50" name="Freeform 62"/>
                <p:cNvSpPr>
                  <a:spLocks/>
                </p:cNvSpPr>
                <p:nvPr/>
              </p:nvSpPr>
              <p:spPr bwMode="auto">
                <a:xfrm>
                  <a:off x="681" y="2678"/>
                  <a:ext cx="68" cy="172"/>
                </a:xfrm>
                <a:custGeom>
                  <a:avLst/>
                  <a:gdLst>
                    <a:gd name="T0" fmla="*/ 0 w 68"/>
                    <a:gd name="T1" fmla="*/ 172 h 172"/>
                    <a:gd name="T2" fmla="*/ 58 w 68"/>
                    <a:gd name="T3" fmla="*/ 115 h 172"/>
                    <a:gd name="T4" fmla="*/ 58 w 68"/>
                    <a:gd name="T5" fmla="*/ 57 h 172"/>
                    <a:gd name="T6" fmla="*/ 0 w 68"/>
                    <a:gd name="T7" fmla="*/ 0 h 17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68" h="172">
                      <a:moveTo>
                        <a:pt x="0" y="172"/>
                      </a:moveTo>
                      <a:cubicBezTo>
                        <a:pt x="24" y="153"/>
                        <a:pt x="48" y="134"/>
                        <a:pt x="58" y="115"/>
                      </a:cubicBezTo>
                      <a:cubicBezTo>
                        <a:pt x="68" y="96"/>
                        <a:pt x="68" y="76"/>
                        <a:pt x="58" y="57"/>
                      </a:cubicBezTo>
                      <a:cubicBezTo>
                        <a:pt x="48" y="38"/>
                        <a:pt x="24" y="19"/>
                        <a:pt x="0" y="0"/>
                      </a:cubicBezTo>
                    </a:path>
                  </a:pathLst>
                </a:cu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grpSp>
              <p:nvGrpSpPr>
                <p:cNvPr id="151" name="Group 63"/>
                <p:cNvGrpSpPr>
                  <a:grpSpLocks/>
                </p:cNvGrpSpPr>
                <p:nvPr/>
              </p:nvGrpSpPr>
              <p:grpSpPr bwMode="auto">
                <a:xfrm>
                  <a:off x="451" y="2794"/>
                  <a:ext cx="230" cy="115"/>
                  <a:chOff x="576" y="2218"/>
                  <a:chExt cx="230" cy="230"/>
                </a:xfrm>
              </p:grpSpPr>
              <p:sp>
                <p:nvSpPr>
                  <p:cNvPr id="162" name="Freeform 64"/>
                  <p:cNvSpPr>
                    <a:spLocks/>
                  </p:cNvSpPr>
                  <p:nvPr/>
                </p:nvSpPr>
                <p:spPr bwMode="auto">
                  <a:xfrm>
                    <a:off x="576" y="2218"/>
                    <a:ext cx="230" cy="115"/>
                  </a:xfrm>
                  <a:custGeom>
                    <a:avLst/>
                    <a:gdLst>
                      <a:gd name="T0" fmla="*/ 0 w 230"/>
                      <a:gd name="T1" fmla="*/ 115 h 115"/>
                      <a:gd name="T2" fmla="*/ 115 w 230"/>
                      <a:gd name="T3" fmla="*/ 0 h 115"/>
                      <a:gd name="T4" fmla="*/ 230 w 230"/>
                      <a:gd name="T5" fmla="*/ 115 h 115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30" h="115">
                        <a:moveTo>
                          <a:pt x="0" y="115"/>
                        </a:moveTo>
                        <a:cubicBezTo>
                          <a:pt x="38" y="57"/>
                          <a:pt x="77" y="0"/>
                          <a:pt x="115" y="0"/>
                        </a:cubicBezTo>
                        <a:cubicBezTo>
                          <a:pt x="153" y="0"/>
                          <a:pt x="191" y="57"/>
                          <a:pt x="230" y="115"/>
                        </a:cubicBezTo>
                      </a:path>
                    </a:pathLst>
                  </a:custGeom>
                  <a:noFill/>
                  <a:ln w="19050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  <p:sp>
                <p:nvSpPr>
                  <p:cNvPr id="163" name="Freeform 65"/>
                  <p:cNvSpPr>
                    <a:spLocks/>
                  </p:cNvSpPr>
                  <p:nvPr/>
                </p:nvSpPr>
                <p:spPr bwMode="auto">
                  <a:xfrm flipV="1">
                    <a:off x="576" y="2333"/>
                    <a:ext cx="230" cy="115"/>
                  </a:xfrm>
                  <a:custGeom>
                    <a:avLst/>
                    <a:gdLst>
                      <a:gd name="T0" fmla="*/ 0 w 230"/>
                      <a:gd name="T1" fmla="*/ 115 h 115"/>
                      <a:gd name="T2" fmla="*/ 115 w 230"/>
                      <a:gd name="T3" fmla="*/ 0 h 115"/>
                      <a:gd name="T4" fmla="*/ 230 w 230"/>
                      <a:gd name="T5" fmla="*/ 115 h 115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30" h="115">
                        <a:moveTo>
                          <a:pt x="0" y="115"/>
                        </a:moveTo>
                        <a:cubicBezTo>
                          <a:pt x="38" y="57"/>
                          <a:pt x="77" y="0"/>
                          <a:pt x="115" y="0"/>
                        </a:cubicBezTo>
                        <a:cubicBezTo>
                          <a:pt x="153" y="0"/>
                          <a:pt x="191" y="57"/>
                          <a:pt x="230" y="115"/>
                        </a:cubicBezTo>
                      </a:path>
                    </a:pathLst>
                  </a:custGeom>
                  <a:noFill/>
                  <a:ln w="19050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152" name="Group 66"/>
                <p:cNvGrpSpPr>
                  <a:grpSpLocks/>
                </p:cNvGrpSpPr>
                <p:nvPr/>
              </p:nvGrpSpPr>
              <p:grpSpPr bwMode="auto">
                <a:xfrm>
                  <a:off x="451" y="2967"/>
                  <a:ext cx="230" cy="115"/>
                  <a:chOff x="576" y="2218"/>
                  <a:chExt cx="230" cy="230"/>
                </a:xfrm>
              </p:grpSpPr>
              <p:sp>
                <p:nvSpPr>
                  <p:cNvPr id="160" name="Freeform 67"/>
                  <p:cNvSpPr>
                    <a:spLocks/>
                  </p:cNvSpPr>
                  <p:nvPr/>
                </p:nvSpPr>
                <p:spPr bwMode="auto">
                  <a:xfrm>
                    <a:off x="576" y="2218"/>
                    <a:ext cx="230" cy="115"/>
                  </a:xfrm>
                  <a:custGeom>
                    <a:avLst/>
                    <a:gdLst>
                      <a:gd name="T0" fmla="*/ 0 w 230"/>
                      <a:gd name="T1" fmla="*/ 115 h 115"/>
                      <a:gd name="T2" fmla="*/ 115 w 230"/>
                      <a:gd name="T3" fmla="*/ 0 h 115"/>
                      <a:gd name="T4" fmla="*/ 230 w 230"/>
                      <a:gd name="T5" fmla="*/ 115 h 115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30" h="115">
                        <a:moveTo>
                          <a:pt x="0" y="115"/>
                        </a:moveTo>
                        <a:cubicBezTo>
                          <a:pt x="38" y="57"/>
                          <a:pt x="77" y="0"/>
                          <a:pt x="115" y="0"/>
                        </a:cubicBezTo>
                        <a:cubicBezTo>
                          <a:pt x="153" y="0"/>
                          <a:pt x="191" y="57"/>
                          <a:pt x="230" y="115"/>
                        </a:cubicBezTo>
                      </a:path>
                    </a:pathLst>
                  </a:custGeom>
                  <a:noFill/>
                  <a:ln w="19050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  <p:sp>
                <p:nvSpPr>
                  <p:cNvPr id="161" name="Freeform 68"/>
                  <p:cNvSpPr>
                    <a:spLocks/>
                  </p:cNvSpPr>
                  <p:nvPr/>
                </p:nvSpPr>
                <p:spPr bwMode="auto">
                  <a:xfrm flipV="1">
                    <a:off x="576" y="2333"/>
                    <a:ext cx="230" cy="115"/>
                  </a:xfrm>
                  <a:custGeom>
                    <a:avLst/>
                    <a:gdLst>
                      <a:gd name="T0" fmla="*/ 0 w 230"/>
                      <a:gd name="T1" fmla="*/ 115 h 115"/>
                      <a:gd name="T2" fmla="*/ 115 w 230"/>
                      <a:gd name="T3" fmla="*/ 0 h 115"/>
                      <a:gd name="T4" fmla="*/ 230 w 230"/>
                      <a:gd name="T5" fmla="*/ 115 h 115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30" h="115">
                        <a:moveTo>
                          <a:pt x="0" y="115"/>
                        </a:moveTo>
                        <a:cubicBezTo>
                          <a:pt x="38" y="57"/>
                          <a:pt x="77" y="0"/>
                          <a:pt x="115" y="0"/>
                        </a:cubicBezTo>
                        <a:cubicBezTo>
                          <a:pt x="153" y="0"/>
                          <a:pt x="191" y="57"/>
                          <a:pt x="230" y="115"/>
                        </a:cubicBezTo>
                      </a:path>
                    </a:pathLst>
                  </a:custGeom>
                  <a:noFill/>
                  <a:ln w="19050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</p:grpSp>
            <p:sp>
              <p:nvSpPr>
                <p:cNvPr id="153" name="Freeform 69"/>
                <p:cNvSpPr>
                  <a:spLocks/>
                </p:cNvSpPr>
                <p:nvPr/>
              </p:nvSpPr>
              <p:spPr bwMode="auto">
                <a:xfrm>
                  <a:off x="681" y="2851"/>
                  <a:ext cx="68" cy="172"/>
                </a:xfrm>
                <a:custGeom>
                  <a:avLst/>
                  <a:gdLst>
                    <a:gd name="T0" fmla="*/ 0 w 68"/>
                    <a:gd name="T1" fmla="*/ 172 h 172"/>
                    <a:gd name="T2" fmla="*/ 58 w 68"/>
                    <a:gd name="T3" fmla="*/ 115 h 172"/>
                    <a:gd name="T4" fmla="*/ 58 w 68"/>
                    <a:gd name="T5" fmla="*/ 57 h 172"/>
                    <a:gd name="T6" fmla="*/ 0 w 68"/>
                    <a:gd name="T7" fmla="*/ 0 h 17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68" h="172">
                      <a:moveTo>
                        <a:pt x="0" y="172"/>
                      </a:moveTo>
                      <a:cubicBezTo>
                        <a:pt x="24" y="153"/>
                        <a:pt x="48" y="134"/>
                        <a:pt x="58" y="115"/>
                      </a:cubicBezTo>
                      <a:cubicBezTo>
                        <a:pt x="68" y="96"/>
                        <a:pt x="68" y="76"/>
                        <a:pt x="58" y="57"/>
                      </a:cubicBezTo>
                      <a:cubicBezTo>
                        <a:pt x="48" y="38"/>
                        <a:pt x="24" y="19"/>
                        <a:pt x="0" y="0"/>
                      </a:cubicBezTo>
                    </a:path>
                  </a:pathLst>
                </a:cu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grpSp>
              <p:nvGrpSpPr>
                <p:cNvPr id="154" name="Group 70"/>
                <p:cNvGrpSpPr>
                  <a:grpSpLocks/>
                </p:cNvGrpSpPr>
                <p:nvPr/>
              </p:nvGrpSpPr>
              <p:grpSpPr bwMode="auto">
                <a:xfrm>
                  <a:off x="576" y="2160"/>
                  <a:ext cx="135" cy="345"/>
                  <a:chOff x="576" y="2160"/>
                  <a:chExt cx="135" cy="345"/>
                </a:xfrm>
              </p:grpSpPr>
              <p:sp>
                <p:nvSpPr>
                  <p:cNvPr id="158" name="Freeform 71"/>
                  <p:cNvSpPr>
                    <a:spLocks/>
                  </p:cNvSpPr>
                  <p:nvPr/>
                </p:nvSpPr>
                <p:spPr bwMode="auto">
                  <a:xfrm>
                    <a:off x="579" y="2333"/>
                    <a:ext cx="132" cy="172"/>
                  </a:xfrm>
                  <a:custGeom>
                    <a:avLst/>
                    <a:gdLst>
                      <a:gd name="T0" fmla="*/ 0 w 132"/>
                      <a:gd name="T1" fmla="*/ 0 h 172"/>
                      <a:gd name="T2" fmla="*/ 115 w 132"/>
                      <a:gd name="T3" fmla="*/ 57 h 172"/>
                      <a:gd name="T4" fmla="*/ 99 w 132"/>
                      <a:gd name="T5" fmla="*/ 172 h 17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32" h="172">
                        <a:moveTo>
                          <a:pt x="0" y="0"/>
                        </a:moveTo>
                        <a:cubicBezTo>
                          <a:pt x="49" y="14"/>
                          <a:pt x="98" y="28"/>
                          <a:pt x="115" y="57"/>
                        </a:cubicBezTo>
                        <a:cubicBezTo>
                          <a:pt x="132" y="86"/>
                          <a:pt x="115" y="129"/>
                          <a:pt x="99" y="172"/>
                        </a:cubicBezTo>
                      </a:path>
                    </a:pathLst>
                  </a:custGeom>
                  <a:noFill/>
                  <a:ln w="19050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  <p:sp>
                <p:nvSpPr>
                  <p:cNvPr id="159" name="Line 72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576" y="2160"/>
                    <a:ext cx="0" cy="173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155" name="Group 73"/>
                <p:cNvGrpSpPr>
                  <a:grpSpLocks/>
                </p:cNvGrpSpPr>
                <p:nvPr/>
              </p:nvGrpSpPr>
              <p:grpSpPr bwMode="auto">
                <a:xfrm flipV="1">
                  <a:off x="576" y="3024"/>
                  <a:ext cx="135" cy="345"/>
                  <a:chOff x="576" y="2160"/>
                  <a:chExt cx="135" cy="345"/>
                </a:xfrm>
              </p:grpSpPr>
              <p:sp>
                <p:nvSpPr>
                  <p:cNvPr id="156" name="Freeform 74"/>
                  <p:cNvSpPr>
                    <a:spLocks/>
                  </p:cNvSpPr>
                  <p:nvPr/>
                </p:nvSpPr>
                <p:spPr bwMode="auto">
                  <a:xfrm>
                    <a:off x="579" y="2333"/>
                    <a:ext cx="132" cy="172"/>
                  </a:xfrm>
                  <a:custGeom>
                    <a:avLst/>
                    <a:gdLst>
                      <a:gd name="T0" fmla="*/ 0 w 132"/>
                      <a:gd name="T1" fmla="*/ 0 h 172"/>
                      <a:gd name="T2" fmla="*/ 115 w 132"/>
                      <a:gd name="T3" fmla="*/ 57 h 172"/>
                      <a:gd name="T4" fmla="*/ 99 w 132"/>
                      <a:gd name="T5" fmla="*/ 172 h 17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32" h="172">
                        <a:moveTo>
                          <a:pt x="0" y="0"/>
                        </a:moveTo>
                        <a:cubicBezTo>
                          <a:pt x="49" y="14"/>
                          <a:pt x="98" y="28"/>
                          <a:pt x="115" y="57"/>
                        </a:cubicBezTo>
                        <a:cubicBezTo>
                          <a:pt x="132" y="86"/>
                          <a:pt x="115" y="129"/>
                          <a:pt x="99" y="172"/>
                        </a:cubicBezTo>
                      </a:path>
                    </a:pathLst>
                  </a:custGeom>
                  <a:noFill/>
                  <a:ln w="19050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  <p:sp>
                <p:nvSpPr>
                  <p:cNvPr id="157" name="Line 75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576" y="2160"/>
                    <a:ext cx="0" cy="173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</p:grpSp>
          </p:grpSp>
          <p:sp>
            <p:nvSpPr>
              <p:cNvPr id="146" name="Freeform 337"/>
              <p:cNvSpPr>
                <a:spLocks/>
              </p:cNvSpPr>
              <p:nvPr/>
            </p:nvSpPr>
            <p:spPr bwMode="auto">
              <a:xfrm>
                <a:off x="3398" y="1757"/>
                <a:ext cx="116" cy="518"/>
              </a:xfrm>
              <a:custGeom>
                <a:avLst/>
                <a:gdLst>
                  <a:gd name="T0" fmla="*/ 58 w 116"/>
                  <a:gd name="T1" fmla="*/ 0 h 518"/>
                  <a:gd name="T2" fmla="*/ 0 w 116"/>
                  <a:gd name="T3" fmla="*/ 230 h 518"/>
                  <a:gd name="T4" fmla="*/ 58 w 116"/>
                  <a:gd name="T5" fmla="*/ 518 h 518"/>
                  <a:gd name="T6" fmla="*/ 116 w 116"/>
                  <a:gd name="T7" fmla="*/ 230 h 518"/>
                  <a:gd name="T8" fmla="*/ 58 w 116"/>
                  <a:gd name="T9" fmla="*/ 0 h 5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6" h="518">
                    <a:moveTo>
                      <a:pt x="58" y="0"/>
                    </a:moveTo>
                    <a:lnTo>
                      <a:pt x="0" y="230"/>
                    </a:lnTo>
                    <a:lnTo>
                      <a:pt x="58" y="518"/>
                    </a:lnTo>
                    <a:lnTo>
                      <a:pt x="116" y="230"/>
                    </a:lnTo>
                    <a:lnTo>
                      <a:pt x="58" y="0"/>
                    </a:lnTo>
                    <a:close/>
                  </a:path>
                </a:pathLst>
              </a:cu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grpSp>
          <p:nvGrpSpPr>
            <p:cNvPr id="168" name="Group 346"/>
            <p:cNvGrpSpPr>
              <a:grpSpLocks/>
            </p:cNvGrpSpPr>
            <p:nvPr/>
          </p:nvGrpSpPr>
          <p:grpSpPr bwMode="auto">
            <a:xfrm>
              <a:off x="2486142" y="6387410"/>
              <a:ext cx="227806" cy="379237"/>
              <a:chOff x="5012" y="1930"/>
              <a:chExt cx="346" cy="576"/>
            </a:xfrm>
          </p:grpSpPr>
          <p:grpSp>
            <p:nvGrpSpPr>
              <p:cNvPr id="169" name="Group 135"/>
              <p:cNvGrpSpPr>
                <a:grpSpLocks/>
              </p:cNvGrpSpPr>
              <p:nvPr/>
            </p:nvGrpSpPr>
            <p:grpSpPr bwMode="auto">
              <a:xfrm>
                <a:off x="5012" y="1930"/>
                <a:ext cx="346" cy="576"/>
                <a:chOff x="2707" y="2736"/>
                <a:chExt cx="346" cy="576"/>
              </a:xfrm>
            </p:grpSpPr>
            <p:sp>
              <p:nvSpPr>
                <p:cNvPr id="171" name="Line 136"/>
                <p:cNvSpPr>
                  <a:spLocks noChangeShapeType="1"/>
                </p:cNvSpPr>
                <p:nvPr/>
              </p:nvSpPr>
              <p:spPr bwMode="auto">
                <a:xfrm>
                  <a:off x="2707" y="2966"/>
                  <a:ext cx="346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/>
                  <a:endParaRPr lang="en-GB"/>
                </a:p>
              </p:txBody>
            </p:sp>
            <p:sp>
              <p:nvSpPr>
                <p:cNvPr id="172" name="Line 137"/>
                <p:cNvSpPr>
                  <a:spLocks noChangeShapeType="1"/>
                </p:cNvSpPr>
                <p:nvPr/>
              </p:nvSpPr>
              <p:spPr bwMode="auto">
                <a:xfrm>
                  <a:off x="2880" y="2736"/>
                  <a:ext cx="0" cy="23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/>
                  <a:endParaRPr lang="en-GB"/>
                </a:p>
              </p:txBody>
            </p:sp>
            <p:sp>
              <p:nvSpPr>
                <p:cNvPr id="173" name="Line 138"/>
                <p:cNvSpPr>
                  <a:spLocks noChangeShapeType="1"/>
                </p:cNvSpPr>
                <p:nvPr/>
              </p:nvSpPr>
              <p:spPr bwMode="auto">
                <a:xfrm>
                  <a:off x="2880" y="3024"/>
                  <a:ext cx="0" cy="288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/>
                  <a:endParaRPr lang="en-GB"/>
                </a:p>
              </p:txBody>
            </p:sp>
            <p:sp>
              <p:nvSpPr>
                <p:cNvPr id="174" name="Line 139"/>
                <p:cNvSpPr>
                  <a:spLocks noChangeShapeType="1"/>
                </p:cNvSpPr>
                <p:nvPr/>
              </p:nvSpPr>
              <p:spPr bwMode="auto">
                <a:xfrm>
                  <a:off x="2707" y="3024"/>
                  <a:ext cx="346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/>
                  <a:endParaRPr lang="en-GB"/>
                </a:p>
              </p:txBody>
            </p:sp>
          </p:grpSp>
          <p:sp>
            <p:nvSpPr>
              <p:cNvPr id="170" name="Freeform 345"/>
              <p:cNvSpPr>
                <a:spLocks/>
              </p:cNvSpPr>
              <p:nvPr/>
            </p:nvSpPr>
            <p:spPr bwMode="auto">
              <a:xfrm>
                <a:off x="5069" y="1930"/>
                <a:ext cx="230" cy="576"/>
              </a:xfrm>
              <a:custGeom>
                <a:avLst/>
                <a:gdLst>
                  <a:gd name="T0" fmla="*/ 115 w 230"/>
                  <a:gd name="T1" fmla="*/ 0 h 576"/>
                  <a:gd name="T2" fmla="*/ 0 w 230"/>
                  <a:gd name="T3" fmla="*/ 230 h 576"/>
                  <a:gd name="T4" fmla="*/ 115 w 230"/>
                  <a:gd name="T5" fmla="*/ 576 h 576"/>
                  <a:gd name="T6" fmla="*/ 230 w 230"/>
                  <a:gd name="T7" fmla="*/ 230 h 576"/>
                  <a:gd name="T8" fmla="*/ 115 w 230"/>
                  <a:gd name="T9" fmla="*/ 0 h 57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30" h="576">
                    <a:moveTo>
                      <a:pt x="115" y="0"/>
                    </a:moveTo>
                    <a:lnTo>
                      <a:pt x="0" y="230"/>
                    </a:lnTo>
                    <a:lnTo>
                      <a:pt x="115" y="576"/>
                    </a:lnTo>
                    <a:lnTo>
                      <a:pt x="230" y="230"/>
                    </a:lnTo>
                    <a:lnTo>
                      <a:pt x="115" y="0"/>
                    </a:lnTo>
                    <a:close/>
                  </a:path>
                </a:pathLst>
              </a:cu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r"/>
                <a:endParaRPr lang="en-GB"/>
              </a:p>
            </p:txBody>
          </p:sp>
        </p:grpSp>
        <p:sp>
          <p:nvSpPr>
            <p:cNvPr id="1024" name="Freeform 1023"/>
            <p:cNvSpPr/>
            <p:nvPr/>
          </p:nvSpPr>
          <p:spPr>
            <a:xfrm>
              <a:off x="2382520" y="6096000"/>
              <a:ext cx="314960" cy="294640"/>
            </a:xfrm>
            <a:custGeom>
              <a:avLst/>
              <a:gdLst>
                <a:gd name="connsiteX0" fmla="*/ 314960 w 314960"/>
                <a:gd name="connsiteY0" fmla="*/ 294640 h 294640"/>
                <a:gd name="connsiteX1" fmla="*/ 0 w 314960"/>
                <a:gd name="connsiteY1" fmla="*/ 294640 h 294640"/>
                <a:gd name="connsiteX2" fmla="*/ 0 w 314960"/>
                <a:gd name="connsiteY2" fmla="*/ 0 h 294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4960" h="294640">
                  <a:moveTo>
                    <a:pt x="314960" y="294640"/>
                  </a:moveTo>
                  <a:lnTo>
                    <a:pt x="0" y="294640"/>
                  </a:lnTo>
                  <a:lnTo>
                    <a:pt x="0" y="0"/>
                  </a:lnTo>
                </a:path>
              </a:pathLst>
            </a:cu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1028" name="Picture 4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28" t="886" r="8312" b="10668"/>
          <a:stretch/>
        </p:blipFill>
        <p:spPr bwMode="auto">
          <a:xfrm>
            <a:off x="145374" y="820762"/>
            <a:ext cx="8722623" cy="441447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</p:pic>
      <p:sp>
        <p:nvSpPr>
          <p:cNvPr id="1029" name="Rectangle 1028"/>
          <p:cNvSpPr/>
          <p:nvPr/>
        </p:nvSpPr>
        <p:spPr>
          <a:xfrm>
            <a:off x="251520" y="5189930"/>
            <a:ext cx="4152351" cy="1622762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4021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4624"/>
            <a:ext cx="9252520" cy="1403648"/>
          </a:xfrm>
        </p:spPr>
        <p:txBody>
          <a:bodyPr>
            <a:noAutofit/>
          </a:bodyPr>
          <a:lstStyle/>
          <a:p>
            <a:r>
              <a:rPr lang="en-US" sz="3600" dirty="0" smtClean="0"/>
              <a:t>Using the active cross-over to flatten speaker response</a:t>
            </a:r>
            <a:br>
              <a:rPr lang="en-US" sz="3600" dirty="0" smtClean="0"/>
            </a:br>
            <a:endParaRPr lang="en-GB" sz="3600" dirty="0"/>
          </a:p>
        </p:txBody>
      </p:sp>
      <p:sp>
        <p:nvSpPr>
          <p:cNvPr id="5" name="TextBox 4"/>
          <p:cNvSpPr txBox="1"/>
          <p:nvPr/>
        </p:nvSpPr>
        <p:spPr>
          <a:xfrm>
            <a:off x="568944" y="6021288"/>
            <a:ext cx="5328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FIR correction only works well for high frequencies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30" r="8666" b="2329"/>
          <a:stretch/>
        </p:blipFill>
        <p:spPr bwMode="auto">
          <a:xfrm>
            <a:off x="179512" y="1124744"/>
            <a:ext cx="8670035" cy="4896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80857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Conclusion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Implemented and improved swept-sine technique for PC soundcards</a:t>
            </a:r>
          </a:p>
          <a:p>
            <a:r>
              <a:rPr lang="en-US" dirty="0" smtClean="0"/>
              <a:t>Comparison of active and passive cross-overs</a:t>
            </a:r>
          </a:p>
          <a:p>
            <a:r>
              <a:rPr lang="en-GB" dirty="0" smtClean="0"/>
              <a:t>Active cross-over offer the same baseline performance, plus linear phase and ability to equalise high frequencies</a:t>
            </a:r>
          </a:p>
          <a:p>
            <a:endParaRPr lang="en-GB" dirty="0" smtClean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82321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28575"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190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9913</TotalTime>
  <Words>638</Words>
  <Application>Microsoft Office PowerPoint</Application>
  <PresentationFormat>On-screen Show (4:3)</PresentationFormat>
  <Paragraphs>162</Paragraphs>
  <Slides>14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Dmitry Ignatyev  Supervisor: Benn Thomsen</vt:lpstr>
      <vt:lpstr>PowerPoint Presentation</vt:lpstr>
      <vt:lpstr>PowerPoint Presentation</vt:lpstr>
      <vt:lpstr>Room response correction</vt:lpstr>
      <vt:lpstr>Characterisation of the impulse response</vt:lpstr>
      <vt:lpstr>PowerPoint Presentation</vt:lpstr>
      <vt:lpstr>System realisation</vt:lpstr>
      <vt:lpstr>PowerPoint Presentation</vt:lpstr>
      <vt:lpstr>Design of the digital cross-over</vt:lpstr>
      <vt:lpstr>Active vs. passive cross-over</vt:lpstr>
      <vt:lpstr>Speaker driver characterisation</vt:lpstr>
      <vt:lpstr>Loudspeaker response</vt:lpstr>
      <vt:lpstr>Using the active cross-over to flatten speaker response 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Dmitry</dc:creator>
  <cp:lastModifiedBy>Dmitry</cp:lastModifiedBy>
  <cp:revision>104</cp:revision>
  <dcterms:created xsi:type="dcterms:W3CDTF">2011-03-09T16:02:06Z</dcterms:created>
  <dcterms:modified xsi:type="dcterms:W3CDTF">2011-03-21T00:57:54Z</dcterms:modified>
</cp:coreProperties>
</file>