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4321175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snapVertSplitter="1" vertBarState="minimized" horzBarState="maximized">
    <p:restoredLeft sz="15620"/>
    <p:restoredTop sz="94660"/>
  </p:normalViewPr>
  <p:slideViewPr>
    <p:cSldViewPr>
      <p:cViewPr>
        <p:scale>
          <a:sx n="125" d="100"/>
          <a:sy n="125" d="100"/>
        </p:scale>
        <p:origin x="-138" y="-624"/>
      </p:cViewPr>
      <p:guideLst>
        <p:guide orient="horz" pos="1361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36868100" cy="368681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42368"/>
            <a:ext cx="7772400" cy="92625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448667"/>
            <a:ext cx="6400800" cy="1104301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3839B-1E1E-4BC2-9C46-6E876F050780}" type="datetimeFigureOut">
              <a:rPr lang="en-US" smtClean="0"/>
              <a:pPr/>
              <a:t>9/28/2010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EBF34-5D63-4FF5-859A-DF68117A3DE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3839B-1E1E-4BC2-9C46-6E876F050780}" type="datetimeFigureOut">
              <a:rPr lang="en-US" smtClean="0"/>
              <a:pPr/>
              <a:t>9/28/2010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EBF34-5D63-4FF5-859A-DF68117A3DE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776756"/>
            <a:ext cx="7772400" cy="858233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1831500"/>
            <a:ext cx="7772400" cy="94525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3839B-1E1E-4BC2-9C46-6E876F050780}" type="datetimeFigureOut">
              <a:rPr lang="en-US" smtClean="0"/>
              <a:pPr/>
              <a:t>9/28/2010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EBF34-5D63-4FF5-859A-DF68117A3DE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008275"/>
            <a:ext cx="4038600" cy="285177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008275"/>
            <a:ext cx="4038600" cy="285177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3839B-1E1E-4BC2-9C46-6E876F050780}" type="datetimeFigureOut">
              <a:rPr lang="en-US" smtClean="0"/>
              <a:pPr/>
              <a:t>9/28/2010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EBF34-5D63-4FF5-859A-DF68117A3DE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967264"/>
            <a:ext cx="4040188" cy="40311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370373"/>
            <a:ext cx="4040188" cy="248967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31" y="967264"/>
            <a:ext cx="4041775" cy="40311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31" y="1370373"/>
            <a:ext cx="4041775" cy="248967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3839B-1E1E-4BC2-9C46-6E876F050780}" type="datetimeFigureOut">
              <a:rPr lang="en-US" smtClean="0"/>
              <a:pPr/>
              <a:t>9/28/2010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EBF34-5D63-4FF5-859A-DF68117A3DE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3839B-1E1E-4BC2-9C46-6E876F050780}" type="datetimeFigureOut">
              <a:rPr lang="en-US" smtClean="0"/>
              <a:pPr/>
              <a:t>9/28/2010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EBF34-5D63-4FF5-859A-DF68117A3DE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3839B-1E1E-4BC2-9C46-6E876F050780}" type="datetimeFigureOut">
              <a:rPr lang="en-US" smtClean="0"/>
              <a:pPr/>
              <a:t>9/28/2010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EBF34-5D63-4FF5-859A-DF68117A3DE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6" y="172047"/>
            <a:ext cx="3008313" cy="7322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72048"/>
            <a:ext cx="5111750" cy="368800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6" y="904247"/>
            <a:ext cx="3008313" cy="295580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3839B-1E1E-4BC2-9C46-6E876F050780}" type="datetimeFigureOut">
              <a:rPr lang="en-US" smtClean="0"/>
              <a:pPr/>
              <a:t>9/28/2010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EBF34-5D63-4FF5-859A-DF68117A3DE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024824"/>
            <a:ext cx="5486400" cy="35709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386105"/>
            <a:ext cx="5486400" cy="259270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3381921"/>
            <a:ext cx="5486400" cy="50713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3839B-1E1E-4BC2-9C46-6E876F050780}" type="datetimeFigureOut">
              <a:rPr lang="en-US" smtClean="0"/>
              <a:pPr/>
              <a:t>9/28/2010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EBF34-5D63-4FF5-859A-DF68117A3DE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3839B-1E1E-4BC2-9C46-6E876F050780}" type="datetimeFigureOut">
              <a:rPr lang="en-US" smtClean="0"/>
              <a:pPr/>
              <a:t>9/28/2010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EBF34-5D63-4FF5-859A-DF68117A3DE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73049"/>
            <a:ext cx="2057400" cy="368700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73049"/>
            <a:ext cx="6019800" cy="368700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3839B-1E1E-4BC2-9C46-6E876F050780}" type="datetimeFigureOut">
              <a:rPr lang="en-US" smtClean="0"/>
              <a:pPr/>
              <a:t>9/28/2010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EBF34-5D63-4FF5-859A-DF68117A3DE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73049"/>
            <a:ext cx="8229600" cy="7201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008275"/>
            <a:ext cx="8229600" cy="28517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005090"/>
            <a:ext cx="2133600" cy="2300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13839B-1E1E-4BC2-9C46-6E876F050780}" type="datetimeFigureOut">
              <a:rPr lang="en-US" smtClean="0"/>
              <a:pPr/>
              <a:t>9/28/2010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005090"/>
            <a:ext cx="2895600" cy="2300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005090"/>
            <a:ext cx="2133600" cy="2300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2EBF34-5D63-4FF5-859A-DF68117A3DE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0" name="Rectangle 52"/>
          <p:cNvSpPr>
            <a:spLocks noChangeArrowheads="1"/>
          </p:cNvSpPr>
          <p:nvPr/>
        </p:nvSpPr>
        <p:spPr bwMode="auto">
          <a:xfrm>
            <a:off x="5" y="0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pSp>
        <p:nvGrpSpPr>
          <p:cNvPr id="215" name="Group 214"/>
          <p:cNvGrpSpPr/>
          <p:nvPr/>
        </p:nvGrpSpPr>
        <p:grpSpPr>
          <a:xfrm>
            <a:off x="209782" y="225398"/>
            <a:ext cx="8934218" cy="3943403"/>
            <a:chOff x="209782" y="617500"/>
            <a:chExt cx="8080819" cy="3477358"/>
          </a:xfrm>
        </p:grpSpPr>
        <p:sp>
          <p:nvSpPr>
            <p:cNvPr id="216" name="Text Box 50"/>
            <p:cNvSpPr txBox="1">
              <a:spLocks noChangeArrowheads="1"/>
            </p:cNvSpPr>
            <p:nvPr/>
          </p:nvSpPr>
          <p:spPr bwMode="auto">
            <a:xfrm>
              <a:off x="209782" y="1223879"/>
              <a:ext cx="852488" cy="47724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Calibri" pitchFamily="34" charset="0"/>
                  <a:cs typeface="Times New Roman" pitchFamily="18" charset="0"/>
                </a:rPr>
                <a:t>Audio or test signal</a:t>
              </a:r>
              <a:endPara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217" name="Text Box 49"/>
            <p:cNvSpPr txBox="1">
              <a:spLocks noChangeArrowheads="1"/>
            </p:cNvSpPr>
            <p:nvPr/>
          </p:nvSpPr>
          <p:spPr bwMode="auto">
            <a:xfrm>
              <a:off x="1139778" y="1092169"/>
              <a:ext cx="1224916" cy="73920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Calibri" pitchFamily="34" charset="0"/>
                  <a:cs typeface="Times New Roman" pitchFamily="18" charset="0"/>
                </a:rPr>
                <a:t>Frequency correction and </a:t>
              </a:r>
              <a:endParaRPr kumimoji="0" lang="en-US" sz="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Calibri" pitchFamily="34" charset="0"/>
                  <a:cs typeface="Times New Roman" pitchFamily="18" charset="0"/>
                </a:rPr>
                <a:t>Time correction</a:t>
              </a:r>
              <a:endPara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218" name="Text Box 48"/>
            <p:cNvSpPr txBox="1">
              <a:spLocks noChangeArrowheads="1"/>
            </p:cNvSpPr>
            <p:nvPr/>
          </p:nvSpPr>
          <p:spPr bwMode="auto">
            <a:xfrm>
              <a:off x="2454249" y="1274732"/>
              <a:ext cx="859155" cy="42294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Calibri" pitchFamily="34" charset="0"/>
                  <a:cs typeface="Times New Roman" pitchFamily="18" charset="0"/>
                </a:rPr>
                <a:t>Crossover filter</a:t>
              </a:r>
              <a:endPara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219" name="Text Box 15"/>
            <p:cNvSpPr txBox="1">
              <a:spLocks noChangeArrowheads="1"/>
            </p:cNvSpPr>
            <p:nvPr/>
          </p:nvSpPr>
          <p:spPr bwMode="auto">
            <a:xfrm>
              <a:off x="6434163" y="690527"/>
              <a:ext cx="826770" cy="193518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sz="900" dirty="0">
                <a:latin typeface="Arial" pitchFamily="34" charset="0"/>
              </a:endParaRP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sz="900" dirty="0">
                <a:latin typeface="Arial" pitchFamily="34" charset="0"/>
              </a:endParaRP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9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</a:rPr>
                <a:t>Room distortion</a:t>
              </a:r>
              <a:endPara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Calibri" pitchFamily="34" charset="0"/>
                  <a:cs typeface="Times New Roman" pitchFamily="18" charset="0"/>
                </a:rPr>
                <a:t>C</a:t>
              </a:r>
              <a:endPara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220" name="Text Box 10"/>
            <p:cNvSpPr txBox="1">
              <a:spLocks noChangeArrowheads="1"/>
            </p:cNvSpPr>
            <p:nvPr/>
          </p:nvSpPr>
          <p:spPr bwMode="auto">
            <a:xfrm>
              <a:off x="3732205" y="3429001"/>
              <a:ext cx="1921193" cy="66585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9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</a:rPr>
                <a:t>Frequency and time domain compensation</a:t>
              </a:r>
              <a:endPara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Calibri" pitchFamily="34" charset="0"/>
                  <a:cs typeface="Times New Roman" pitchFamily="18" charset="0"/>
                </a:rPr>
                <a:t>C</a:t>
              </a:r>
              <a:r>
                <a:rPr kumimoji="0" lang="en-US" sz="1100" b="1" i="0" u="none" strike="noStrike" cap="none" normalizeH="0" baseline="3000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Calibri" pitchFamily="34" charset="0"/>
                  <a:cs typeface="Times New Roman" pitchFamily="18" charset="0"/>
                </a:rPr>
                <a:t>-1</a:t>
              </a:r>
              <a:endPara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221" name="Text Box 2"/>
            <p:cNvSpPr txBox="1">
              <a:spLocks noChangeArrowheads="1"/>
            </p:cNvSpPr>
            <p:nvPr/>
          </p:nvSpPr>
          <p:spPr bwMode="auto">
            <a:xfrm>
              <a:off x="7529553" y="1165196"/>
              <a:ext cx="761048" cy="26862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9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Calibri" pitchFamily="34" charset="0"/>
                  <a:cs typeface="Times New Roman" pitchFamily="18" charset="0"/>
                </a:rPr>
                <a:t>Microphone</a:t>
              </a:r>
              <a:endPara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pic>
          <p:nvPicPr>
            <p:cNvPr id="222" name="Picture 66" descr="Loud Speaker Clip Art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6069037" y="800066"/>
              <a:ext cx="259045" cy="255591"/>
            </a:xfrm>
            <a:prstGeom prst="rect">
              <a:avLst/>
            </a:prstGeom>
            <a:noFill/>
          </p:spPr>
        </p:pic>
        <p:grpSp>
          <p:nvGrpSpPr>
            <p:cNvPr id="223" name="Group 103"/>
            <p:cNvGrpSpPr/>
            <p:nvPr/>
          </p:nvGrpSpPr>
          <p:grpSpPr>
            <a:xfrm>
              <a:off x="3586153" y="617500"/>
              <a:ext cx="2397809" cy="1162155"/>
              <a:chOff x="3634711" y="860096"/>
              <a:chExt cx="2397809" cy="1162154"/>
            </a:xfrm>
          </p:grpSpPr>
          <p:sp>
            <p:nvSpPr>
              <p:cNvPr id="248" name="Rectangle 47"/>
              <p:cNvSpPr>
                <a:spLocks noChangeArrowheads="1"/>
              </p:cNvSpPr>
              <p:nvPr/>
            </p:nvSpPr>
            <p:spPr bwMode="auto">
              <a:xfrm>
                <a:off x="3634711" y="860096"/>
                <a:ext cx="2397809" cy="1162154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49" name="Text Box 46"/>
              <p:cNvSpPr txBox="1">
                <a:spLocks noChangeArrowheads="1"/>
              </p:cNvSpPr>
              <p:nvPr/>
            </p:nvSpPr>
            <p:spPr bwMode="auto">
              <a:xfrm>
                <a:off x="3695688" y="982629"/>
                <a:ext cx="825818" cy="422948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100" b="0" i="0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  <a:ea typeface="Calibri" pitchFamily="34" charset="0"/>
                    <a:cs typeface="Times New Roman" pitchFamily="18" charset="0"/>
                  </a:rPr>
                  <a:t>PWM modulator</a:t>
                </a:r>
                <a:endParaRPr kumimoji="0" lang="en-US" sz="18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</a:endParaRPr>
              </a:p>
            </p:txBody>
          </p:sp>
          <p:sp>
            <p:nvSpPr>
              <p:cNvPr id="250" name="Text Box 45"/>
              <p:cNvSpPr txBox="1">
                <a:spLocks noChangeArrowheads="1"/>
              </p:cNvSpPr>
              <p:nvPr/>
            </p:nvSpPr>
            <p:spPr bwMode="auto">
              <a:xfrm>
                <a:off x="4608513" y="909603"/>
                <a:ext cx="784860" cy="61537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100" b="0" i="0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  <a:ea typeface="Calibri" pitchFamily="34" charset="0"/>
                    <a:cs typeface="Times New Roman" pitchFamily="18" charset="0"/>
                  </a:rPr>
                  <a:t>MOSFET output stage</a:t>
                </a:r>
                <a:endParaRPr kumimoji="0" lang="en-US" sz="18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</a:endParaRPr>
              </a:p>
            </p:txBody>
          </p:sp>
          <p:sp>
            <p:nvSpPr>
              <p:cNvPr id="251" name="Text Box 44"/>
              <p:cNvSpPr txBox="1">
                <a:spLocks noChangeArrowheads="1"/>
              </p:cNvSpPr>
              <p:nvPr/>
            </p:nvSpPr>
            <p:spPr bwMode="auto">
              <a:xfrm>
                <a:off x="3999841" y="1553843"/>
                <a:ext cx="881063" cy="436284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100" b="0" i="0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  <a:ea typeface="Calibri" pitchFamily="34" charset="0"/>
                    <a:cs typeface="Times New Roman" pitchFamily="18" charset="0"/>
                  </a:rPr>
                  <a:t>High speed feedback</a:t>
                </a:r>
                <a:endParaRPr kumimoji="0" lang="en-US" sz="18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</a:endParaRPr>
              </a:p>
            </p:txBody>
          </p:sp>
          <p:sp>
            <p:nvSpPr>
              <p:cNvPr id="252" name="Text Box 46"/>
              <p:cNvSpPr txBox="1">
                <a:spLocks noChangeArrowheads="1"/>
              </p:cNvSpPr>
              <p:nvPr/>
            </p:nvSpPr>
            <p:spPr bwMode="auto">
              <a:xfrm>
                <a:off x="5484825" y="982629"/>
                <a:ext cx="474669" cy="36513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100" b="0" i="0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  <a:ea typeface="Calibri" pitchFamily="34" charset="0"/>
                    <a:cs typeface="Times New Roman" pitchFamily="18" charset="0"/>
                  </a:rPr>
                  <a:t>LC filter</a:t>
                </a:r>
                <a:endParaRPr kumimoji="0" lang="en-US" sz="18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</a:endParaRPr>
              </a:p>
            </p:txBody>
          </p:sp>
          <p:cxnSp>
            <p:nvCxnSpPr>
              <p:cNvPr id="253" name="Elbow Connector 80"/>
              <p:cNvCxnSpPr/>
              <p:nvPr/>
            </p:nvCxnSpPr>
            <p:spPr>
              <a:xfrm rot="10800000">
                <a:off x="3744250" y="1407791"/>
                <a:ext cx="250003" cy="367259"/>
              </a:xfrm>
              <a:prstGeom prst="bentConnector2">
                <a:avLst/>
              </a:prstGeom>
              <a:ln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4" name="Shape 253"/>
              <p:cNvCxnSpPr>
                <a:stCxn id="252" idx="2"/>
                <a:endCxn id="251" idx="3"/>
              </p:cNvCxnSpPr>
              <p:nvPr/>
            </p:nvCxnSpPr>
            <p:spPr>
              <a:xfrm rot="5400000">
                <a:off x="5089419" y="1139244"/>
                <a:ext cx="424226" cy="841256"/>
              </a:xfrm>
              <a:prstGeom prst="bentConnector2">
                <a:avLst/>
              </a:prstGeom>
              <a:ln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5" name="Straight Arrow Connector 254"/>
              <p:cNvCxnSpPr>
                <a:stCxn id="249" idx="3"/>
              </p:cNvCxnSpPr>
              <p:nvPr/>
            </p:nvCxnSpPr>
            <p:spPr>
              <a:xfrm flipV="1">
                <a:off x="4521506" y="1193006"/>
                <a:ext cx="83832" cy="1097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6" name="Straight Arrow Connector 255"/>
              <p:cNvCxnSpPr/>
              <p:nvPr/>
            </p:nvCxnSpPr>
            <p:spPr>
              <a:xfrm flipV="1">
                <a:off x="5399893" y="1201707"/>
                <a:ext cx="83832" cy="1097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224" name="Picture 223" descr="http://www.cksinfo.com/clipart/music/old-microphone.png"/>
            <p:cNvPicPr/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7639096" y="1457301"/>
              <a:ext cx="184769" cy="2900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cxnSp>
          <p:nvCxnSpPr>
            <p:cNvPr id="225" name="Straight Arrow Connector 224"/>
            <p:cNvCxnSpPr/>
            <p:nvPr/>
          </p:nvCxnSpPr>
          <p:spPr>
            <a:xfrm flipV="1">
              <a:off x="2381220" y="1457301"/>
              <a:ext cx="83832" cy="1097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Arrow Connector 225"/>
            <p:cNvCxnSpPr/>
            <p:nvPr/>
          </p:nvCxnSpPr>
          <p:spPr>
            <a:xfrm flipV="1">
              <a:off x="1066752" y="1457301"/>
              <a:ext cx="83832" cy="1097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27" name="Group 104"/>
            <p:cNvGrpSpPr/>
            <p:nvPr/>
          </p:nvGrpSpPr>
          <p:grpSpPr>
            <a:xfrm>
              <a:off x="3586153" y="1968480"/>
              <a:ext cx="2397809" cy="1162155"/>
              <a:chOff x="3634711" y="860096"/>
              <a:chExt cx="2397809" cy="1162154"/>
            </a:xfrm>
          </p:grpSpPr>
          <p:sp>
            <p:nvSpPr>
              <p:cNvPr id="239" name="Rectangle 47"/>
              <p:cNvSpPr>
                <a:spLocks noChangeArrowheads="1"/>
              </p:cNvSpPr>
              <p:nvPr/>
            </p:nvSpPr>
            <p:spPr bwMode="auto">
              <a:xfrm>
                <a:off x="3634711" y="860096"/>
                <a:ext cx="2397809" cy="1162154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40" name="Text Box 46"/>
              <p:cNvSpPr txBox="1">
                <a:spLocks noChangeArrowheads="1"/>
              </p:cNvSpPr>
              <p:nvPr/>
            </p:nvSpPr>
            <p:spPr bwMode="auto">
              <a:xfrm>
                <a:off x="3695688" y="982629"/>
                <a:ext cx="825818" cy="422948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100" b="0" i="0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  <a:ea typeface="Calibri" pitchFamily="34" charset="0"/>
                    <a:cs typeface="Times New Roman" pitchFamily="18" charset="0"/>
                  </a:rPr>
                  <a:t>PWM modulator</a:t>
                </a:r>
                <a:endParaRPr kumimoji="0" lang="en-US" sz="18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</a:endParaRPr>
              </a:p>
            </p:txBody>
          </p:sp>
          <p:sp>
            <p:nvSpPr>
              <p:cNvPr id="241" name="Text Box 45"/>
              <p:cNvSpPr txBox="1">
                <a:spLocks noChangeArrowheads="1"/>
              </p:cNvSpPr>
              <p:nvPr/>
            </p:nvSpPr>
            <p:spPr bwMode="auto">
              <a:xfrm>
                <a:off x="4608513" y="909603"/>
                <a:ext cx="784860" cy="61537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100" b="0" i="0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  <a:ea typeface="Calibri" pitchFamily="34" charset="0"/>
                    <a:cs typeface="Times New Roman" pitchFamily="18" charset="0"/>
                  </a:rPr>
                  <a:t>MOSFET output stage</a:t>
                </a:r>
                <a:endParaRPr kumimoji="0" lang="en-US" sz="18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</a:endParaRPr>
              </a:p>
            </p:txBody>
          </p:sp>
          <p:sp>
            <p:nvSpPr>
              <p:cNvPr id="242" name="Text Box 44"/>
              <p:cNvSpPr txBox="1">
                <a:spLocks noChangeArrowheads="1"/>
              </p:cNvSpPr>
              <p:nvPr/>
            </p:nvSpPr>
            <p:spPr bwMode="auto">
              <a:xfrm>
                <a:off x="3963328" y="1553843"/>
                <a:ext cx="881063" cy="436284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100" b="0" i="0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  <a:ea typeface="Calibri" pitchFamily="34" charset="0"/>
                    <a:cs typeface="Times New Roman" pitchFamily="18" charset="0"/>
                  </a:rPr>
                  <a:t>High speed feedback</a:t>
                </a:r>
                <a:endParaRPr kumimoji="0" lang="en-US" sz="18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</a:endParaRPr>
              </a:p>
            </p:txBody>
          </p:sp>
          <p:sp>
            <p:nvSpPr>
              <p:cNvPr id="243" name="Text Box 46"/>
              <p:cNvSpPr txBox="1">
                <a:spLocks noChangeArrowheads="1"/>
              </p:cNvSpPr>
              <p:nvPr/>
            </p:nvSpPr>
            <p:spPr bwMode="auto">
              <a:xfrm>
                <a:off x="5484825" y="982629"/>
                <a:ext cx="474669" cy="36513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100" b="0" i="0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  <a:ea typeface="Calibri" pitchFamily="34" charset="0"/>
                    <a:cs typeface="Times New Roman" pitchFamily="18" charset="0"/>
                  </a:rPr>
                  <a:t>LC filter</a:t>
                </a:r>
                <a:endParaRPr kumimoji="0" lang="en-US" sz="18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</a:endParaRPr>
              </a:p>
            </p:txBody>
          </p:sp>
          <p:cxnSp>
            <p:nvCxnSpPr>
              <p:cNvPr id="244" name="Elbow Connector 80"/>
              <p:cNvCxnSpPr>
                <a:stCxn id="242" idx="1"/>
              </p:cNvCxnSpPr>
              <p:nvPr/>
            </p:nvCxnSpPr>
            <p:spPr>
              <a:xfrm rot="10800000">
                <a:off x="3853790" y="1407791"/>
                <a:ext cx="109539" cy="364194"/>
              </a:xfrm>
              <a:prstGeom prst="bentConnector2">
                <a:avLst/>
              </a:prstGeom>
              <a:ln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5" name="Shape 244"/>
              <p:cNvCxnSpPr>
                <a:stCxn id="243" idx="2"/>
                <a:endCxn id="242" idx="3"/>
              </p:cNvCxnSpPr>
              <p:nvPr/>
            </p:nvCxnSpPr>
            <p:spPr>
              <a:xfrm rot="5400000">
                <a:off x="5071163" y="1120988"/>
                <a:ext cx="424226" cy="877769"/>
              </a:xfrm>
              <a:prstGeom prst="bentConnector2">
                <a:avLst/>
              </a:prstGeom>
              <a:ln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6" name="Straight Arrow Connector 245"/>
              <p:cNvCxnSpPr>
                <a:stCxn id="240" idx="3"/>
              </p:cNvCxnSpPr>
              <p:nvPr/>
            </p:nvCxnSpPr>
            <p:spPr>
              <a:xfrm flipV="1">
                <a:off x="4521506" y="1193006"/>
                <a:ext cx="83832" cy="1097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7" name="Straight Arrow Connector 246"/>
              <p:cNvCxnSpPr/>
              <p:nvPr/>
            </p:nvCxnSpPr>
            <p:spPr>
              <a:xfrm flipV="1">
                <a:off x="5399893" y="1201707"/>
                <a:ext cx="83832" cy="1097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28" name="Straight Arrow Connector 227"/>
            <p:cNvCxnSpPr>
              <a:stCxn id="218" idx="3"/>
            </p:cNvCxnSpPr>
            <p:nvPr/>
          </p:nvCxnSpPr>
          <p:spPr>
            <a:xfrm flipV="1">
              <a:off x="3313401" y="1198578"/>
              <a:ext cx="272748" cy="287631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Straight Arrow Connector 228"/>
            <p:cNvCxnSpPr>
              <a:stCxn id="218" idx="3"/>
            </p:cNvCxnSpPr>
            <p:nvPr/>
          </p:nvCxnSpPr>
          <p:spPr>
            <a:xfrm>
              <a:off x="3313401" y="1486207"/>
              <a:ext cx="272748" cy="1063351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30" name="Picture 66" descr="Loud Speaker Clip Art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6069033" y="2114533"/>
              <a:ext cx="333058" cy="328617"/>
            </a:xfrm>
            <a:prstGeom prst="rect">
              <a:avLst/>
            </a:prstGeom>
            <a:noFill/>
          </p:spPr>
        </p:pic>
        <p:cxnSp>
          <p:nvCxnSpPr>
            <p:cNvPr id="231" name="Straight Arrow Connector 230"/>
            <p:cNvCxnSpPr/>
            <p:nvPr/>
          </p:nvCxnSpPr>
          <p:spPr>
            <a:xfrm flipV="1">
              <a:off x="5989638" y="2278072"/>
              <a:ext cx="83832" cy="1097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Straight Arrow Connector 231"/>
            <p:cNvCxnSpPr/>
            <p:nvPr/>
          </p:nvCxnSpPr>
          <p:spPr>
            <a:xfrm flipV="1">
              <a:off x="5994257" y="932162"/>
              <a:ext cx="83832" cy="1097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Straight Arrow Connector 232"/>
            <p:cNvCxnSpPr>
              <a:stCxn id="219" idx="3"/>
            </p:cNvCxnSpPr>
            <p:nvPr/>
          </p:nvCxnSpPr>
          <p:spPr>
            <a:xfrm>
              <a:off x="7260935" y="1658121"/>
              <a:ext cx="260643" cy="2411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Elbow Connector 136"/>
            <p:cNvCxnSpPr>
              <a:stCxn id="224" idx="2"/>
              <a:endCxn id="220" idx="3"/>
            </p:cNvCxnSpPr>
            <p:nvPr/>
          </p:nvCxnSpPr>
          <p:spPr>
            <a:xfrm rot="5400000">
              <a:off x="5685171" y="1715624"/>
              <a:ext cx="2014532" cy="2078083"/>
            </a:xfrm>
            <a:prstGeom prst="bentConnector2">
              <a:avLst/>
            </a:prstGeom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Elbow Connector 139"/>
            <p:cNvCxnSpPr>
              <a:stCxn id="216" idx="2"/>
              <a:endCxn id="220" idx="1"/>
            </p:cNvCxnSpPr>
            <p:nvPr/>
          </p:nvCxnSpPr>
          <p:spPr>
            <a:xfrm rot="16200000" flipH="1">
              <a:off x="1153710" y="1183439"/>
              <a:ext cx="2060808" cy="3096175"/>
            </a:xfrm>
            <a:prstGeom prst="bentConnector2">
              <a:avLst/>
            </a:prstGeom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Elbow Connector 235"/>
            <p:cNvCxnSpPr>
              <a:stCxn id="220" idx="0"/>
              <a:endCxn id="217" idx="2"/>
            </p:cNvCxnSpPr>
            <p:nvPr/>
          </p:nvCxnSpPr>
          <p:spPr>
            <a:xfrm rot="16200000" flipV="1">
              <a:off x="2423707" y="1159906"/>
              <a:ext cx="1597625" cy="2940562"/>
            </a:xfrm>
            <a:prstGeom prst="bentConnector3">
              <a:avLst>
                <a:gd name="adj1" fmla="val 11843"/>
              </a:avLst>
            </a:prstGeom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Elbow Connector 160"/>
            <p:cNvCxnSpPr>
              <a:stCxn id="241" idx="2"/>
            </p:cNvCxnSpPr>
            <p:nvPr/>
          </p:nvCxnSpPr>
          <p:spPr>
            <a:xfrm rot="5400000">
              <a:off x="4802530" y="2621913"/>
              <a:ext cx="138409" cy="161303"/>
            </a:xfrm>
            <a:prstGeom prst="bentConnector2">
              <a:avLst/>
            </a:prstGeom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Elbow Connector 160"/>
            <p:cNvCxnSpPr/>
            <p:nvPr/>
          </p:nvCxnSpPr>
          <p:spPr>
            <a:xfrm rot="5400000">
              <a:off x="4839036" y="1277606"/>
              <a:ext cx="138409" cy="161303"/>
            </a:xfrm>
            <a:prstGeom prst="bentConnector2">
              <a:avLst/>
            </a:prstGeom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5" name="Text Box 2"/>
          <p:cNvSpPr txBox="1">
            <a:spLocks noChangeArrowheads="1"/>
          </p:cNvSpPr>
          <p:nvPr/>
        </p:nvSpPr>
        <p:spPr bwMode="auto">
          <a:xfrm>
            <a:off x="4055100" y="38100"/>
            <a:ext cx="1825650" cy="3046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</a:rPr>
              <a:t>High-frequency – tweeter amplifier</a:t>
            </a: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48" name="Text Box 2"/>
          <p:cNvSpPr txBox="1">
            <a:spLocks noChangeArrowheads="1"/>
          </p:cNvSpPr>
          <p:nvPr/>
        </p:nvSpPr>
        <p:spPr bwMode="auto">
          <a:xfrm>
            <a:off x="3987792" y="1576379"/>
            <a:ext cx="1825650" cy="3046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</a:rPr>
              <a:t>Low-frequency –</a:t>
            </a:r>
            <a:r>
              <a:rPr kumimoji="0" lang="en-US" sz="9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</a:rPr>
              <a:t> woofer</a:t>
            </a:r>
            <a:r>
              <a:rPr kumimoji="0" lang="en-US" sz="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</a:rPr>
              <a:t> amplifier</a:t>
            </a: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>
          <a:solidFill>
            <a:schemeClr val="tx1"/>
          </a:solidFill>
          <a:headEnd type="none" w="med" len="med"/>
          <a:tailEnd type="triangl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96</TotalTime>
  <Words>49</Words>
  <Application>Microsoft Office PowerPoint</Application>
  <PresentationFormat>Custom</PresentationFormat>
  <Paragraphs>24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Slide 1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Dmitry</dc:creator>
  <cp:lastModifiedBy>Dmitry</cp:lastModifiedBy>
  <cp:revision>12</cp:revision>
  <dcterms:created xsi:type="dcterms:W3CDTF">2010-09-28T16:02:00Z</dcterms:created>
  <dcterms:modified xsi:type="dcterms:W3CDTF">2010-09-28T17:39:53Z</dcterms:modified>
</cp:coreProperties>
</file>