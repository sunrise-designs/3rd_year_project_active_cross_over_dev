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001125" cy="7200900"/>
  <p:notesSz cx="6858000" cy="9144000"/>
  <p:defaultTextStyle>
    <a:defPPr>
      <a:defRPr lang="en-US"/>
    </a:defPPr>
    <a:lvl1pPr marL="0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2818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25636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88455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51270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14088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76907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39725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02543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0" autoAdjust="0"/>
  </p:normalViewPr>
  <p:slideViewPr>
    <p:cSldViewPr snapToObjects="1">
      <p:cViewPr>
        <p:scale>
          <a:sx n="75" d="100"/>
          <a:sy n="75" d="100"/>
        </p:scale>
        <p:origin x="-1699" y="-120"/>
      </p:cViewPr>
      <p:guideLst>
        <p:guide orient="horz" pos="2268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6" y="2236952"/>
            <a:ext cx="7650957" cy="15435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70" y="4080510"/>
            <a:ext cx="6300788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2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25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88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51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76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397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02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43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0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8" y="4627251"/>
            <a:ext cx="7650957" cy="1430179"/>
          </a:xfrm>
        </p:spPr>
        <p:txBody>
          <a:bodyPr anchor="t"/>
          <a:lstStyle>
            <a:lvl1pPr algn="l">
              <a:defRPr sz="41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8" y="3052052"/>
            <a:ext cx="7650957" cy="157519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628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256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884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512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3140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769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397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702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56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57" y="1680213"/>
            <a:ext cx="3975497" cy="475226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73" y="1680213"/>
            <a:ext cx="3975497" cy="475226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53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7" y="1611869"/>
            <a:ext cx="3977060" cy="67175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62818" indent="0">
              <a:buNone/>
              <a:defRPr sz="2100" b="1"/>
            </a:lvl2pPr>
            <a:lvl3pPr marL="925636" indent="0">
              <a:buNone/>
              <a:defRPr sz="1800" b="1"/>
            </a:lvl3pPr>
            <a:lvl4pPr marL="1388455" indent="0">
              <a:buNone/>
              <a:defRPr sz="1600" b="1"/>
            </a:lvl4pPr>
            <a:lvl5pPr marL="1851270" indent="0">
              <a:buNone/>
              <a:defRPr sz="1600" b="1"/>
            </a:lvl5pPr>
            <a:lvl6pPr marL="2314088" indent="0">
              <a:buNone/>
              <a:defRPr sz="1600" b="1"/>
            </a:lvl6pPr>
            <a:lvl7pPr marL="2776907" indent="0">
              <a:buNone/>
              <a:defRPr sz="1600" b="1"/>
            </a:lvl7pPr>
            <a:lvl8pPr marL="3239725" indent="0">
              <a:buNone/>
              <a:defRPr sz="1600" b="1"/>
            </a:lvl8pPr>
            <a:lvl9pPr marL="370254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7" y="2283621"/>
            <a:ext cx="3977060" cy="41488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451" y="1611869"/>
            <a:ext cx="3978623" cy="67175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62818" indent="0">
              <a:buNone/>
              <a:defRPr sz="2100" b="1"/>
            </a:lvl2pPr>
            <a:lvl3pPr marL="925636" indent="0">
              <a:buNone/>
              <a:defRPr sz="1800" b="1"/>
            </a:lvl3pPr>
            <a:lvl4pPr marL="1388455" indent="0">
              <a:buNone/>
              <a:defRPr sz="1600" b="1"/>
            </a:lvl4pPr>
            <a:lvl5pPr marL="1851270" indent="0">
              <a:buNone/>
              <a:defRPr sz="1600" b="1"/>
            </a:lvl5pPr>
            <a:lvl6pPr marL="2314088" indent="0">
              <a:buNone/>
              <a:defRPr sz="1600" b="1"/>
            </a:lvl6pPr>
            <a:lvl7pPr marL="2776907" indent="0">
              <a:buNone/>
              <a:defRPr sz="1600" b="1"/>
            </a:lvl7pPr>
            <a:lvl8pPr marL="3239725" indent="0">
              <a:buNone/>
              <a:defRPr sz="1600" b="1"/>
            </a:lvl8pPr>
            <a:lvl9pPr marL="370254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451" y="2283621"/>
            <a:ext cx="3978623" cy="41488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82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1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83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60" y="286705"/>
            <a:ext cx="2961308" cy="1220153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191" y="286709"/>
            <a:ext cx="5031879" cy="6145769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60" y="1506856"/>
            <a:ext cx="2961308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62818" indent="0">
              <a:buNone/>
              <a:defRPr sz="1200"/>
            </a:lvl2pPr>
            <a:lvl3pPr marL="925636" indent="0">
              <a:buNone/>
              <a:defRPr sz="1000"/>
            </a:lvl3pPr>
            <a:lvl4pPr marL="1388455" indent="0">
              <a:buNone/>
              <a:defRPr sz="900"/>
            </a:lvl4pPr>
            <a:lvl5pPr marL="1851270" indent="0">
              <a:buNone/>
              <a:defRPr sz="900"/>
            </a:lvl5pPr>
            <a:lvl6pPr marL="2314088" indent="0">
              <a:buNone/>
              <a:defRPr sz="900"/>
            </a:lvl6pPr>
            <a:lvl7pPr marL="2776907" indent="0">
              <a:buNone/>
              <a:defRPr sz="900"/>
            </a:lvl7pPr>
            <a:lvl8pPr marL="3239725" indent="0">
              <a:buNone/>
              <a:defRPr sz="900"/>
            </a:lvl8pPr>
            <a:lvl9pPr marL="370254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4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284" y="5040632"/>
            <a:ext cx="5400675" cy="595075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284" y="643414"/>
            <a:ext cx="5400675" cy="4320540"/>
          </a:xfrm>
        </p:spPr>
        <p:txBody>
          <a:bodyPr/>
          <a:lstStyle>
            <a:lvl1pPr marL="0" indent="0">
              <a:buNone/>
              <a:defRPr sz="3300"/>
            </a:lvl1pPr>
            <a:lvl2pPr marL="462818" indent="0">
              <a:buNone/>
              <a:defRPr sz="2900"/>
            </a:lvl2pPr>
            <a:lvl3pPr marL="925636" indent="0">
              <a:buNone/>
              <a:defRPr sz="2500"/>
            </a:lvl3pPr>
            <a:lvl4pPr marL="1388455" indent="0">
              <a:buNone/>
              <a:defRPr sz="2100"/>
            </a:lvl4pPr>
            <a:lvl5pPr marL="1851270" indent="0">
              <a:buNone/>
              <a:defRPr sz="2100"/>
            </a:lvl5pPr>
            <a:lvl6pPr marL="2314088" indent="0">
              <a:buNone/>
              <a:defRPr sz="2100"/>
            </a:lvl6pPr>
            <a:lvl7pPr marL="2776907" indent="0">
              <a:buNone/>
              <a:defRPr sz="2100"/>
            </a:lvl7pPr>
            <a:lvl8pPr marL="3239725" indent="0">
              <a:buNone/>
              <a:defRPr sz="2100"/>
            </a:lvl8pPr>
            <a:lvl9pPr marL="3702543" indent="0">
              <a:buNone/>
              <a:defRPr sz="21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284" y="5635707"/>
            <a:ext cx="5400675" cy="845105"/>
          </a:xfrm>
        </p:spPr>
        <p:txBody>
          <a:bodyPr/>
          <a:lstStyle>
            <a:lvl1pPr marL="0" indent="0">
              <a:buNone/>
              <a:defRPr sz="1400"/>
            </a:lvl1pPr>
            <a:lvl2pPr marL="462818" indent="0">
              <a:buNone/>
              <a:defRPr sz="1200"/>
            </a:lvl2pPr>
            <a:lvl3pPr marL="925636" indent="0">
              <a:buNone/>
              <a:defRPr sz="1000"/>
            </a:lvl3pPr>
            <a:lvl4pPr marL="1388455" indent="0">
              <a:buNone/>
              <a:defRPr sz="900"/>
            </a:lvl4pPr>
            <a:lvl5pPr marL="1851270" indent="0">
              <a:buNone/>
              <a:defRPr sz="900"/>
            </a:lvl5pPr>
            <a:lvl6pPr marL="2314088" indent="0">
              <a:buNone/>
              <a:defRPr sz="900"/>
            </a:lvl6pPr>
            <a:lvl7pPr marL="2776907" indent="0">
              <a:buNone/>
              <a:defRPr sz="900"/>
            </a:lvl7pPr>
            <a:lvl8pPr marL="3239725" indent="0">
              <a:buNone/>
              <a:defRPr sz="900"/>
            </a:lvl8pPr>
            <a:lvl9pPr marL="370254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4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33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5817" y="288374"/>
            <a:ext cx="2025253" cy="614410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058" y="288374"/>
            <a:ext cx="5925741" cy="61441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50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058" y="288370"/>
            <a:ext cx="8101013" cy="1200150"/>
          </a:xfrm>
          <a:prstGeom prst="rect">
            <a:avLst/>
          </a:prstGeom>
        </p:spPr>
        <p:txBody>
          <a:bodyPr vert="horz" lIns="92564" tIns="46283" rIns="92564" bIns="4628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8" y="1680213"/>
            <a:ext cx="8101013" cy="4752261"/>
          </a:xfrm>
          <a:prstGeom prst="rect">
            <a:avLst/>
          </a:prstGeom>
        </p:spPr>
        <p:txBody>
          <a:bodyPr vert="horz" lIns="92564" tIns="46283" rIns="92564" bIns="4628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058" y="6674171"/>
            <a:ext cx="2100263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EAE56-2FD2-40C4-A87F-CB788295D857}" type="datetimeFigureOut">
              <a:rPr lang="en-GB" smtClean="0"/>
              <a:t>19/03/2011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5386" y="6674171"/>
            <a:ext cx="2850357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0808" y="6674171"/>
            <a:ext cx="2100263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5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25636" rtl="0" eaLnBrk="1" latinLnBrk="0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114" indent="-347114" algn="l" defTabSz="925636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2079" indent="-289260" algn="l" defTabSz="925636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57045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9863" indent="-231408" algn="l" defTabSz="925636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680" indent="-231408" algn="l" defTabSz="925636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45499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08317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1134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33951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818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5636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8455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270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4088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6907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25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02543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76707" y="653554"/>
            <a:ext cx="8824418" cy="5198413"/>
            <a:chOff x="176707" y="653554"/>
            <a:chExt cx="8824418" cy="5198413"/>
          </a:xfrm>
        </p:grpSpPr>
        <p:grpSp>
          <p:nvGrpSpPr>
            <p:cNvPr id="222" name="Group 221"/>
            <p:cNvGrpSpPr/>
            <p:nvPr/>
          </p:nvGrpSpPr>
          <p:grpSpPr>
            <a:xfrm>
              <a:off x="176707" y="653554"/>
              <a:ext cx="8824418" cy="5198413"/>
              <a:chOff x="179512" y="622430"/>
              <a:chExt cx="8964488" cy="4950869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1403648" y="1484785"/>
                <a:ext cx="1368152" cy="2181233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lg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91431" tIns="45715" rIns="91431" bIns="45715" spcCol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5311302" y="1612859"/>
                <a:ext cx="2861078" cy="3960440"/>
              </a:xfrm>
              <a:prstGeom prst="rect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760132" y="4545124"/>
                <a:ext cx="936104" cy="5400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r>
                  <a:rPr lang="en-GB" dirty="0" smtClean="0"/>
                  <a:t>Cross over</a:t>
                </a:r>
                <a:endParaRPr lang="en-GB" dirty="0"/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7731894" y="4268402"/>
                <a:ext cx="432070" cy="1080120"/>
                <a:chOff x="7020272" y="4329100"/>
                <a:chExt cx="432070" cy="108012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7020272" y="4545124"/>
                  <a:ext cx="216024" cy="6840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7236296" y="4329100"/>
                  <a:ext cx="216046" cy="216024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7236296" y="5229200"/>
                  <a:ext cx="216046" cy="18002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Connector 20"/>
              <p:cNvCxnSpPr/>
              <p:nvPr/>
            </p:nvCxnSpPr>
            <p:spPr>
              <a:xfrm flipH="1">
                <a:off x="4901953" y="4649612"/>
                <a:ext cx="86409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>
              <a:xfrm>
                <a:off x="5510846" y="5258513"/>
                <a:ext cx="216024" cy="82775"/>
                <a:chOff x="4572000" y="3429000"/>
                <a:chExt cx="216024" cy="82775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72000" y="3429000"/>
                  <a:ext cx="216024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4605683" y="3471696"/>
                  <a:ext cx="148657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4654364" y="3511775"/>
                  <a:ext cx="52135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Freeform 39"/>
              <p:cNvSpPr/>
              <p:nvPr/>
            </p:nvSpPr>
            <p:spPr>
              <a:xfrm>
                <a:off x="5615940" y="4968240"/>
                <a:ext cx="144780" cy="289560"/>
              </a:xfrm>
              <a:custGeom>
                <a:avLst/>
                <a:gdLst>
                  <a:gd name="connsiteX0" fmla="*/ 144780 w 144780"/>
                  <a:gd name="connsiteY0" fmla="*/ 0 h 289560"/>
                  <a:gd name="connsiteX1" fmla="*/ 0 w 144780"/>
                  <a:gd name="connsiteY1" fmla="*/ 0 h 289560"/>
                  <a:gd name="connsiteX2" fmla="*/ 0 w 144780"/>
                  <a:gd name="connsiteY2" fmla="*/ 289560 h 289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" h="289560">
                    <a:moveTo>
                      <a:pt x="144780" y="0"/>
                    </a:moveTo>
                    <a:lnTo>
                      <a:pt x="0" y="0"/>
                    </a:lnTo>
                    <a:lnTo>
                      <a:pt x="0" y="289560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5321808" y="4197096"/>
                <a:ext cx="688848" cy="344424"/>
              </a:xfrm>
              <a:custGeom>
                <a:avLst/>
                <a:gdLst>
                  <a:gd name="connsiteX0" fmla="*/ 688848 w 688848"/>
                  <a:gd name="connsiteY0" fmla="*/ 688848 h 688848"/>
                  <a:gd name="connsiteX1" fmla="*/ 688848 w 688848"/>
                  <a:gd name="connsiteY1" fmla="*/ 0 h 688848"/>
                  <a:gd name="connsiteX2" fmla="*/ 0 w 688848"/>
                  <a:gd name="connsiteY2" fmla="*/ 0 h 688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8848" h="688848">
                    <a:moveTo>
                      <a:pt x="688848" y="688848"/>
                    </a:moveTo>
                    <a:lnTo>
                      <a:pt x="688848" y="0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5334000" y="3959352"/>
                <a:ext cx="1152144" cy="588264"/>
              </a:xfrm>
              <a:custGeom>
                <a:avLst/>
                <a:gdLst>
                  <a:gd name="connsiteX0" fmla="*/ 1152144 w 1152144"/>
                  <a:gd name="connsiteY0" fmla="*/ 1176528 h 1176528"/>
                  <a:gd name="connsiteX1" fmla="*/ 1152144 w 1152144"/>
                  <a:gd name="connsiteY1" fmla="*/ 0 h 1176528"/>
                  <a:gd name="connsiteX2" fmla="*/ 0 w 1152144"/>
                  <a:gd name="connsiteY2" fmla="*/ 0 h 1176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2144" h="1176528">
                    <a:moveTo>
                      <a:pt x="1152144" y="1176528"/>
                    </a:moveTo>
                    <a:lnTo>
                      <a:pt x="1152144" y="0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52" name="Group 51"/>
              <p:cNvGrpSpPr/>
              <p:nvPr/>
            </p:nvGrpSpPr>
            <p:grpSpPr>
              <a:xfrm>
                <a:off x="5112061" y="4618465"/>
                <a:ext cx="144016" cy="64960"/>
                <a:chOff x="4427984" y="3400044"/>
                <a:chExt cx="144016" cy="64960"/>
              </a:xfrm>
            </p:grpSpPr>
            <p:cxnSp>
              <p:nvCxnSpPr>
                <p:cNvPr id="46" name="Straight Connector 45"/>
                <p:cNvCxnSpPr/>
                <p:nvPr/>
              </p:nvCxnSpPr>
              <p:spPr>
                <a:xfrm>
                  <a:off x="4427984" y="3400044"/>
                  <a:ext cx="144016" cy="289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4427984" y="3429000"/>
                  <a:ext cx="144015" cy="36004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Isosceles Triangle 52"/>
              <p:cNvSpPr/>
              <p:nvPr/>
            </p:nvSpPr>
            <p:spPr>
              <a:xfrm rot="5400000">
                <a:off x="1781690" y="2459352"/>
                <a:ext cx="756084" cy="972108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lIns="91431" tIns="45715" rIns="91431" bIns="45715" rtlCol="0" anchor="ctr"/>
              <a:lstStyle/>
              <a:p>
                <a:pPr algn="ctr"/>
                <a:r>
                  <a:rPr lang="en-GB" sz="2900" b="1" dirty="0"/>
                  <a:t>L</a:t>
                </a:r>
              </a:p>
            </p:txBody>
          </p:sp>
          <p:sp>
            <p:nvSpPr>
              <p:cNvPr id="55" name="Isosceles Triangle 54"/>
              <p:cNvSpPr/>
              <p:nvPr/>
            </p:nvSpPr>
            <p:spPr>
              <a:xfrm rot="5400000">
                <a:off x="1781690" y="1488992"/>
                <a:ext cx="756084" cy="972108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lIns="91431" tIns="45715" rIns="91431" bIns="45715" rtlCol="0" anchor="ctr"/>
              <a:lstStyle/>
              <a:p>
                <a:pPr algn="ctr"/>
                <a:r>
                  <a:rPr lang="en-GB" sz="2900" b="1" dirty="0"/>
                  <a:t>R</a:t>
                </a:r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8010348" y="1925833"/>
                <a:ext cx="162032" cy="558062"/>
                <a:chOff x="7020272" y="4329100"/>
                <a:chExt cx="432070" cy="108012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7020272" y="4545124"/>
                  <a:ext cx="216024" cy="6840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58" name="Straight Connector 57"/>
                <p:cNvCxnSpPr/>
                <p:nvPr/>
              </p:nvCxnSpPr>
              <p:spPr>
                <a:xfrm flipV="1">
                  <a:off x="7236296" y="4329100"/>
                  <a:ext cx="216046" cy="216024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7236296" y="5229200"/>
                  <a:ext cx="216046" cy="18002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>
                <a:off x="7790414" y="2506256"/>
                <a:ext cx="216024" cy="86530"/>
                <a:chOff x="4572000" y="3429000"/>
                <a:chExt cx="216024" cy="86530"/>
              </a:xfrm>
            </p:grpSpPr>
            <p:cxnSp>
              <p:nvCxnSpPr>
                <p:cNvPr id="61" name="Straight Connector 60"/>
                <p:cNvCxnSpPr/>
                <p:nvPr/>
              </p:nvCxnSpPr>
              <p:spPr>
                <a:xfrm>
                  <a:off x="4572000" y="3429000"/>
                  <a:ext cx="216024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4605683" y="3471696"/>
                  <a:ext cx="148657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663881" y="3515530"/>
                  <a:ext cx="52135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/>
              <p:cNvGrpSpPr/>
              <p:nvPr/>
            </p:nvGrpSpPr>
            <p:grpSpPr>
              <a:xfrm>
                <a:off x="7452320" y="5339770"/>
                <a:ext cx="216024" cy="86530"/>
                <a:chOff x="4572000" y="3429000"/>
                <a:chExt cx="216024" cy="86530"/>
              </a:xfrm>
            </p:grpSpPr>
            <p:cxnSp>
              <p:nvCxnSpPr>
                <p:cNvPr id="65" name="Straight Connector 64"/>
                <p:cNvCxnSpPr/>
                <p:nvPr/>
              </p:nvCxnSpPr>
              <p:spPr>
                <a:xfrm>
                  <a:off x="4572000" y="3429000"/>
                  <a:ext cx="216024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4605683" y="3471696"/>
                  <a:ext cx="148657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4663881" y="3515530"/>
                  <a:ext cx="52135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Freeform 68"/>
              <p:cNvSpPr/>
              <p:nvPr/>
            </p:nvSpPr>
            <p:spPr>
              <a:xfrm>
                <a:off x="7900416" y="2298192"/>
                <a:ext cx="109728" cy="219456"/>
              </a:xfrm>
              <a:custGeom>
                <a:avLst/>
                <a:gdLst>
                  <a:gd name="connsiteX0" fmla="*/ 109728 w 109728"/>
                  <a:gd name="connsiteY0" fmla="*/ 0 h 219456"/>
                  <a:gd name="connsiteX1" fmla="*/ 0 w 109728"/>
                  <a:gd name="connsiteY1" fmla="*/ 0 h 219456"/>
                  <a:gd name="connsiteX2" fmla="*/ 0 w 109728"/>
                  <a:gd name="connsiteY2" fmla="*/ 219456 h 21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9728" h="219456">
                    <a:moveTo>
                      <a:pt x="109728" y="0"/>
                    </a:moveTo>
                    <a:lnTo>
                      <a:pt x="0" y="0"/>
                    </a:lnTo>
                    <a:lnTo>
                      <a:pt x="0" y="219456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7565136" y="5053584"/>
                <a:ext cx="152400" cy="274320"/>
              </a:xfrm>
              <a:custGeom>
                <a:avLst/>
                <a:gdLst>
                  <a:gd name="connsiteX0" fmla="*/ 152400 w 152400"/>
                  <a:gd name="connsiteY0" fmla="*/ 0 h 274320"/>
                  <a:gd name="connsiteX1" fmla="*/ 0 w 152400"/>
                  <a:gd name="connsiteY1" fmla="*/ 0 h 274320"/>
                  <a:gd name="connsiteX2" fmla="*/ 0 w 152400"/>
                  <a:gd name="connsiteY2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2400" h="274320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274320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5327905" y="3038164"/>
                <a:ext cx="2401824" cy="1613084"/>
              </a:xfrm>
              <a:custGeom>
                <a:avLst/>
                <a:gdLst>
                  <a:gd name="connsiteX0" fmla="*/ 2401824 w 2401824"/>
                  <a:gd name="connsiteY0" fmla="*/ 1682496 h 1682496"/>
                  <a:gd name="connsiteX1" fmla="*/ 1871472 w 2401824"/>
                  <a:gd name="connsiteY1" fmla="*/ 1682496 h 1682496"/>
                  <a:gd name="connsiteX2" fmla="*/ 1871472 w 2401824"/>
                  <a:gd name="connsiteY2" fmla="*/ 0 h 1682496"/>
                  <a:gd name="connsiteX3" fmla="*/ 0 w 2401824"/>
                  <a:gd name="connsiteY3" fmla="*/ 0 h 1682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1824" h="1682496">
                    <a:moveTo>
                      <a:pt x="2401824" y="1682496"/>
                    </a:moveTo>
                    <a:lnTo>
                      <a:pt x="1871472" y="1682496"/>
                    </a:lnTo>
                    <a:lnTo>
                      <a:pt x="1871472" y="0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5321808" y="2078736"/>
                <a:ext cx="2682240" cy="0"/>
              </a:xfrm>
              <a:custGeom>
                <a:avLst/>
                <a:gdLst>
                  <a:gd name="connsiteX0" fmla="*/ 2682240 w 2682240"/>
                  <a:gd name="connsiteY0" fmla="*/ 0 h 0"/>
                  <a:gd name="connsiteX1" fmla="*/ 0 w 268224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82240">
                    <a:moveTo>
                      <a:pt x="2682240" y="0"/>
                    </a:moveTo>
                    <a:lnTo>
                      <a:pt x="0" y="0"/>
                    </a:lnTo>
                  </a:path>
                </a:pathLst>
              </a:cu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4" name="Straight Connector 73"/>
              <p:cNvCxnSpPr>
                <a:stCxn id="40" idx="1"/>
              </p:cNvCxnSpPr>
              <p:nvPr/>
            </p:nvCxnSpPr>
            <p:spPr>
              <a:xfrm flipH="1">
                <a:off x="179512" y="4968240"/>
                <a:ext cx="543642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Oval 75"/>
              <p:cNvSpPr/>
              <p:nvPr/>
            </p:nvSpPr>
            <p:spPr>
              <a:xfrm>
                <a:off x="5593211" y="494538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87" name="Straight Connector 86"/>
              <p:cNvCxnSpPr>
                <a:stCxn id="55" idx="0"/>
                <a:endCxn id="81" idx="1"/>
              </p:cNvCxnSpPr>
              <p:nvPr/>
            </p:nvCxnSpPr>
            <p:spPr>
              <a:xfrm>
                <a:off x="2645786" y="1975047"/>
                <a:ext cx="1551874" cy="1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95" name="Group 94"/>
              <p:cNvGrpSpPr/>
              <p:nvPr/>
            </p:nvGrpSpPr>
            <p:grpSpPr>
              <a:xfrm>
                <a:off x="3743908" y="2162371"/>
                <a:ext cx="1567394" cy="1796981"/>
                <a:chOff x="4067944" y="3417935"/>
                <a:chExt cx="1243358" cy="541417"/>
              </a:xfrm>
            </p:grpSpPr>
            <p:cxnSp>
              <p:nvCxnSpPr>
                <p:cNvPr id="84" name="Straight Connector 83"/>
                <p:cNvCxnSpPr/>
                <p:nvPr/>
              </p:nvCxnSpPr>
              <p:spPr>
                <a:xfrm flipH="1">
                  <a:off x="4067944" y="3959352"/>
                  <a:ext cx="1243358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 flipV="1">
                  <a:off x="4067944" y="3417935"/>
                  <a:ext cx="0" cy="541417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Freeform 93"/>
              <p:cNvSpPr/>
              <p:nvPr/>
            </p:nvSpPr>
            <p:spPr>
              <a:xfrm>
                <a:off x="3975546" y="3133416"/>
                <a:ext cx="1343214" cy="1065205"/>
              </a:xfrm>
              <a:custGeom>
                <a:avLst/>
                <a:gdLst>
                  <a:gd name="connsiteX0" fmla="*/ 662940 w 662940"/>
                  <a:gd name="connsiteY0" fmla="*/ 784860 h 784860"/>
                  <a:gd name="connsiteX1" fmla="*/ 99060 w 662940"/>
                  <a:gd name="connsiteY1" fmla="*/ 784860 h 784860"/>
                  <a:gd name="connsiteX2" fmla="*/ 0 w 662940"/>
                  <a:gd name="connsiteY2" fmla="*/ 784860 h 784860"/>
                  <a:gd name="connsiteX3" fmla="*/ 0 w 662940"/>
                  <a:gd name="connsiteY3" fmla="*/ 0 h 784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2940" h="784860">
                    <a:moveTo>
                      <a:pt x="662940" y="784860"/>
                    </a:moveTo>
                    <a:lnTo>
                      <a:pt x="99060" y="784860"/>
                    </a:lnTo>
                    <a:lnTo>
                      <a:pt x="0" y="784860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8" name="Group 316"/>
              <p:cNvGrpSpPr>
                <a:grpSpLocks/>
              </p:cNvGrpSpPr>
              <p:nvPr/>
            </p:nvGrpSpPr>
            <p:grpSpPr bwMode="auto">
              <a:xfrm>
                <a:off x="4197660" y="1925833"/>
                <a:ext cx="923925" cy="274638"/>
                <a:chOff x="570" y="2011"/>
                <a:chExt cx="582" cy="173"/>
              </a:xfrm>
            </p:grpSpPr>
            <p:sp>
              <p:nvSpPr>
                <p:cNvPr id="49" name="Line 314"/>
                <p:cNvSpPr>
                  <a:spLocks noChangeShapeType="1"/>
                </p:cNvSpPr>
                <p:nvPr/>
              </p:nvSpPr>
              <p:spPr bwMode="auto">
                <a:xfrm flipH="1">
                  <a:off x="979" y="2102"/>
                  <a:ext cx="17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50" name="Group 195"/>
                <p:cNvGrpSpPr>
                  <a:grpSpLocks/>
                </p:cNvGrpSpPr>
                <p:nvPr/>
              </p:nvGrpSpPr>
              <p:grpSpPr bwMode="auto">
                <a:xfrm>
                  <a:off x="570" y="2011"/>
                  <a:ext cx="173" cy="58"/>
                  <a:chOff x="427" y="1066"/>
                  <a:chExt cx="173" cy="58"/>
                </a:xfrm>
              </p:grpSpPr>
              <p:sp>
                <p:nvSpPr>
                  <p:cNvPr id="79" name="Oval 196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1066"/>
                    <a:ext cx="58" cy="5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81" name="Line 1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27" y="1097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51" name="Line 198"/>
                <p:cNvSpPr>
                  <a:spLocks noChangeShapeType="1"/>
                </p:cNvSpPr>
                <p:nvPr/>
              </p:nvSpPr>
              <p:spPr bwMode="auto">
                <a:xfrm flipH="1" flipV="1">
                  <a:off x="716" y="2102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4" name="Oval 199"/>
                <p:cNvSpPr>
                  <a:spLocks noChangeArrowheads="1"/>
                </p:cNvSpPr>
                <p:nvPr/>
              </p:nvSpPr>
              <p:spPr bwMode="auto">
                <a:xfrm>
                  <a:off x="946" y="2071"/>
                  <a:ext cx="58" cy="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68" name="Group 200"/>
                <p:cNvGrpSpPr>
                  <a:grpSpLocks/>
                </p:cNvGrpSpPr>
                <p:nvPr/>
              </p:nvGrpSpPr>
              <p:grpSpPr bwMode="auto">
                <a:xfrm>
                  <a:off x="570" y="2126"/>
                  <a:ext cx="173" cy="58"/>
                  <a:chOff x="430" y="1223"/>
                  <a:chExt cx="173" cy="58"/>
                </a:xfrm>
              </p:grpSpPr>
              <p:sp>
                <p:nvSpPr>
                  <p:cNvPr id="77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545" y="1223"/>
                    <a:ext cx="58" cy="5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8" name="Line 2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0" y="1254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75" name="Freeform 315"/>
                <p:cNvSpPr>
                  <a:spLocks/>
                </p:cNvSpPr>
                <p:nvPr/>
              </p:nvSpPr>
              <p:spPr bwMode="auto">
                <a:xfrm>
                  <a:off x="576" y="2045"/>
                  <a:ext cx="576" cy="115"/>
                </a:xfrm>
                <a:custGeom>
                  <a:avLst/>
                  <a:gdLst>
                    <a:gd name="T0" fmla="*/ 0 w 576"/>
                    <a:gd name="T1" fmla="*/ 0 h 115"/>
                    <a:gd name="T2" fmla="*/ 0 w 576"/>
                    <a:gd name="T3" fmla="*/ 115 h 115"/>
                    <a:gd name="T4" fmla="*/ 576 w 576"/>
                    <a:gd name="T5" fmla="*/ 57 h 115"/>
                    <a:gd name="T6" fmla="*/ 0 w 576"/>
                    <a:gd name="T7" fmla="*/ 0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6" h="115">
                      <a:moveTo>
                        <a:pt x="0" y="0"/>
                      </a:moveTo>
                      <a:lnTo>
                        <a:pt x="0" y="115"/>
                      </a:lnTo>
                      <a:lnTo>
                        <a:pt x="576" y="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3" name="Group 316"/>
              <p:cNvGrpSpPr>
                <a:grpSpLocks/>
              </p:cNvGrpSpPr>
              <p:nvPr/>
            </p:nvGrpSpPr>
            <p:grpSpPr bwMode="auto">
              <a:xfrm>
                <a:off x="4193215" y="2896877"/>
                <a:ext cx="923925" cy="274638"/>
                <a:chOff x="570" y="2011"/>
                <a:chExt cx="582" cy="173"/>
              </a:xfrm>
            </p:grpSpPr>
            <p:sp>
              <p:nvSpPr>
                <p:cNvPr id="85" name="Line 314"/>
                <p:cNvSpPr>
                  <a:spLocks noChangeShapeType="1"/>
                </p:cNvSpPr>
                <p:nvPr/>
              </p:nvSpPr>
              <p:spPr bwMode="auto">
                <a:xfrm flipH="1">
                  <a:off x="979" y="2102"/>
                  <a:ext cx="17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86" name="Group 195"/>
                <p:cNvGrpSpPr>
                  <a:grpSpLocks/>
                </p:cNvGrpSpPr>
                <p:nvPr/>
              </p:nvGrpSpPr>
              <p:grpSpPr bwMode="auto">
                <a:xfrm>
                  <a:off x="570" y="2011"/>
                  <a:ext cx="173" cy="58"/>
                  <a:chOff x="427" y="1066"/>
                  <a:chExt cx="173" cy="58"/>
                </a:xfrm>
              </p:grpSpPr>
              <p:sp>
                <p:nvSpPr>
                  <p:cNvPr id="97" name="Oval 196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1066"/>
                    <a:ext cx="58" cy="5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98" name="Line 1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27" y="1097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88" name="Line 198"/>
                <p:cNvSpPr>
                  <a:spLocks noChangeShapeType="1"/>
                </p:cNvSpPr>
                <p:nvPr/>
              </p:nvSpPr>
              <p:spPr bwMode="auto">
                <a:xfrm flipH="1" flipV="1">
                  <a:off x="716" y="2102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0" name="Oval 199"/>
                <p:cNvSpPr>
                  <a:spLocks noChangeArrowheads="1"/>
                </p:cNvSpPr>
                <p:nvPr/>
              </p:nvSpPr>
              <p:spPr bwMode="auto">
                <a:xfrm>
                  <a:off x="946" y="2071"/>
                  <a:ext cx="58" cy="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91" name="Group 200"/>
                <p:cNvGrpSpPr>
                  <a:grpSpLocks/>
                </p:cNvGrpSpPr>
                <p:nvPr/>
              </p:nvGrpSpPr>
              <p:grpSpPr bwMode="auto">
                <a:xfrm>
                  <a:off x="570" y="2126"/>
                  <a:ext cx="173" cy="58"/>
                  <a:chOff x="430" y="1223"/>
                  <a:chExt cx="173" cy="58"/>
                </a:xfrm>
              </p:grpSpPr>
              <p:sp>
                <p:nvSpPr>
                  <p:cNvPr id="93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545" y="1223"/>
                    <a:ext cx="58" cy="5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96" name="Line 2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0" y="1254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92" name="Freeform 315"/>
                <p:cNvSpPr>
                  <a:spLocks/>
                </p:cNvSpPr>
                <p:nvPr/>
              </p:nvSpPr>
              <p:spPr bwMode="auto">
                <a:xfrm>
                  <a:off x="576" y="2045"/>
                  <a:ext cx="576" cy="115"/>
                </a:xfrm>
                <a:custGeom>
                  <a:avLst/>
                  <a:gdLst>
                    <a:gd name="T0" fmla="*/ 0 w 576"/>
                    <a:gd name="T1" fmla="*/ 0 h 115"/>
                    <a:gd name="T2" fmla="*/ 0 w 576"/>
                    <a:gd name="T3" fmla="*/ 115 h 115"/>
                    <a:gd name="T4" fmla="*/ 576 w 576"/>
                    <a:gd name="T5" fmla="*/ 57 h 115"/>
                    <a:gd name="T6" fmla="*/ 0 w 576"/>
                    <a:gd name="T7" fmla="*/ 0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6" h="115">
                      <a:moveTo>
                        <a:pt x="0" y="0"/>
                      </a:moveTo>
                      <a:lnTo>
                        <a:pt x="0" y="115"/>
                      </a:lnTo>
                      <a:lnTo>
                        <a:pt x="576" y="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99" name="Straight Connector 98"/>
              <p:cNvCxnSpPr/>
              <p:nvPr/>
            </p:nvCxnSpPr>
            <p:spPr>
              <a:xfrm>
                <a:off x="2645786" y="2945406"/>
                <a:ext cx="1551874" cy="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>
                <a:endCxn id="75" idx="1"/>
              </p:cNvCxnSpPr>
              <p:nvPr/>
            </p:nvCxnSpPr>
            <p:spPr>
              <a:xfrm>
                <a:off x="3743909" y="2162371"/>
                <a:ext cx="463277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>
                <a:stCxn id="94" idx="3"/>
              </p:cNvCxnSpPr>
              <p:nvPr/>
            </p:nvCxnSpPr>
            <p:spPr>
              <a:xfrm>
                <a:off x="3975547" y="3133415"/>
                <a:ext cx="21766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stCxn id="75" idx="2"/>
              </p:cNvCxnSpPr>
              <p:nvPr/>
            </p:nvCxnSpPr>
            <p:spPr>
              <a:xfrm>
                <a:off x="5121585" y="2070297"/>
                <a:ext cx="189717" cy="793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92" idx="2"/>
              </p:cNvCxnSpPr>
              <p:nvPr/>
            </p:nvCxnSpPr>
            <p:spPr>
              <a:xfrm>
                <a:off x="5117141" y="3041340"/>
                <a:ext cx="2469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313"/>
              <p:cNvGrpSpPr>
                <a:grpSpLocks/>
              </p:cNvGrpSpPr>
              <p:nvPr/>
            </p:nvGrpSpPr>
            <p:grpSpPr bwMode="auto">
              <a:xfrm>
                <a:off x="4058112" y="4463960"/>
                <a:ext cx="914400" cy="225425"/>
                <a:chOff x="288" y="1119"/>
                <a:chExt cx="576" cy="142"/>
              </a:xfrm>
            </p:grpSpPr>
            <p:grpSp>
              <p:nvGrpSpPr>
                <p:cNvPr id="103" name="Group 185"/>
                <p:cNvGrpSpPr>
                  <a:grpSpLocks/>
                </p:cNvGrpSpPr>
                <p:nvPr/>
              </p:nvGrpSpPr>
              <p:grpSpPr bwMode="auto">
                <a:xfrm>
                  <a:off x="288" y="1119"/>
                  <a:ext cx="576" cy="142"/>
                  <a:chOff x="1152" y="893"/>
                  <a:chExt cx="576" cy="142"/>
                </a:xfrm>
              </p:grpSpPr>
              <p:sp>
                <p:nvSpPr>
                  <p:cNvPr id="105" name="Oval 186"/>
                  <p:cNvSpPr>
                    <a:spLocks noChangeArrowheads="1"/>
                  </p:cNvSpPr>
                  <p:nvPr/>
                </p:nvSpPr>
                <p:spPr bwMode="auto">
                  <a:xfrm>
                    <a:off x="1267" y="977"/>
                    <a:ext cx="58" cy="5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06" name="Line 187"/>
                  <p:cNvSpPr>
                    <a:spLocks noChangeShapeType="1"/>
                  </p:cNvSpPr>
                  <p:nvPr/>
                </p:nvSpPr>
                <p:spPr bwMode="auto">
                  <a:xfrm>
                    <a:off x="1613" y="1008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7" name="Line 18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2" y="1008"/>
                    <a:ext cx="11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8" name="Line 18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353" y="893"/>
                    <a:ext cx="230" cy="11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9" name="Oval 190"/>
                  <p:cNvSpPr>
                    <a:spLocks noChangeArrowheads="1"/>
                  </p:cNvSpPr>
                  <p:nvPr/>
                </p:nvSpPr>
                <p:spPr bwMode="auto">
                  <a:xfrm>
                    <a:off x="1555" y="977"/>
                    <a:ext cx="58" cy="5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2" name="Freeform 311"/>
                <p:cNvSpPr>
                  <a:spLocks/>
                </p:cNvSpPr>
                <p:nvPr/>
              </p:nvSpPr>
              <p:spPr bwMode="auto">
                <a:xfrm>
                  <a:off x="288" y="1123"/>
                  <a:ext cx="576" cy="115"/>
                </a:xfrm>
                <a:custGeom>
                  <a:avLst/>
                  <a:gdLst>
                    <a:gd name="T0" fmla="*/ 0 w 576"/>
                    <a:gd name="T1" fmla="*/ 115 h 115"/>
                    <a:gd name="T2" fmla="*/ 230 w 576"/>
                    <a:gd name="T3" fmla="*/ 0 h 115"/>
                    <a:gd name="T4" fmla="*/ 576 w 576"/>
                    <a:gd name="T5" fmla="*/ 115 h 115"/>
                    <a:gd name="T6" fmla="*/ 0 w 576"/>
                    <a:gd name="T7" fmla="*/ 115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76" h="115">
                      <a:moveTo>
                        <a:pt x="0" y="115"/>
                      </a:moveTo>
                      <a:lnTo>
                        <a:pt x="230" y="0"/>
                      </a:lnTo>
                      <a:lnTo>
                        <a:pt x="576" y="11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26" name="Elbow Connector 25"/>
              <p:cNvCxnSpPr>
                <a:endCxn id="102" idx="0"/>
              </p:cNvCxnSpPr>
              <p:nvPr/>
            </p:nvCxnSpPr>
            <p:spPr>
              <a:xfrm rot="16200000" flipH="1">
                <a:off x="2218471" y="2813231"/>
                <a:ext cx="2681002" cy="998280"/>
              </a:xfrm>
              <a:prstGeom prst="bentConnector4">
                <a:avLst>
                  <a:gd name="adj1" fmla="val 46595"/>
                  <a:gd name="adj2" fmla="val 159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4578004" y="1268760"/>
                <a:ext cx="0" cy="32727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Oval 183"/>
              <p:cNvSpPr>
                <a:spLocks noChangeArrowheads="1"/>
              </p:cNvSpPr>
              <p:nvPr/>
            </p:nvSpPr>
            <p:spPr bwMode="auto">
              <a:xfrm>
                <a:off x="3017839" y="1925832"/>
                <a:ext cx="92075" cy="9207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lIns="91431" tIns="45715" rIns="91431" bIns="45715" anchor="ctr"/>
              <a:lstStyle/>
              <a:p>
                <a:endParaRPr lang="en-GB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614866" y="622430"/>
                <a:ext cx="1926276" cy="615544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pPr algn="ctr"/>
                <a:r>
                  <a:rPr lang="en-GB" dirty="0" smtClean="0"/>
                  <a:t>UP=active</a:t>
                </a:r>
              </a:p>
              <a:p>
                <a:pPr algn="ctr"/>
                <a:r>
                  <a:rPr lang="en-GB" dirty="0" smtClean="0"/>
                  <a:t>DOWN=passive</a:t>
                </a:r>
                <a:endParaRPr lang="en-GB" dirty="0"/>
              </a:p>
            </p:txBody>
          </p:sp>
          <p:cxnSp>
            <p:nvCxnSpPr>
              <p:cNvPr id="35" name="Straight Arrow Connector 34"/>
              <p:cNvCxnSpPr>
                <a:endCxn id="55" idx="3"/>
              </p:cNvCxnSpPr>
              <p:nvPr/>
            </p:nvCxnSpPr>
            <p:spPr>
              <a:xfrm flipV="1">
                <a:off x="611560" y="1975047"/>
                <a:ext cx="1062118" cy="659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/>
              <p:nvPr/>
            </p:nvCxnSpPr>
            <p:spPr>
              <a:xfrm flipV="1">
                <a:off x="611560" y="2950853"/>
                <a:ext cx="1062118" cy="659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2068136" y="3666018"/>
                <a:ext cx="0" cy="12793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3" name="Oval 112"/>
              <p:cNvSpPr/>
              <p:nvPr/>
            </p:nvSpPr>
            <p:spPr>
              <a:xfrm>
                <a:off x="2045277" y="494538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1431" tIns="45715" rIns="91431" bIns="45715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1295635" y="1088740"/>
                <a:ext cx="1814277" cy="351735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r>
                  <a:rPr lang="en-GB" dirty="0" smtClean="0"/>
                  <a:t>Power amplifier</a:t>
                </a:r>
                <a:endParaRPr lang="en-GB" dirty="0"/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287524" y="1357886"/>
                <a:ext cx="1224136" cy="615544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r>
                  <a:rPr lang="en-GB" i="1" dirty="0" smtClean="0"/>
                  <a:t>High freq </a:t>
                </a:r>
                <a:r>
                  <a:rPr lang="en-GB" dirty="0" smtClean="0"/>
                  <a:t>or </a:t>
                </a:r>
                <a:r>
                  <a:rPr lang="en-GB" i="1" dirty="0" smtClean="0"/>
                  <a:t>all freq</a:t>
                </a:r>
                <a:endParaRPr lang="en-GB" i="1" dirty="0"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427497" y="2571431"/>
                <a:ext cx="1008112" cy="351735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r>
                  <a:rPr lang="en-GB" i="1" dirty="0" smtClean="0"/>
                  <a:t>Low freq</a:t>
                </a:r>
                <a:endParaRPr lang="en-GB" i="1" dirty="0"/>
              </a:p>
            </p:txBody>
          </p:sp>
          <p:grpSp>
            <p:nvGrpSpPr>
              <p:cNvPr id="117" name="Group 116"/>
              <p:cNvGrpSpPr/>
              <p:nvPr/>
            </p:nvGrpSpPr>
            <p:grpSpPr>
              <a:xfrm rot="10800000">
                <a:off x="4996101" y="3926872"/>
                <a:ext cx="144016" cy="64960"/>
                <a:chOff x="4427984" y="3400044"/>
                <a:chExt cx="144016" cy="64960"/>
              </a:xfrm>
            </p:grpSpPr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4427984" y="3400044"/>
                  <a:ext cx="144016" cy="28956"/>
                </a:xfrm>
                <a:prstGeom prst="line">
                  <a:avLst/>
                </a:prstGeom>
                <a:ln/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 flipV="1">
                  <a:off x="4427984" y="3429000"/>
                  <a:ext cx="144015" cy="36004"/>
                </a:xfrm>
                <a:prstGeom prst="line">
                  <a:avLst/>
                </a:prstGeom>
                <a:ln/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/>
              <p:cNvGrpSpPr/>
              <p:nvPr/>
            </p:nvGrpSpPr>
            <p:grpSpPr>
              <a:xfrm rot="10800000">
                <a:off x="4996101" y="4166140"/>
                <a:ext cx="144016" cy="64960"/>
                <a:chOff x="4427984" y="3400044"/>
                <a:chExt cx="144016" cy="64960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4427984" y="3400044"/>
                  <a:ext cx="144016" cy="28956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flipV="1">
                  <a:off x="4427984" y="3429000"/>
                  <a:ext cx="144015" cy="3600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3" name="TextBox 122"/>
              <p:cNvSpPr txBox="1"/>
              <p:nvPr/>
            </p:nvSpPr>
            <p:spPr>
              <a:xfrm>
                <a:off x="8147370" y="4618465"/>
                <a:ext cx="863588" cy="351735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r>
                  <a:rPr lang="en-GB" dirty="0" smtClean="0"/>
                  <a:t>woofer</a:t>
                </a:r>
                <a:endParaRPr lang="en-GB" dirty="0"/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8172380" y="2029498"/>
                <a:ext cx="971620" cy="351735"/>
              </a:xfrm>
              <a:prstGeom prst="rect">
                <a:avLst/>
              </a:prstGeom>
              <a:noFill/>
            </p:spPr>
            <p:txBody>
              <a:bodyPr wrap="square" lIns="91431" tIns="45715" rIns="91431" bIns="45715" rtlCol="0">
                <a:spAutoFit/>
              </a:bodyPr>
              <a:lstStyle/>
              <a:p>
                <a:r>
                  <a:rPr lang="en-GB" dirty="0" smtClean="0"/>
                  <a:t>tweeter</a:t>
                </a:r>
                <a:endParaRPr lang="en-GB" dirty="0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6679639" y="1630708"/>
              <a:ext cx="467827" cy="511438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noAutofit/>
            </a:bodyPr>
            <a:lstStyle/>
            <a:p>
              <a:r>
                <a:rPr lang="en-GB" sz="3600" b="1" dirty="0" smtClean="0"/>
                <a:t>A</a:t>
              </a:r>
              <a:endParaRPr lang="en-GB" sz="3600" b="1" dirty="0" smtClean="0"/>
            </a:p>
          </p:txBody>
        </p:sp>
        <p:sp>
          <p:nvSpPr>
            <p:cNvPr id="101" name="Oval 100"/>
            <p:cNvSpPr/>
            <p:nvPr/>
          </p:nvSpPr>
          <p:spPr>
            <a:xfrm>
              <a:off x="6891049" y="2158672"/>
              <a:ext cx="45005" cy="4800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104" name="Oval 103"/>
            <p:cNvSpPr/>
            <p:nvPr/>
          </p:nvSpPr>
          <p:spPr>
            <a:xfrm>
              <a:off x="6891798" y="3165902"/>
              <a:ext cx="45005" cy="4800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694785" y="2628947"/>
              <a:ext cx="467827" cy="511438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noAutofit/>
            </a:bodyPr>
            <a:lstStyle/>
            <a:p>
              <a:r>
                <a:rPr lang="en-GB" sz="3600" b="1" dirty="0"/>
                <a:t>B</a:t>
              </a:r>
              <a:endParaRPr lang="en-GB" sz="3600" b="1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63139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3.gstatic.com/images?q=tbn:ANd9GcQkPBtCYG1-DLdukovW3v-Yz4X5t8tQkjMbOIkiBdEGGEgeMZD8T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8071" y="4235848"/>
            <a:ext cx="2117205" cy="51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TextBox 1035"/>
          <p:cNvSpPr txBox="1"/>
          <p:nvPr/>
        </p:nvSpPr>
        <p:spPr>
          <a:xfrm>
            <a:off x="7735746" y="3956957"/>
            <a:ext cx="1517344" cy="496253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Autofit/>
          </a:bodyPr>
          <a:lstStyle/>
          <a:p>
            <a:r>
              <a:rPr lang="en-GB" sz="1200" dirty="0" smtClean="0"/>
              <a:t>Single-ended output to sound card Mic In</a:t>
            </a:r>
            <a:endParaRPr lang="en-GB" sz="1200" dirty="0" smtClean="0"/>
          </a:p>
        </p:txBody>
      </p:sp>
      <p:grpSp>
        <p:nvGrpSpPr>
          <p:cNvPr id="3" name="Group 874"/>
          <p:cNvGrpSpPr>
            <a:grpSpLocks/>
          </p:cNvGrpSpPr>
          <p:nvPr/>
        </p:nvGrpSpPr>
        <p:grpSpPr bwMode="auto">
          <a:xfrm>
            <a:off x="6410365" y="4126607"/>
            <a:ext cx="914400" cy="731838"/>
            <a:chOff x="173" y="1008"/>
            <a:chExt cx="576" cy="461"/>
          </a:xfrm>
        </p:grpSpPr>
        <p:grpSp>
          <p:nvGrpSpPr>
            <p:cNvPr id="4" name="Group 51"/>
            <p:cNvGrpSpPr>
              <a:grpSpLocks/>
            </p:cNvGrpSpPr>
            <p:nvPr/>
          </p:nvGrpSpPr>
          <p:grpSpPr bwMode="auto">
            <a:xfrm>
              <a:off x="173" y="1008"/>
              <a:ext cx="576" cy="461"/>
              <a:chOff x="3456" y="3370"/>
              <a:chExt cx="576" cy="461"/>
            </a:xfrm>
          </p:grpSpPr>
          <p:sp>
            <p:nvSpPr>
              <p:cNvPr id="6" name="Line 46"/>
              <p:cNvSpPr>
                <a:spLocks noChangeShapeType="1"/>
              </p:cNvSpPr>
              <p:nvPr/>
            </p:nvSpPr>
            <p:spPr bwMode="auto">
              <a:xfrm>
                <a:off x="3456" y="3485"/>
                <a:ext cx="1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Line 47"/>
              <p:cNvSpPr>
                <a:spLocks noChangeShapeType="1"/>
              </p:cNvSpPr>
              <p:nvPr/>
            </p:nvSpPr>
            <p:spPr bwMode="auto">
              <a:xfrm>
                <a:off x="3456" y="3715"/>
                <a:ext cx="1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Line 48"/>
              <p:cNvSpPr>
                <a:spLocks noChangeShapeType="1"/>
              </p:cNvSpPr>
              <p:nvPr/>
            </p:nvSpPr>
            <p:spPr bwMode="auto">
              <a:xfrm>
                <a:off x="3859" y="3600"/>
                <a:ext cx="1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AutoShape 45"/>
              <p:cNvSpPr>
                <a:spLocks noChangeArrowheads="1"/>
              </p:cNvSpPr>
              <p:nvPr/>
            </p:nvSpPr>
            <p:spPr bwMode="auto">
              <a:xfrm rot="5400000">
                <a:off x="3501" y="3440"/>
                <a:ext cx="461" cy="322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  <p:sp>
            <p:nvSpPr>
              <p:cNvPr id="10" name="Text Box 50"/>
              <p:cNvSpPr txBox="1">
                <a:spLocks noChangeArrowheads="1"/>
              </p:cNvSpPr>
              <p:nvPr/>
            </p:nvSpPr>
            <p:spPr bwMode="auto">
              <a:xfrm>
                <a:off x="3536" y="3382"/>
                <a:ext cx="181" cy="4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400"/>
                  <a:t>-</a:t>
                </a:r>
              </a:p>
              <a:p>
                <a:pPr eaLnBrk="1" hangingPunct="1"/>
                <a:endParaRPr lang="en-US" sz="1000"/>
              </a:p>
              <a:p>
                <a:pPr eaLnBrk="1" hangingPunct="1"/>
                <a:r>
                  <a:rPr lang="en-US" sz="1400"/>
                  <a:t>+</a:t>
                </a:r>
              </a:p>
            </p:txBody>
          </p:sp>
        </p:grpSp>
        <p:sp>
          <p:nvSpPr>
            <p:cNvPr id="5" name="Freeform 873"/>
            <p:cNvSpPr>
              <a:spLocks/>
            </p:cNvSpPr>
            <p:nvPr/>
          </p:nvSpPr>
          <p:spPr bwMode="auto">
            <a:xfrm>
              <a:off x="173" y="1123"/>
              <a:ext cx="576" cy="231"/>
            </a:xfrm>
            <a:custGeom>
              <a:avLst/>
              <a:gdLst>
                <a:gd name="T0" fmla="*/ 0 w 576"/>
                <a:gd name="T1" fmla="*/ 0 h 231"/>
                <a:gd name="T2" fmla="*/ 0 w 576"/>
                <a:gd name="T3" fmla="*/ 231 h 231"/>
                <a:gd name="T4" fmla="*/ 576 w 576"/>
                <a:gd name="T5" fmla="*/ 115 h 231"/>
                <a:gd name="T6" fmla="*/ 0 w 576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31">
                  <a:moveTo>
                    <a:pt x="0" y="0"/>
                  </a:moveTo>
                  <a:lnTo>
                    <a:pt x="0" y="231"/>
                  </a:lnTo>
                  <a:lnTo>
                    <a:pt x="576" y="11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1" name="Group 367"/>
          <p:cNvGrpSpPr>
            <a:grpSpLocks/>
          </p:cNvGrpSpPr>
          <p:nvPr/>
        </p:nvGrpSpPr>
        <p:grpSpPr bwMode="auto">
          <a:xfrm rot="16200000">
            <a:off x="6772894" y="3361211"/>
            <a:ext cx="184150" cy="914400"/>
            <a:chOff x="691" y="3197"/>
            <a:chExt cx="116" cy="576"/>
          </a:xfrm>
        </p:grpSpPr>
        <p:sp>
          <p:nvSpPr>
            <p:cNvPr id="14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" name="Freeform 1"/>
          <p:cNvSpPr/>
          <p:nvPr/>
        </p:nvSpPr>
        <p:spPr>
          <a:xfrm>
            <a:off x="7293161" y="3811547"/>
            <a:ext cx="387626" cy="681772"/>
          </a:xfrm>
          <a:custGeom>
            <a:avLst/>
            <a:gdLst>
              <a:gd name="connsiteX0" fmla="*/ 19878 w 387626"/>
              <a:gd name="connsiteY0" fmla="*/ 0 h 665921"/>
              <a:gd name="connsiteX1" fmla="*/ 387626 w 387626"/>
              <a:gd name="connsiteY1" fmla="*/ 0 h 665921"/>
              <a:gd name="connsiteX2" fmla="*/ 387626 w 387626"/>
              <a:gd name="connsiteY2" fmla="*/ 665921 h 665921"/>
              <a:gd name="connsiteX3" fmla="*/ 0 w 387626"/>
              <a:gd name="connsiteY3" fmla="*/ 665921 h 66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626" h="665921">
                <a:moveTo>
                  <a:pt x="19878" y="0"/>
                </a:moveTo>
                <a:lnTo>
                  <a:pt x="387626" y="0"/>
                </a:lnTo>
                <a:lnTo>
                  <a:pt x="387626" y="665921"/>
                </a:lnTo>
                <a:lnTo>
                  <a:pt x="0" y="665921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6592133" y="3419730"/>
            <a:ext cx="701028" cy="391817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dirty="0" smtClean="0"/>
              <a:t>10K</a:t>
            </a:r>
            <a:endParaRPr lang="en-GB" dirty="0" smtClean="0"/>
          </a:p>
        </p:txBody>
      </p:sp>
      <p:grpSp>
        <p:nvGrpSpPr>
          <p:cNvPr id="18" name="Group 367"/>
          <p:cNvGrpSpPr>
            <a:grpSpLocks/>
          </p:cNvGrpSpPr>
          <p:nvPr/>
        </p:nvGrpSpPr>
        <p:grpSpPr bwMode="auto">
          <a:xfrm>
            <a:off x="5894301" y="4831815"/>
            <a:ext cx="184150" cy="914400"/>
            <a:chOff x="691" y="3197"/>
            <a:chExt cx="116" cy="576"/>
          </a:xfrm>
        </p:grpSpPr>
        <p:sp>
          <p:nvSpPr>
            <p:cNvPr id="19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457664" y="5135670"/>
            <a:ext cx="701028" cy="391817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dirty="0" smtClean="0"/>
              <a:t>10K</a:t>
            </a:r>
            <a:endParaRPr lang="en-GB" dirty="0" smtClean="0"/>
          </a:p>
        </p:txBody>
      </p:sp>
      <p:sp>
        <p:nvSpPr>
          <p:cNvPr id="23" name="Freeform 22"/>
          <p:cNvSpPr/>
          <p:nvPr/>
        </p:nvSpPr>
        <p:spPr>
          <a:xfrm>
            <a:off x="5985337" y="4675257"/>
            <a:ext cx="430530" cy="167640"/>
          </a:xfrm>
          <a:custGeom>
            <a:avLst/>
            <a:gdLst>
              <a:gd name="connsiteX0" fmla="*/ 430530 w 430530"/>
              <a:gd name="connsiteY0" fmla="*/ 0 h 167640"/>
              <a:gd name="connsiteX1" fmla="*/ 0 w 430530"/>
              <a:gd name="connsiteY1" fmla="*/ 0 h 167640"/>
              <a:gd name="connsiteX2" fmla="*/ 0 w 430530"/>
              <a:gd name="connsiteY2" fmla="*/ 167640 h 16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530" h="167640">
                <a:moveTo>
                  <a:pt x="430530" y="0"/>
                </a:moveTo>
                <a:lnTo>
                  <a:pt x="0" y="0"/>
                </a:lnTo>
                <a:lnTo>
                  <a:pt x="0" y="167640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5" name="Group 367"/>
          <p:cNvGrpSpPr>
            <a:grpSpLocks/>
          </p:cNvGrpSpPr>
          <p:nvPr/>
        </p:nvGrpSpPr>
        <p:grpSpPr bwMode="auto">
          <a:xfrm rot="16200000">
            <a:off x="5195920" y="4217095"/>
            <a:ext cx="184150" cy="914400"/>
            <a:chOff x="691" y="3197"/>
            <a:chExt cx="116" cy="576"/>
          </a:xfrm>
        </p:grpSpPr>
        <p:sp>
          <p:nvSpPr>
            <p:cNvPr id="26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8" name="Group 367"/>
          <p:cNvGrpSpPr>
            <a:grpSpLocks/>
          </p:cNvGrpSpPr>
          <p:nvPr/>
        </p:nvGrpSpPr>
        <p:grpSpPr bwMode="auto">
          <a:xfrm rot="16200000">
            <a:off x="5195920" y="3851970"/>
            <a:ext cx="184150" cy="914400"/>
            <a:chOff x="691" y="3197"/>
            <a:chExt cx="116" cy="576"/>
          </a:xfrm>
        </p:grpSpPr>
        <p:sp>
          <p:nvSpPr>
            <p:cNvPr id="29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4" name="Freeform 23"/>
          <p:cNvSpPr/>
          <p:nvPr/>
        </p:nvSpPr>
        <p:spPr>
          <a:xfrm>
            <a:off x="5745307" y="4309497"/>
            <a:ext cx="678180" cy="0"/>
          </a:xfrm>
          <a:custGeom>
            <a:avLst/>
            <a:gdLst>
              <a:gd name="connsiteX0" fmla="*/ 0 w 678180"/>
              <a:gd name="connsiteY0" fmla="*/ 0 h 0"/>
              <a:gd name="connsiteX1" fmla="*/ 678180 w 6781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8180">
                <a:moveTo>
                  <a:pt x="0" y="0"/>
                </a:moveTo>
                <a:lnTo>
                  <a:pt x="678180" y="0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 30"/>
          <p:cNvSpPr/>
          <p:nvPr/>
        </p:nvSpPr>
        <p:spPr>
          <a:xfrm>
            <a:off x="5733877" y="4675257"/>
            <a:ext cx="255270" cy="0"/>
          </a:xfrm>
          <a:custGeom>
            <a:avLst/>
            <a:gdLst>
              <a:gd name="connsiteX0" fmla="*/ 0 w 255270"/>
              <a:gd name="connsiteY0" fmla="*/ 0 h 0"/>
              <a:gd name="connsiteX1" fmla="*/ 255270 w 25527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5270">
                <a:moveTo>
                  <a:pt x="0" y="0"/>
                </a:moveTo>
                <a:lnTo>
                  <a:pt x="255270" y="0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4" name="Freeform 1023"/>
          <p:cNvSpPr/>
          <p:nvPr/>
        </p:nvSpPr>
        <p:spPr>
          <a:xfrm>
            <a:off x="6000577" y="3816102"/>
            <a:ext cx="411480" cy="497205"/>
          </a:xfrm>
          <a:custGeom>
            <a:avLst/>
            <a:gdLst>
              <a:gd name="connsiteX0" fmla="*/ 411480 w 411480"/>
              <a:gd name="connsiteY0" fmla="*/ 0 h 497205"/>
              <a:gd name="connsiteX1" fmla="*/ 0 w 411480"/>
              <a:gd name="connsiteY1" fmla="*/ 0 h 497205"/>
              <a:gd name="connsiteX2" fmla="*/ 0 w 411480"/>
              <a:gd name="connsiteY2" fmla="*/ 49720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" h="497205">
                <a:moveTo>
                  <a:pt x="411480" y="0"/>
                </a:moveTo>
                <a:lnTo>
                  <a:pt x="0" y="0"/>
                </a:lnTo>
                <a:lnTo>
                  <a:pt x="0" y="497205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5044279" y="4708052"/>
            <a:ext cx="701028" cy="391817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dirty="0" smtClean="0"/>
              <a:t>1K</a:t>
            </a:r>
            <a:endParaRPr lang="en-GB" dirty="0" smtClean="0"/>
          </a:p>
        </p:txBody>
      </p:sp>
      <p:sp>
        <p:nvSpPr>
          <p:cNvPr id="35" name="TextBox 34"/>
          <p:cNvSpPr txBox="1"/>
          <p:nvPr/>
        </p:nvSpPr>
        <p:spPr>
          <a:xfrm>
            <a:off x="5044279" y="3910487"/>
            <a:ext cx="701028" cy="391817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dirty="0" smtClean="0"/>
              <a:t>1K</a:t>
            </a:r>
            <a:endParaRPr lang="en-GB" dirty="0" smtClean="0"/>
          </a:p>
        </p:txBody>
      </p:sp>
      <p:cxnSp>
        <p:nvCxnSpPr>
          <p:cNvPr id="1031" name="Straight Connector 1030"/>
          <p:cNvCxnSpPr/>
          <p:nvPr/>
        </p:nvCxnSpPr>
        <p:spPr>
          <a:xfrm>
            <a:off x="4646169" y="5746215"/>
            <a:ext cx="361031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324"/>
          <p:cNvGrpSpPr>
            <a:grpSpLocks/>
          </p:cNvGrpSpPr>
          <p:nvPr/>
        </p:nvGrpSpPr>
        <p:grpSpPr bwMode="auto">
          <a:xfrm>
            <a:off x="8027879" y="5743071"/>
            <a:ext cx="490538" cy="457200"/>
            <a:chOff x="2110" y="1699"/>
            <a:chExt cx="309" cy="288"/>
          </a:xfrm>
        </p:grpSpPr>
        <p:grpSp>
          <p:nvGrpSpPr>
            <p:cNvPr id="44" name="Group 125"/>
            <p:cNvGrpSpPr>
              <a:grpSpLocks/>
            </p:cNvGrpSpPr>
            <p:nvPr/>
          </p:nvGrpSpPr>
          <p:grpSpPr bwMode="auto">
            <a:xfrm>
              <a:off x="2110" y="1699"/>
              <a:ext cx="288" cy="288"/>
              <a:chOff x="1585" y="1987"/>
              <a:chExt cx="288" cy="288"/>
            </a:xfrm>
          </p:grpSpPr>
          <p:grpSp>
            <p:nvGrpSpPr>
              <p:cNvPr id="46" name="Group 126"/>
              <p:cNvGrpSpPr>
                <a:grpSpLocks/>
              </p:cNvGrpSpPr>
              <p:nvPr/>
            </p:nvGrpSpPr>
            <p:grpSpPr bwMode="auto">
              <a:xfrm>
                <a:off x="1585" y="2160"/>
                <a:ext cx="288" cy="115"/>
                <a:chOff x="1152" y="2160"/>
                <a:chExt cx="288" cy="115"/>
              </a:xfrm>
            </p:grpSpPr>
            <p:sp>
              <p:nvSpPr>
                <p:cNvPr id="48" name="Line 127"/>
                <p:cNvSpPr>
                  <a:spLocks noChangeShapeType="1"/>
                </p:cNvSpPr>
                <p:nvPr/>
              </p:nvSpPr>
              <p:spPr bwMode="auto">
                <a:xfrm>
                  <a:off x="1152" y="216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9" name="Line 128"/>
                <p:cNvSpPr>
                  <a:spLocks noChangeShapeType="1"/>
                </p:cNvSpPr>
                <p:nvPr/>
              </p:nvSpPr>
              <p:spPr bwMode="auto">
                <a:xfrm>
                  <a:off x="1210" y="2218"/>
                  <a:ext cx="17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0" name="Line 129"/>
                <p:cNvSpPr>
                  <a:spLocks noChangeShapeType="1"/>
                </p:cNvSpPr>
                <p:nvPr/>
              </p:nvSpPr>
              <p:spPr bwMode="auto">
                <a:xfrm>
                  <a:off x="1267" y="2275"/>
                  <a:ext cx="5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47" name="Line 130"/>
              <p:cNvSpPr>
                <a:spLocks noChangeShapeType="1"/>
              </p:cNvSpPr>
              <p:nvPr/>
            </p:nvSpPr>
            <p:spPr bwMode="auto">
              <a:xfrm flipV="1">
                <a:off x="1728" y="1987"/>
                <a:ext cx="0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5" name="Freeform 323"/>
            <p:cNvSpPr>
              <a:spLocks/>
            </p:cNvSpPr>
            <p:nvPr/>
          </p:nvSpPr>
          <p:spPr bwMode="auto">
            <a:xfrm>
              <a:off x="2131" y="1699"/>
              <a:ext cx="288" cy="173"/>
            </a:xfrm>
            <a:custGeom>
              <a:avLst/>
              <a:gdLst>
                <a:gd name="T0" fmla="*/ 115 w 288"/>
                <a:gd name="T1" fmla="*/ 0 h 173"/>
                <a:gd name="T2" fmla="*/ 0 w 288"/>
                <a:gd name="T3" fmla="*/ 173 h 173"/>
                <a:gd name="T4" fmla="*/ 288 w 288"/>
                <a:gd name="T5" fmla="*/ 173 h 173"/>
                <a:gd name="T6" fmla="*/ 115 w 288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" h="173">
                  <a:moveTo>
                    <a:pt x="115" y="0"/>
                  </a:moveTo>
                  <a:lnTo>
                    <a:pt x="0" y="173"/>
                  </a:lnTo>
                  <a:lnTo>
                    <a:pt x="288" y="173"/>
                  </a:lnTo>
                  <a:lnTo>
                    <a:pt x="115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cxnSp>
        <p:nvCxnSpPr>
          <p:cNvPr id="1034" name="Straight Arrow Connector 1033"/>
          <p:cNvCxnSpPr>
            <a:stCxn id="2" idx="2"/>
          </p:cNvCxnSpPr>
          <p:nvPr/>
        </p:nvCxnSpPr>
        <p:spPr>
          <a:xfrm>
            <a:off x="7680787" y="4493319"/>
            <a:ext cx="6377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>
            <a:stCxn id="30" idx="0"/>
          </p:cNvCxnSpPr>
          <p:nvPr/>
        </p:nvCxnSpPr>
        <p:spPr>
          <a:xfrm flipH="1">
            <a:off x="3746069" y="4309171"/>
            <a:ext cx="1084727" cy="41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/>
          <p:cNvCxnSpPr>
            <a:stCxn id="27" idx="0"/>
          </p:cNvCxnSpPr>
          <p:nvPr/>
        </p:nvCxnSpPr>
        <p:spPr>
          <a:xfrm flipH="1" flipV="1">
            <a:off x="3746069" y="4674295"/>
            <a:ext cx="1084727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/>
          <p:cNvCxnSpPr/>
          <p:nvPr/>
        </p:nvCxnSpPr>
        <p:spPr>
          <a:xfrm>
            <a:off x="3746069" y="4217095"/>
            <a:ext cx="936104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3766315" y="4769981"/>
            <a:ext cx="936104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Freeform 1045"/>
          <p:cNvSpPr/>
          <p:nvPr/>
        </p:nvSpPr>
        <p:spPr>
          <a:xfrm>
            <a:off x="4656654" y="4231047"/>
            <a:ext cx="108439" cy="548640"/>
          </a:xfrm>
          <a:custGeom>
            <a:avLst/>
            <a:gdLst>
              <a:gd name="connsiteX0" fmla="*/ 0 w 42844"/>
              <a:gd name="connsiteY0" fmla="*/ 0 h 548640"/>
              <a:gd name="connsiteX1" fmla="*/ 42672 w 42844"/>
              <a:gd name="connsiteY1" fmla="*/ 304800 h 548640"/>
              <a:gd name="connsiteX2" fmla="*/ 12192 w 42844"/>
              <a:gd name="connsiteY2" fmla="*/ 548640 h 548640"/>
              <a:gd name="connsiteX0" fmla="*/ 0 w 40592"/>
              <a:gd name="connsiteY0" fmla="*/ 0 h 548640"/>
              <a:gd name="connsiteX1" fmla="*/ 40395 w 40592"/>
              <a:gd name="connsiteY1" fmla="*/ 243840 h 548640"/>
              <a:gd name="connsiteX2" fmla="*/ 12192 w 40592"/>
              <a:gd name="connsiteY2" fmla="*/ 548640 h 548640"/>
              <a:gd name="connsiteX0" fmla="*/ 0 w 40496"/>
              <a:gd name="connsiteY0" fmla="*/ 0 h 548640"/>
              <a:gd name="connsiteX1" fmla="*/ 40395 w 40496"/>
              <a:gd name="connsiteY1" fmla="*/ 243840 h 548640"/>
              <a:gd name="connsiteX2" fmla="*/ 11575 w 40496"/>
              <a:gd name="connsiteY2" fmla="*/ 512790 h 548640"/>
              <a:gd name="connsiteX3" fmla="*/ 12192 w 40496"/>
              <a:gd name="connsiteY3" fmla="*/ 548640 h 548640"/>
              <a:gd name="connsiteX0" fmla="*/ 0 w 40496"/>
              <a:gd name="connsiteY0" fmla="*/ 0 h 548640"/>
              <a:gd name="connsiteX1" fmla="*/ 40395 w 40496"/>
              <a:gd name="connsiteY1" fmla="*/ 304800 h 548640"/>
              <a:gd name="connsiteX2" fmla="*/ 11575 w 40496"/>
              <a:gd name="connsiteY2" fmla="*/ 512790 h 548640"/>
              <a:gd name="connsiteX3" fmla="*/ 12192 w 40496"/>
              <a:gd name="connsiteY3" fmla="*/ 548640 h 548640"/>
              <a:gd name="connsiteX0" fmla="*/ 0 w 40496"/>
              <a:gd name="connsiteY0" fmla="*/ 0 h 548640"/>
              <a:gd name="connsiteX1" fmla="*/ 40395 w 40496"/>
              <a:gd name="connsiteY1" fmla="*/ 274320 h 548640"/>
              <a:gd name="connsiteX2" fmla="*/ 11575 w 40496"/>
              <a:gd name="connsiteY2" fmla="*/ 512790 h 548640"/>
              <a:gd name="connsiteX3" fmla="*/ 12192 w 40496"/>
              <a:gd name="connsiteY3" fmla="*/ 54864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96" h="548640">
                <a:moveTo>
                  <a:pt x="0" y="0"/>
                </a:moveTo>
                <a:cubicBezTo>
                  <a:pt x="20320" y="106680"/>
                  <a:pt x="38466" y="188855"/>
                  <a:pt x="40395" y="274320"/>
                </a:cubicBezTo>
                <a:cubicBezTo>
                  <a:pt x="42324" y="359785"/>
                  <a:pt x="16275" y="461990"/>
                  <a:pt x="11575" y="512790"/>
                </a:cubicBezTo>
                <a:cubicBezTo>
                  <a:pt x="6875" y="563590"/>
                  <a:pt x="13607" y="542665"/>
                  <a:pt x="12192" y="548640"/>
                </a:cubicBezTo>
              </a:path>
            </a:pathLst>
          </a:cu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Freeform 65"/>
          <p:cNvSpPr/>
          <p:nvPr/>
        </p:nvSpPr>
        <p:spPr>
          <a:xfrm flipH="1">
            <a:off x="4558648" y="4218999"/>
            <a:ext cx="112102" cy="548640"/>
          </a:xfrm>
          <a:custGeom>
            <a:avLst/>
            <a:gdLst>
              <a:gd name="connsiteX0" fmla="*/ 0 w 42844"/>
              <a:gd name="connsiteY0" fmla="*/ 0 h 548640"/>
              <a:gd name="connsiteX1" fmla="*/ 42672 w 42844"/>
              <a:gd name="connsiteY1" fmla="*/ 304800 h 548640"/>
              <a:gd name="connsiteX2" fmla="*/ 12192 w 42844"/>
              <a:gd name="connsiteY2" fmla="*/ 548640 h 548640"/>
              <a:gd name="connsiteX0" fmla="*/ 0 w 40592"/>
              <a:gd name="connsiteY0" fmla="*/ 0 h 548640"/>
              <a:gd name="connsiteX1" fmla="*/ 40395 w 40592"/>
              <a:gd name="connsiteY1" fmla="*/ 243840 h 548640"/>
              <a:gd name="connsiteX2" fmla="*/ 12192 w 40592"/>
              <a:gd name="connsiteY2" fmla="*/ 548640 h 548640"/>
              <a:gd name="connsiteX0" fmla="*/ 1467 w 41864"/>
              <a:gd name="connsiteY0" fmla="*/ 0 h 548640"/>
              <a:gd name="connsiteX1" fmla="*/ 41862 w 41864"/>
              <a:gd name="connsiteY1" fmla="*/ 243840 h 548640"/>
              <a:gd name="connsiteX2" fmla="*/ 0 w 41864"/>
              <a:gd name="connsiteY2" fmla="*/ 548640 h 548640"/>
              <a:gd name="connsiteX0" fmla="*/ 1467 w 41864"/>
              <a:gd name="connsiteY0" fmla="*/ 0 h 548640"/>
              <a:gd name="connsiteX1" fmla="*/ 41862 w 41864"/>
              <a:gd name="connsiteY1" fmla="*/ 304800 h 548640"/>
              <a:gd name="connsiteX2" fmla="*/ 0 w 41864"/>
              <a:gd name="connsiteY2" fmla="*/ 54864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64" h="548640">
                <a:moveTo>
                  <a:pt x="1467" y="0"/>
                </a:moveTo>
                <a:cubicBezTo>
                  <a:pt x="21787" y="106680"/>
                  <a:pt x="42107" y="213360"/>
                  <a:pt x="41862" y="304800"/>
                </a:cubicBezTo>
                <a:cubicBezTo>
                  <a:pt x="41618" y="396240"/>
                  <a:pt x="16256" y="472440"/>
                  <a:pt x="0" y="548640"/>
                </a:cubicBezTo>
              </a:path>
            </a:pathLst>
          </a:cu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48" name="Straight Connector 1047"/>
          <p:cNvCxnSpPr>
            <a:stCxn id="1046" idx="2"/>
          </p:cNvCxnSpPr>
          <p:nvPr/>
        </p:nvCxnSpPr>
        <p:spPr>
          <a:xfrm>
            <a:off x="4687649" y="4743837"/>
            <a:ext cx="14770" cy="9992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TextBox 1048"/>
          <p:cNvSpPr txBox="1"/>
          <p:nvPr/>
        </p:nvSpPr>
        <p:spPr>
          <a:xfrm>
            <a:off x="3883941" y="4820265"/>
            <a:ext cx="868630" cy="340875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Autofit/>
          </a:bodyPr>
          <a:lstStyle/>
          <a:p>
            <a:r>
              <a:rPr lang="en-GB" sz="1200" dirty="0" smtClean="0"/>
              <a:t>Grounded shield</a:t>
            </a:r>
            <a:endParaRPr lang="en-GB" sz="1200" dirty="0" smtClean="0"/>
          </a:p>
        </p:txBody>
      </p:sp>
      <p:sp>
        <p:nvSpPr>
          <p:cNvPr id="1050" name="TextBox 1049"/>
          <p:cNvSpPr txBox="1"/>
          <p:nvPr/>
        </p:nvSpPr>
        <p:spPr>
          <a:xfrm>
            <a:off x="3782181" y="3786514"/>
            <a:ext cx="1152128" cy="340886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Autofit/>
          </a:bodyPr>
          <a:lstStyle/>
          <a:p>
            <a:r>
              <a:rPr lang="en-GB" sz="1200" dirty="0" smtClean="0"/>
              <a:t>Balanced shielded </a:t>
            </a:r>
            <a:r>
              <a:rPr lang="en-GB" sz="1200" dirty="0" smtClean="0"/>
              <a:t>cable</a:t>
            </a:r>
            <a:endParaRPr lang="en-GB" sz="1200" dirty="0" smtClean="0"/>
          </a:p>
        </p:txBody>
      </p:sp>
      <p:sp>
        <p:nvSpPr>
          <p:cNvPr id="1053" name="Rectangle 1052"/>
          <p:cNvSpPr/>
          <p:nvPr/>
        </p:nvSpPr>
        <p:spPr>
          <a:xfrm>
            <a:off x="1992131" y="3419730"/>
            <a:ext cx="1764294" cy="1925791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6307678" y="4913473"/>
            <a:ext cx="1119774" cy="432048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b="1" dirty="0" smtClean="0"/>
              <a:t>20dB gain</a:t>
            </a:r>
            <a:endParaRPr lang="en-GB" b="1" dirty="0" smtClean="0"/>
          </a:p>
        </p:txBody>
      </p:sp>
      <p:grpSp>
        <p:nvGrpSpPr>
          <p:cNvPr id="89" name="Group 324"/>
          <p:cNvGrpSpPr>
            <a:grpSpLocks/>
          </p:cNvGrpSpPr>
          <p:nvPr/>
        </p:nvGrpSpPr>
        <p:grpSpPr bwMode="auto">
          <a:xfrm>
            <a:off x="2830467" y="5057739"/>
            <a:ext cx="315534" cy="231276"/>
            <a:chOff x="2110" y="1699"/>
            <a:chExt cx="309" cy="288"/>
          </a:xfrm>
        </p:grpSpPr>
        <p:grpSp>
          <p:nvGrpSpPr>
            <p:cNvPr id="90" name="Group 125"/>
            <p:cNvGrpSpPr>
              <a:grpSpLocks/>
            </p:cNvGrpSpPr>
            <p:nvPr/>
          </p:nvGrpSpPr>
          <p:grpSpPr bwMode="auto">
            <a:xfrm>
              <a:off x="2110" y="1699"/>
              <a:ext cx="288" cy="288"/>
              <a:chOff x="1585" y="1987"/>
              <a:chExt cx="288" cy="288"/>
            </a:xfrm>
          </p:grpSpPr>
          <p:grpSp>
            <p:nvGrpSpPr>
              <p:cNvPr id="92" name="Group 126"/>
              <p:cNvGrpSpPr>
                <a:grpSpLocks/>
              </p:cNvGrpSpPr>
              <p:nvPr/>
            </p:nvGrpSpPr>
            <p:grpSpPr bwMode="auto">
              <a:xfrm>
                <a:off x="1585" y="2160"/>
                <a:ext cx="288" cy="115"/>
                <a:chOff x="1152" y="2160"/>
                <a:chExt cx="288" cy="115"/>
              </a:xfrm>
            </p:grpSpPr>
            <p:sp>
              <p:nvSpPr>
                <p:cNvPr id="94" name="Line 127"/>
                <p:cNvSpPr>
                  <a:spLocks noChangeShapeType="1"/>
                </p:cNvSpPr>
                <p:nvPr/>
              </p:nvSpPr>
              <p:spPr bwMode="auto">
                <a:xfrm>
                  <a:off x="1152" y="2160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5" name="Line 128"/>
                <p:cNvSpPr>
                  <a:spLocks noChangeShapeType="1"/>
                </p:cNvSpPr>
                <p:nvPr/>
              </p:nvSpPr>
              <p:spPr bwMode="auto">
                <a:xfrm>
                  <a:off x="1210" y="2218"/>
                  <a:ext cx="17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6" name="Line 129"/>
                <p:cNvSpPr>
                  <a:spLocks noChangeShapeType="1"/>
                </p:cNvSpPr>
                <p:nvPr/>
              </p:nvSpPr>
              <p:spPr bwMode="auto">
                <a:xfrm>
                  <a:off x="1267" y="2275"/>
                  <a:ext cx="5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93" name="Line 130"/>
              <p:cNvSpPr>
                <a:spLocks noChangeShapeType="1"/>
              </p:cNvSpPr>
              <p:nvPr/>
            </p:nvSpPr>
            <p:spPr bwMode="auto">
              <a:xfrm flipV="1">
                <a:off x="1728" y="1987"/>
                <a:ext cx="0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1" name="Freeform 323"/>
            <p:cNvSpPr>
              <a:spLocks/>
            </p:cNvSpPr>
            <p:nvPr/>
          </p:nvSpPr>
          <p:spPr bwMode="auto">
            <a:xfrm>
              <a:off x="2131" y="1699"/>
              <a:ext cx="288" cy="173"/>
            </a:xfrm>
            <a:custGeom>
              <a:avLst/>
              <a:gdLst>
                <a:gd name="T0" fmla="*/ 115 w 288"/>
                <a:gd name="T1" fmla="*/ 0 h 173"/>
                <a:gd name="T2" fmla="*/ 0 w 288"/>
                <a:gd name="T3" fmla="*/ 173 h 173"/>
                <a:gd name="T4" fmla="*/ 288 w 288"/>
                <a:gd name="T5" fmla="*/ 173 h 173"/>
                <a:gd name="T6" fmla="*/ 115 w 288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" h="173">
                  <a:moveTo>
                    <a:pt x="115" y="0"/>
                  </a:moveTo>
                  <a:lnTo>
                    <a:pt x="0" y="173"/>
                  </a:lnTo>
                  <a:lnTo>
                    <a:pt x="288" y="173"/>
                  </a:lnTo>
                  <a:lnTo>
                    <a:pt x="115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2010575" y="3054513"/>
            <a:ext cx="1682672" cy="359984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 fontScale="77500" lnSpcReduction="20000"/>
          </a:bodyPr>
          <a:lstStyle/>
          <a:p>
            <a:r>
              <a:rPr lang="en-GB" dirty="0" smtClean="0"/>
              <a:t>48V phantom supply</a:t>
            </a:r>
            <a:endParaRPr lang="en-GB" dirty="0" smtClean="0"/>
          </a:p>
        </p:txBody>
      </p:sp>
      <p:grpSp>
        <p:nvGrpSpPr>
          <p:cNvPr id="100" name="Group 344"/>
          <p:cNvGrpSpPr>
            <a:grpSpLocks/>
          </p:cNvGrpSpPr>
          <p:nvPr/>
        </p:nvGrpSpPr>
        <p:grpSpPr bwMode="auto">
          <a:xfrm rot="16200000">
            <a:off x="2485273" y="3995946"/>
            <a:ext cx="391206" cy="622327"/>
            <a:chOff x="4435" y="1930"/>
            <a:chExt cx="346" cy="576"/>
          </a:xfrm>
        </p:grpSpPr>
        <p:grpSp>
          <p:nvGrpSpPr>
            <p:cNvPr id="101" name="Group 141"/>
            <p:cNvGrpSpPr>
              <a:grpSpLocks/>
            </p:cNvGrpSpPr>
            <p:nvPr/>
          </p:nvGrpSpPr>
          <p:grpSpPr bwMode="auto">
            <a:xfrm>
              <a:off x="4435" y="1930"/>
              <a:ext cx="346" cy="576"/>
              <a:chOff x="3283" y="2160"/>
              <a:chExt cx="346" cy="576"/>
            </a:xfrm>
          </p:grpSpPr>
          <p:grpSp>
            <p:nvGrpSpPr>
              <p:cNvPr id="103" name="Group 142"/>
              <p:cNvGrpSpPr>
                <a:grpSpLocks/>
              </p:cNvGrpSpPr>
              <p:nvPr/>
            </p:nvGrpSpPr>
            <p:grpSpPr bwMode="auto">
              <a:xfrm>
                <a:off x="3283" y="2160"/>
                <a:ext cx="346" cy="576"/>
                <a:chOff x="3283" y="2160"/>
                <a:chExt cx="346" cy="576"/>
              </a:xfrm>
            </p:grpSpPr>
            <p:grpSp>
              <p:nvGrpSpPr>
                <p:cNvPr id="107" name="Group 143"/>
                <p:cNvGrpSpPr>
                  <a:grpSpLocks/>
                </p:cNvGrpSpPr>
                <p:nvPr/>
              </p:nvGrpSpPr>
              <p:grpSpPr bwMode="auto">
                <a:xfrm>
                  <a:off x="3283" y="2390"/>
                  <a:ext cx="346" cy="115"/>
                  <a:chOff x="3283" y="2621"/>
                  <a:chExt cx="346" cy="115"/>
                </a:xfrm>
              </p:grpSpPr>
              <p:sp>
                <p:nvSpPr>
                  <p:cNvPr id="110" name="Arc 144"/>
                  <p:cNvSpPr>
                    <a:spLocks/>
                  </p:cNvSpPr>
                  <p:nvPr/>
                </p:nvSpPr>
                <p:spPr bwMode="auto">
                  <a:xfrm rot="-5400000">
                    <a:off x="3341" y="2620"/>
                    <a:ext cx="58" cy="17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1" name="Arc 145"/>
                  <p:cNvSpPr>
                    <a:spLocks/>
                  </p:cNvSpPr>
                  <p:nvPr/>
                </p:nvSpPr>
                <p:spPr bwMode="auto">
                  <a:xfrm rot="5400000" flipH="1">
                    <a:off x="3514" y="2620"/>
                    <a:ext cx="58" cy="17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2" name="Line 146"/>
                  <p:cNvSpPr>
                    <a:spLocks noChangeShapeType="1"/>
                  </p:cNvSpPr>
                  <p:nvPr/>
                </p:nvSpPr>
                <p:spPr bwMode="auto">
                  <a:xfrm>
                    <a:off x="3283" y="2621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8" name="Line 147"/>
                <p:cNvSpPr>
                  <a:spLocks noChangeShapeType="1"/>
                </p:cNvSpPr>
                <p:nvPr/>
              </p:nvSpPr>
              <p:spPr bwMode="auto">
                <a:xfrm>
                  <a:off x="3456" y="2160"/>
                  <a:ext cx="0" cy="2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9" name="Line 148"/>
                <p:cNvSpPr>
                  <a:spLocks noChangeShapeType="1"/>
                </p:cNvSpPr>
                <p:nvPr/>
              </p:nvSpPr>
              <p:spPr bwMode="auto">
                <a:xfrm>
                  <a:off x="3456" y="2448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05" name="Text Box 150"/>
              <p:cNvSpPr txBox="1">
                <a:spLocks noChangeArrowheads="1"/>
              </p:cNvSpPr>
              <p:nvPr/>
            </p:nvSpPr>
            <p:spPr bwMode="auto">
              <a:xfrm>
                <a:off x="3283" y="2217"/>
                <a:ext cx="17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1200" dirty="0"/>
                  <a:t>+</a:t>
                </a:r>
              </a:p>
            </p:txBody>
          </p:sp>
          <p:sp>
            <p:nvSpPr>
              <p:cNvPr id="106" name="Text Box 151"/>
              <p:cNvSpPr txBox="1">
                <a:spLocks noChangeArrowheads="1"/>
              </p:cNvSpPr>
              <p:nvPr/>
            </p:nvSpPr>
            <p:spPr bwMode="auto">
              <a:xfrm>
                <a:off x="3296" y="2389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1200" dirty="0"/>
                  <a:t>-</a:t>
                </a:r>
              </a:p>
            </p:txBody>
          </p:sp>
        </p:grpSp>
        <p:sp>
          <p:nvSpPr>
            <p:cNvPr id="102" name="Freeform 343"/>
            <p:cNvSpPr>
              <a:spLocks/>
            </p:cNvSpPr>
            <p:nvPr/>
          </p:nvSpPr>
          <p:spPr bwMode="auto">
            <a:xfrm>
              <a:off x="4493" y="1930"/>
              <a:ext cx="230" cy="576"/>
            </a:xfrm>
            <a:custGeom>
              <a:avLst/>
              <a:gdLst>
                <a:gd name="T0" fmla="*/ 115 w 230"/>
                <a:gd name="T1" fmla="*/ 0 h 576"/>
                <a:gd name="T2" fmla="*/ 0 w 230"/>
                <a:gd name="T3" fmla="*/ 230 h 576"/>
                <a:gd name="T4" fmla="*/ 115 w 230"/>
                <a:gd name="T5" fmla="*/ 576 h 576"/>
                <a:gd name="T6" fmla="*/ 230 w 230"/>
                <a:gd name="T7" fmla="*/ 230 h 576"/>
                <a:gd name="T8" fmla="*/ 115 w 230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0" h="576">
                  <a:moveTo>
                    <a:pt x="115" y="0"/>
                  </a:moveTo>
                  <a:lnTo>
                    <a:pt x="0" y="230"/>
                  </a:lnTo>
                  <a:lnTo>
                    <a:pt x="115" y="576"/>
                  </a:lnTo>
                  <a:lnTo>
                    <a:pt x="230" y="230"/>
                  </a:lnTo>
                  <a:lnTo>
                    <a:pt x="115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cxnSp>
        <p:nvCxnSpPr>
          <p:cNvPr id="59" name="Straight Connector 58"/>
          <p:cNvCxnSpPr/>
          <p:nvPr/>
        </p:nvCxnSpPr>
        <p:spPr>
          <a:xfrm flipH="1">
            <a:off x="2974657" y="4309169"/>
            <a:ext cx="78176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Group 344"/>
          <p:cNvGrpSpPr>
            <a:grpSpLocks/>
          </p:cNvGrpSpPr>
          <p:nvPr/>
        </p:nvGrpSpPr>
        <p:grpSpPr bwMode="auto">
          <a:xfrm rot="16200000">
            <a:off x="2952019" y="4352966"/>
            <a:ext cx="391206" cy="622327"/>
            <a:chOff x="4435" y="1930"/>
            <a:chExt cx="346" cy="576"/>
          </a:xfrm>
        </p:grpSpPr>
        <p:grpSp>
          <p:nvGrpSpPr>
            <p:cNvPr id="116" name="Group 141"/>
            <p:cNvGrpSpPr>
              <a:grpSpLocks/>
            </p:cNvGrpSpPr>
            <p:nvPr/>
          </p:nvGrpSpPr>
          <p:grpSpPr bwMode="auto">
            <a:xfrm>
              <a:off x="4435" y="1930"/>
              <a:ext cx="346" cy="576"/>
              <a:chOff x="3283" y="2160"/>
              <a:chExt cx="346" cy="576"/>
            </a:xfrm>
          </p:grpSpPr>
          <p:grpSp>
            <p:nvGrpSpPr>
              <p:cNvPr id="118" name="Group 142"/>
              <p:cNvGrpSpPr>
                <a:grpSpLocks/>
              </p:cNvGrpSpPr>
              <p:nvPr/>
            </p:nvGrpSpPr>
            <p:grpSpPr bwMode="auto">
              <a:xfrm>
                <a:off x="3283" y="2160"/>
                <a:ext cx="346" cy="576"/>
                <a:chOff x="3283" y="2160"/>
                <a:chExt cx="346" cy="576"/>
              </a:xfrm>
            </p:grpSpPr>
            <p:grpSp>
              <p:nvGrpSpPr>
                <p:cNvPr id="121" name="Group 143"/>
                <p:cNvGrpSpPr>
                  <a:grpSpLocks/>
                </p:cNvGrpSpPr>
                <p:nvPr/>
              </p:nvGrpSpPr>
              <p:grpSpPr bwMode="auto">
                <a:xfrm>
                  <a:off x="3283" y="2390"/>
                  <a:ext cx="346" cy="115"/>
                  <a:chOff x="3283" y="2621"/>
                  <a:chExt cx="346" cy="115"/>
                </a:xfrm>
              </p:grpSpPr>
              <p:sp>
                <p:nvSpPr>
                  <p:cNvPr id="124" name="Arc 144"/>
                  <p:cNvSpPr>
                    <a:spLocks/>
                  </p:cNvSpPr>
                  <p:nvPr/>
                </p:nvSpPr>
                <p:spPr bwMode="auto">
                  <a:xfrm rot="-5400000">
                    <a:off x="3341" y="2620"/>
                    <a:ext cx="58" cy="17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25" name="Arc 145"/>
                  <p:cNvSpPr>
                    <a:spLocks/>
                  </p:cNvSpPr>
                  <p:nvPr/>
                </p:nvSpPr>
                <p:spPr bwMode="auto">
                  <a:xfrm rot="5400000" flipH="1">
                    <a:off x="3514" y="2620"/>
                    <a:ext cx="58" cy="17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26" name="Line 146"/>
                  <p:cNvSpPr>
                    <a:spLocks noChangeShapeType="1"/>
                  </p:cNvSpPr>
                  <p:nvPr/>
                </p:nvSpPr>
                <p:spPr bwMode="auto">
                  <a:xfrm>
                    <a:off x="3283" y="2621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22" name="Line 147"/>
                <p:cNvSpPr>
                  <a:spLocks noChangeShapeType="1"/>
                </p:cNvSpPr>
                <p:nvPr/>
              </p:nvSpPr>
              <p:spPr bwMode="auto">
                <a:xfrm>
                  <a:off x="3456" y="2160"/>
                  <a:ext cx="0" cy="2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" name="Line 148"/>
                <p:cNvSpPr>
                  <a:spLocks noChangeShapeType="1"/>
                </p:cNvSpPr>
                <p:nvPr/>
              </p:nvSpPr>
              <p:spPr bwMode="auto">
                <a:xfrm>
                  <a:off x="3456" y="2448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19" name="Text Box 150"/>
              <p:cNvSpPr txBox="1">
                <a:spLocks noChangeArrowheads="1"/>
              </p:cNvSpPr>
              <p:nvPr/>
            </p:nvSpPr>
            <p:spPr bwMode="auto">
              <a:xfrm>
                <a:off x="3283" y="2217"/>
                <a:ext cx="17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1200" dirty="0"/>
                  <a:t>+</a:t>
                </a:r>
              </a:p>
            </p:txBody>
          </p:sp>
          <p:sp>
            <p:nvSpPr>
              <p:cNvPr id="120" name="Text Box 151"/>
              <p:cNvSpPr txBox="1">
                <a:spLocks noChangeArrowheads="1"/>
              </p:cNvSpPr>
              <p:nvPr/>
            </p:nvSpPr>
            <p:spPr bwMode="auto">
              <a:xfrm>
                <a:off x="3296" y="2389"/>
                <a:ext cx="148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1200" dirty="0"/>
                  <a:t>-</a:t>
                </a:r>
              </a:p>
            </p:txBody>
          </p:sp>
        </p:grpSp>
        <p:sp>
          <p:nvSpPr>
            <p:cNvPr id="117" name="Freeform 343"/>
            <p:cNvSpPr>
              <a:spLocks/>
            </p:cNvSpPr>
            <p:nvPr/>
          </p:nvSpPr>
          <p:spPr bwMode="auto">
            <a:xfrm>
              <a:off x="4493" y="1930"/>
              <a:ext cx="230" cy="576"/>
            </a:xfrm>
            <a:custGeom>
              <a:avLst/>
              <a:gdLst>
                <a:gd name="T0" fmla="*/ 115 w 230"/>
                <a:gd name="T1" fmla="*/ 0 h 576"/>
                <a:gd name="T2" fmla="*/ 0 w 230"/>
                <a:gd name="T3" fmla="*/ 230 h 576"/>
                <a:gd name="T4" fmla="*/ 115 w 230"/>
                <a:gd name="T5" fmla="*/ 576 h 576"/>
                <a:gd name="T6" fmla="*/ 230 w 230"/>
                <a:gd name="T7" fmla="*/ 230 h 576"/>
                <a:gd name="T8" fmla="*/ 115 w 230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0" h="576">
                  <a:moveTo>
                    <a:pt x="115" y="0"/>
                  </a:moveTo>
                  <a:lnTo>
                    <a:pt x="0" y="230"/>
                  </a:lnTo>
                  <a:lnTo>
                    <a:pt x="115" y="576"/>
                  </a:lnTo>
                  <a:lnTo>
                    <a:pt x="230" y="230"/>
                  </a:lnTo>
                  <a:lnTo>
                    <a:pt x="115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cxnSp>
        <p:nvCxnSpPr>
          <p:cNvPr id="62" name="Straight Connector 61"/>
          <p:cNvCxnSpPr>
            <a:endCxn id="117" idx="2"/>
          </p:cNvCxnSpPr>
          <p:nvPr/>
        </p:nvCxnSpPr>
        <p:spPr>
          <a:xfrm flipH="1" flipV="1">
            <a:off x="3458786" y="4664130"/>
            <a:ext cx="307529" cy="113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" name="Group 367"/>
          <p:cNvGrpSpPr>
            <a:grpSpLocks/>
          </p:cNvGrpSpPr>
          <p:nvPr/>
        </p:nvGrpSpPr>
        <p:grpSpPr bwMode="auto">
          <a:xfrm>
            <a:off x="2382789" y="3596984"/>
            <a:ext cx="122565" cy="608599"/>
            <a:chOff x="691" y="3197"/>
            <a:chExt cx="116" cy="576"/>
          </a:xfrm>
        </p:grpSpPr>
        <p:sp>
          <p:nvSpPr>
            <p:cNvPr id="131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2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36" name="Group 367"/>
          <p:cNvGrpSpPr>
            <a:grpSpLocks/>
          </p:cNvGrpSpPr>
          <p:nvPr/>
        </p:nvGrpSpPr>
        <p:grpSpPr bwMode="auto">
          <a:xfrm>
            <a:off x="2180186" y="3596983"/>
            <a:ext cx="122565" cy="608599"/>
            <a:chOff x="691" y="3197"/>
            <a:chExt cx="116" cy="576"/>
          </a:xfrm>
        </p:grpSpPr>
        <p:sp>
          <p:nvSpPr>
            <p:cNvPr id="137" name="Freeform 244"/>
            <p:cNvSpPr>
              <a:spLocks/>
            </p:cNvSpPr>
            <p:nvPr/>
          </p:nvSpPr>
          <p:spPr bwMode="auto">
            <a:xfrm>
              <a:off x="691" y="3197"/>
              <a:ext cx="116" cy="576"/>
            </a:xfrm>
            <a:custGeom>
              <a:avLst/>
              <a:gdLst>
                <a:gd name="T0" fmla="*/ 58 w 116"/>
                <a:gd name="T1" fmla="*/ 0 h 1152"/>
                <a:gd name="T2" fmla="*/ 58 w 116"/>
                <a:gd name="T3" fmla="*/ 58 h 1152"/>
                <a:gd name="T4" fmla="*/ 116 w 116"/>
                <a:gd name="T5" fmla="*/ 72 h 1152"/>
                <a:gd name="T6" fmla="*/ 0 w 116"/>
                <a:gd name="T7" fmla="*/ 101 h 1152"/>
                <a:gd name="T8" fmla="*/ 116 w 116"/>
                <a:gd name="T9" fmla="*/ 130 h 1152"/>
                <a:gd name="T10" fmla="*/ 0 w 116"/>
                <a:gd name="T11" fmla="*/ 159 h 1152"/>
                <a:gd name="T12" fmla="*/ 116 w 116"/>
                <a:gd name="T13" fmla="*/ 188 h 1152"/>
                <a:gd name="T14" fmla="*/ 0 w 116"/>
                <a:gd name="T15" fmla="*/ 216 h 1152"/>
                <a:gd name="T16" fmla="*/ 58 w 116"/>
                <a:gd name="T17" fmla="*/ 231 h 1152"/>
                <a:gd name="T18" fmla="*/ 58 w 116"/>
                <a:gd name="T19" fmla="*/ 288 h 1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152">
                  <a:moveTo>
                    <a:pt x="58" y="0"/>
                  </a:moveTo>
                  <a:lnTo>
                    <a:pt x="58" y="230"/>
                  </a:lnTo>
                  <a:lnTo>
                    <a:pt x="116" y="288"/>
                  </a:lnTo>
                  <a:lnTo>
                    <a:pt x="0" y="403"/>
                  </a:lnTo>
                  <a:lnTo>
                    <a:pt x="116" y="518"/>
                  </a:lnTo>
                  <a:lnTo>
                    <a:pt x="0" y="634"/>
                  </a:lnTo>
                  <a:lnTo>
                    <a:pt x="116" y="749"/>
                  </a:lnTo>
                  <a:lnTo>
                    <a:pt x="0" y="864"/>
                  </a:lnTo>
                  <a:lnTo>
                    <a:pt x="58" y="922"/>
                  </a:lnTo>
                  <a:lnTo>
                    <a:pt x="58" y="115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Freeform 366"/>
            <p:cNvSpPr>
              <a:spLocks/>
            </p:cNvSpPr>
            <p:nvPr/>
          </p:nvSpPr>
          <p:spPr bwMode="auto">
            <a:xfrm>
              <a:off x="691" y="3197"/>
              <a:ext cx="115" cy="576"/>
            </a:xfrm>
            <a:custGeom>
              <a:avLst/>
              <a:gdLst>
                <a:gd name="T0" fmla="*/ 58 w 115"/>
                <a:gd name="T1" fmla="*/ 0 h 576"/>
                <a:gd name="T2" fmla="*/ 0 w 115"/>
                <a:gd name="T3" fmla="*/ 115 h 576"/>
                <a:gd name="T4" fmla="*/ 58 w 115"/>
                <a:gd name="T5" fmla="*/ 576 h 576"/>
                <a:gd name="T6" fmla="*/ 115 w 115"/>
                <a:gd name="T7" fmla="*/ 115 h 576"/>
                <a:gd name="T8" fmla="*/ 58 w 115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576">
                  <a:moveTo>
                    <a:pt x="58" y="0"/>
                  </a:moveTo>
                  <a:lnTo>
                    <a:pt x="0" y="115"/>
                  </a:lnTo>
                  <a:lnTo>
                    <a:pt x="58" y="576"/>
                  </a:lnTo>
                  <a:lnTo>
                    <a:pt x="115" y="115"/>
                  </a:lnTo>
                  <a:lnTo>
                    <a:pt x="58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cxnSp>
        <p:nvCxnSpPr>
          <p:cNvPr id="65" name="Straight Connector 64"/>
          <p:cNvCxnSpPr>
            <a:stCxn id="122" idx="0"/>
          </p:cNvCxnSpPr>
          <p:nvPr/>
        </p:nvCxnSpPr>
        <p:spPr>
          <a:xfrm flipH="1" flipV="1">
            <a:off x="2002443" y="4583808"/>
            <a:ext cx="834016" cy="803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102" idx="0"/>
            <a:endCxn id="1053" idx="1"/>
          </p:cNvCxnSpPr>
          <p:nvPr/>
        </p:nvCxnSpPr>
        <p:spPr>
          <a:xfrm flipH="1">
            <a:off x="1992131" y="4307110"/>
            <a:ext cx="377582" cy="755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32" idx="2"/>
          </p:cNvCxnSpPr>
          <p:nvPr/>
        </p:nvCxnSpPr>
        <p:spPr>
          <a:xfrm flipH="1">
            <a:off x="2440605" y="4205583"/>
            <a:ext cx="3466" cy="101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138" idx="2"/>
          </p:cNvCxnSpPr>
          <p:nvPr/>
        </p:nvCxnSpPr>
        <p:spPr>
          <a:xfrm flipH="1">
            <a:off x="2240940" y="4205582"/>
            <a:ext cx="528" cy="4183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2218966" y="4582219"/>
            <a:ext cx="45005" cy="480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GB"/>
          </a:p>
        </p:txBody>
      </p:sp>
      <p:sp>
        <p:nvSpPr>
          <p:cNvPr id="150" name="Oval 149"/>
          <p:cNvSpPr/>
          <p:nvPr/>
        </p:nvSpPr>
        <p:spPr>
          <a:xfrm>
            <a:off x="2419835" y="4278301"/>
            <a:ext cx="45005" cy="4800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GB"/>
          </a:p>
        </p:txBody>
      </p:sp>
      <p:cxnSp>
        <p:nvCxnSpPr>
          <p:cNvPr id="76" name="Straight Connector 75"/>
          <p:cNvCxnSpPr>
            <a:stCxn id="137" idx="0"/>
          </p:cNvCxnSpPr>
          <p:nvPr/>
        </p:nvCxnSpPr>
        <p:spPr>
          <a:xfrm>
            <a:off x="2241469" y="3596983"/>
            <a:ext cx="376743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580023" y="3442886"/>
            <a:ext cx="654954" cy="308193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Autofit/>
          </a:bodyPr>
          <a:lstStyle/>
          <a:p>
            <a:r>
              <a:rPr lang="en-GB" sz="1400" dirty="0" smtClean="0"/>
              <a:t>+48V</a:t>
            </a:r>
            <a:endParaRPr lang="en-GB" sz="1400" dirty="0" smtClean="0"/>
          </a:p>
        </p:txBody>
      </p:sp>
      <p:sp>
        <p:nvSpPr>
          <p:cNvPr id="79" name="Freeform 78"/>
          <p:cNvSpPr/>
          <p:nvPr/>
        </p:nvSpPr>
        <p:spPr>
          <a:xfrm>
            <a:off x="1985945" y="4776497"/>
            <a:ext cx="1780540" cy="284480"/>
          </a:xfrm>
          <a:custGeom>
            <a:avLst/>
            <a:gdLst>
              <a:gd name="connsiteX0" fmla="*/ 1775460 w 1775460"/>
              <a:gd name="connsiteY0" fmla="*/ 0 h 281940"/>
              <a:gd name="connsiteX1" fmla="*/ 1394460 w 1775460"/>
              <a:gd name="connsiteY1" fmla="*/ 0 h 281940"/>
              <a:gd name="connsiteX2" fmla="*/ 1394460 w 1775460"/>
              <a:gd name="connsiteY2" fmla="*/ 281940 h 281940"/>
              <a:gd name="connsiteX3" fmla="*/ 167640 w 1775460"/>
              <a:gd name="connsiteY3" fmla="*/ 281940 h 281940"/>
              <a:gd name="connsiteX4" fmla="*/ 167640 w 1775460"/>
              <a:gd name="connsiteY4" fmla="*/ 53340 h 281940"/>
              <a:gd name="connsiteX5" fmla="*/ 0 w 1775460"/>
              <a:gd name="connsiteY5" fmla="*/ 53340 h 281940"/>
              <a:gd name="connsiteX0" fmla="*/ 1775460 w 1775460"/>
              <a:gd name="connsiteY0" fmla="*/ 0 h 281940"/>
              <a:gd name="connsiteX1" fmla="*/ 1394460 w 1775460"/>
              <a:gd name="connsiteY1" fmla="*/ 0 h 281940"/>
              <a:gd name="connsiteX2" fmla="*/ 1394460 w 1775460"/>
              <a:gd name="connsiteY2" fmla="*/ 281940 h 281940"/>
              <a:gd name="connsiteX3" fmla="*/ 167640 w 1775460"/>
              <a:gd name="connsiteY3" fmla="*/ 281940 h 281940"/>
              <a:gd name="connsiteX4" fmla="*/ 165100 w 1775460"/>
              <a:gd name="connsiteY4" fmla="*/ 0 h 281940"/>
              <a:gd name="connsiteX5" fmla="*/ 0 w 1775460"/>
              <a:gd name="connsiteY5" fmla="*/ 53340 h 281940"/>
              <a:gd name="connsiteX0" fmla="*/ 1780540 w 1780540"/>
              <a:gd name="connsiteY0" fmla="*/ 0 h 281940"/>
              <a:gd name="connsiteX1" fmla="*/ 1399540 w 1780540"/>
              <a:gd name="connsiteY1" fmla="*/ 0 h 281940"/>
              <a:gd name="connsiteX2" fmla="*/ 1399540 w 1780540"/>
              <a:gd name="connsiteY2" fmla="*/ 281940 h 281940"/>
              <a:gd name="connsiteX3" fmla="*/ 172720 w 1780540"/>
              <a:gd name="connsiteY3" fmla="*/ 281940 h 281940"/>
              <a:gd name="connsiteX4" fmla="*/ 170180 w 1780540"/>
              <a:gd name="connsiteY4" fmla="*/ 0 h 281940"/>
              <a:gd name="connsiteX5" fmla="*/ 0 w 1780540"/>
              <a:gd name="connsiteY5" fmla="*/ 5080 h 281940"/>
              <a:gd name="connsiteX0" fmla="*/ 1780540 w 1780540"/>
              <a:gd name="connsiteY0" fmla="*/ 2540 h 284480"/>
              <a:gd name="connsiteX1" fmla="*/ 1399540 w 1780540"/>
              <a:gd name="connsiteY1" fmla="*/ 2540 h 284480"/>
              <a:gd name="connsiteX2" fmla="*/ 1399540 w 1780540"/>
              <a:gd name="connsiteY2" fmla="*/ 284480 h 284480"/>
              <a:gd name="connsiteX3" fmla="*/ 172720 w 1780540"/>
              <a:gd name="connsiteY3" fmla="*/ 284480 h 284480"/>
              <a:gd name="connsiteX4" fmla="*/ 170180 w 1780540"/>
              <a:gd name="connsiteY4" fmla="*/ 2540 h 284480"/>
              <a:gd name="connsiteX5" fmla="*/ 0 w 1780540"/>
              <a:gd name="connsiteY5" fmla="*/ 0 h 28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0540" h="284480">
                <a:moveTo>
                  <a:pt x="1780540" y="2540"/>
                </a:moveTo>
                <a:lnTo>
                  <a:pt x="1399540" y="2540"/>
                </a:lnTo>
                <a:lnTo>
                  <a:pt x="1399540" y="284480"/>
                </a:lnTo>
                <a:lnTo>
                  <a:pt x="172720" y="284480"/>
                </a:lnTo>
                <a:cubicBezTo>
                  <a:pt x="171873" y="190500"/>
                  <a:pt x="171027" y="96520"/>
                  <a:pt x="170180" y="2540"/>
                </a:cubicBezTo>
                <a:lnTo>
                  <a:pt x="0" y="0"/>
                </a:ln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8" name="Straight Connector 157"/>
          <p:cNvCxnSpPr/>
          <p:nvPr/>
        </p:nvCxnSpPr>
        <p:spPr>
          <a:xfrm flipH="1">
            <a:off x="917715" y="4394957"/>
            <a:ext cx="1084727" cy="41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flipH="1" flipV="1">
            <a:off x="917716" y="4583807"/>
            <a:ext cx="1084727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flipV="1">
            <a:off x="929135" y="4238717"/>
            <a:ext cx="1061890" cy="190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901268" y="4761168"/>
            <a:ext cx="1090863" cy="19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-705533" y="3945114"/>
            <a:ext cx="1152128" cy="436885"/>
          </a:xfrm>
          <a:prstGeom prst="rect">
            <a:avLst/>
          </a:prstGeom>
          <a:noFill/>
        </p:spPr>
        <p:txBody>
          <a:bodyPr wrap="square" lIns="91431" tIns="45715" rIns="91431" bIns="45715" rtlCol="0">
            <a:normAutofit/>
          </a:bodyPr>
          <a:lstStyle/>
          <a:p>
            <a:r>
              <a:rPr lang="en-GB" dirty="0" smtClean="0"/>
              <a:t>ECM8000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88923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268372" y="288082"/>
            <a:ext cx="3818143" cy="756084"/>
            <a:chOff x="1870551" y="2376314"/>
            <a:chExt cx="3818143" cy="756084"/>
          </a:xfrm>
        </p:grpSpPr>
        <p:sp>
          <p:nvSpPr>
            <p:cNvPr id="4" name="Rectangle 3"/>
            <p:cNvSpPr/>
            <p:nvPr/>
          </p:nvSpPr>
          <p:spPr>
            <a:xfrm>
              <a:off x="2844378" y="2376314"/>
              <a:ext cx="1404156" cy="756084"/>
            </a:xfrm>
            <a:prstGeom prst="rect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 smtClean="0"/>
                <a:t>System</a:t>
              </a:r>
              <a:endParaRPr lang="en-GB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70551" y="2565335"/>
              <a:ext cx="613787" cy="37804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normAutofit/>
            </a:bodyPr>
            <a:lstStyle/>
            <a:p>
              <a:r>
                <a:rPr lang="el-GR" dirty="0"/>
                <a:t>δ</a:t>
              </a:r>
              <a:r>
                <a:rPr lang="en-GB" dirty="0" smtClean="0"/>
                <a:t>(t)</a:t>
              </a:r>
              <a:endParaRPr lang="en-GB" dirty="0" smtClean="0"/>
            </a:p>
          </p:txBody>
        </p:sp>
        <p:cxnSp>
          <p:nvCxnSpPr>
            <p:cNvPr id="7" name="Straight Arrow Connector 6"/>
            <p:cNvCxnSpPr>
              <a:stCxn id="5" idx="3"/>
              <a:endCxn id="4" idx="1"/>
            </p:cNvCxnSpPr>
            <p:nvPr/>
          </p:nvCxnSpPr>
          <p:spPr>
            <a:xfrm>
              <a:off x="2484338" y="2754356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4" idx="3"/>
            </p:cNvCxnSpPr>
            <p:nvPr/>
          </p:nvCxnSpPr>
          <p:spPr>
            <a:xfrm>
              <a:off x="4248534" y="2754356"/>
              <a:ext cx="4320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680582" y="2565335"/>
              <a:ext cx="1008112" cy="37804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normAutofit/>
            </a:bodyPr>
            <a:lstStyle/>
            <a:p>
              <a:r>
                <a:rPr lang="en-GB" dirty="0" smtClean="0"/>
                <a:t>y(t)=h(t)</a:t>
              </a:r>
              <a:endParaRPr lang="en-GB" dirty="0" smtClean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42965" y="1751590"/>
            <a:ext cx="6605969" cy="4189120"/>
            <a:chOff x="-468560" y="1196752"/>
            <a:chExt cx="5319401" cy="3307010"/>
          </a:xfrm>
        </p:grpSpPr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966"/>
            <a:stretch/>
          </p:blipFill>
          <p:spPr bwMode="auto">
            <a:xfrm>
              <a:off x="-468560" y="1196752"/>
              <a:ext cx="2862176" cy="3307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Freeform 17"/>
            <p:cNvSpPr/>
            <p:nvPr/>
          </p:nvSpPr>
          <p:spPr>
            <a:xfrm>
              <a:off x="2256135" y="1412776"/>
              <a:ext cx="216816" cy="2714919"/>
            </a:xfrm>
            <a:custGeom>
              <a:avLst/>
              <a:gdLst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207390 w 216816"/>
                <a:gd name="connsiteY2" fmla="*/ 1480008 h 2714919"/>
                <a:gd name="connsiteX3" fmla="*/ 0 w 216816"/>
                <a:gd name="connsiteY3" fmla="*/ 2714919 h 2714919"/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179109 w 216816"/>
                <a:gd name="connsiteY2" fmla="*/ 1772239 h 2714919"/>
                <a:gd name="connsiteX3" fmla="*/ 0 w 216816"/>
                <a:gd name="connsiteY3" fmla="*/ 2714919 h 271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16" h="2714919">
                  <a:moveTo>
                    <a:pt x="216816" y="0"/>
                  </a:moveTo>
                  <a:cubicBezTo>
                    <a:pt x="156327" y="244311"/>
                    <a:pt x="100552" y="439918"/>
                    <a:pt x="94268" y="735291"/>
                  </a:cubicBezTo>
                  <a:cubicBezTo>
                    <a:pt x="87984" y="1030664"/>
                    <a:pt x="194820" y="1442301"/>
                    <a:pt x="179109" y="1772239"/>
                  </a:cubicBezTo>
                  <a:cubicBezTo>
                    <a:pt x="163398" y="2102177"/>
                    <a:pt x="95839" y="2262432"/>
                    <a:pt x="0" y="2714919"/>
                  </a:cubicBezTo>
                </a:path>
              </a:pathLst>
            </a:cu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3" r="8170"/>
            <a:stretch/>
          </p:blipFill>
          <p:spPr bwMode="auto">
            <a:xfrm>
              <a:off x="2646818" y="1196752"/>
              <a:ext cx="2204023" cy="3307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Freeform 19"/>
            <p:cNvSpPr/>
            <p:nvPr/>
          </p:nvSpPr>
          <p:spPr>
            <a:xfrm>
              <a:off x="2516943" y="1412776"/>
              <a:ext cx="216816" cy="2714919"/>
            </a:xfrm>
            <a:custGeom>
              <a:avLst/>
              <a:gdLst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207390 w 216816"/>
                <a:gd name="connsiteY2" fmla="*/ 1480008 h 2714919"/>
                <a:gd name="connsiteX3" fmla="*/ 0 w 216816"/>
                <a:gd name="connsiteY3" fmla="*/ 2714919 h 2714919"/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179109 w 216816"/>
                <a:gd name="connsiteY2" fmla="*/ 1772239 h 2714919"/>
                <a:gd name="connsiteX3" fmla="*/ 0 w 216816"/>
                <a:gd name="connsiteY3" fmla="*/ 2714919 h 271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16" h="2714919">
                  <a:moveTo>
                    <a:pt x="216816" y="0"/>
                  </a:moveTo>
                  <a:cubicBezTo>
                    <a:pt x="156327" y="244311"/>
                    <a:pt x="100552" y="439918"/>
                    <a:pt x="94268" y="735291"/>
                  </a:cubicBezTo>
                  <a:cubicBezTo>
                    <a:pt x="87984" y="1030664"/>
                    <a:pt x="194820" y="1442301"/>
                    <a:pt x="179109" y="1772239"/>
                  </a:cubicBezTo>
                  <a:cubicBezTo>
                    <a:pt x="163398" y="2102177"/>
                    <a:pt x="95839" y="2262432"/>
                    <a:pt x="0" y="2714919"/>
                  </a:cubicBezTo>
                </a:path>
              </a:pathLst>
            </a:cu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191042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31" tIns="45715" rIns="91431" bIns="45715" rtlCol="0">
        <a:normAutofit fontScale="85000" lnSpcReduction="20000"/>
      </a:bodyPr>
      <a:lstStyle>
        <a:defPPr>
          <a:defRPr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57</Words>
  <Application>Microsoft Office PowerPoint</Application>
  <PresentationFormat>Custom</PresentationFormat>
  <Paragraphs>33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</dc:creator>
  <cp:lastModifiedBy>Dmitry</cp:lastModifiedBy>
  <cp:revision>24</cp:revision>
  <dcterms:created xsi:type="dcterms:W3CDTF">2011-02-23T19:32:59Z</dcterms:created>
  <dcterms:modified xsi:type="dcterms:W3CDTF">2011-03-21T00:58:14Z</dcterms:modified>
</cp:coreProperties>
</file>